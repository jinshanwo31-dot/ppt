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8288000" cy="10287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我们讨论每天真实发生的小场景：一次考试之后怎么想，群聊里怎样保护边界，用AI做题时怎样留下自己的思考，以及不知道未来要做什么时从哪里开始。路线还没有画完，不代表我们必须现在就给出一辈子的答案。今天不做性格测试，不要求公开隐私。</a:t>
            </a:r>
          </a:p>
          <a:p>
            <a:pPr/>
            <a:endParaRPr lang="zh-CN" dirty="0"/>
          </a:p>
          <a:p>
            <a:pPr/>
            <a:r>
              <a:rPr lang="zh-CN" dirty="0"/>
              <a:t>本页安排1分钟，累计第0至1分钟。开场与定位一分钟。</a:t>
            </a:r>
          </a:p>
          <a:p>
            <a:pPr/>
            <a:endParaRPr lang="zh-CN" dirty="0"/>
          </a:p>
          <a:p>
            <a:pPr/>
            <a:r>
              <a:rPr lang="zh-CN" dirty="0"/>
              <a:t>资源底稿补充提醒：今天不做性格测试，也不要求大家公开隐私。我们讨论那些每天真实发生的小场景。</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请读这五句话，挑一句最接近最近的你。A是明明努力了还是怕不够；B是想休息却内疚；C是信息太多不知道信谁；D是还不知道以后做什么；E是暂时都不像。可以举手，也可以匿名，或者只在心里选。接着问：哪一项最难和大人解释？只接纳答案，不追问是谁、发生过什么。</a:t>
            </a:r>
          </a:p>
          <a:p>
            <a:pPr/>
            <a:endParaRPr lang="zh-CN" dirty="0"/>
          </a:p>
          <a:p>
            <a:pPr/>
            <a:r>
              <a:rPr lang="zh-CN" dirty="0"/>
              <a:t>本页安排5分钟，累计第1至6分钟。静默选项一分钟，投票或心选一分钟，接纳一般回答两分钟，过渡一分钟。</a:t>
            </a:r>
          </a:p>
          <a:p>
            <a:pPr/>
            <a:endParaRPr lang="zh-CN" dirty="0"/>
          </a:p>
          <a:p>
            <a:pPr/>
            <a:r>
              <a:rPr lang="zh-CN" dirty="0"/>
              <a:t>资源底稿补充提醒：举手、匿名投票或只在心里选。问“哪一项最难和大人解释？”只接纳答案，不追问经历。 这几句话来自同一个背景：你正在变化，环境也在变化。</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参加互动是选择，不是义务。我们不在公开场合分析任何同学，也不让全班判断谁有心理问题。练习都用虚构例子，想说自己的事情可以课后单独联系学校心理老师或可信赖成人。纸条不要求姓名；如果涉及即时安全风险，我会和校方按危机流程私下接应，不在全场念或追问。</a:t>
            </a:r>
          </a:p>
          <a:p>
            <a:pPr/>
            <a:endParaRPr lang="zh-CN" dirty="0"/>
          </a:p>
          <a:p>
            <a:pPr/>
            <a:r>
              <a:rPr lang="zh-CN" dirty="0"/>
              <a:t>本页安排2分钟，累计第6至8分钟。课堂约定一分钟，匿名纸条与私下支持说明一分钟。</a:t>
            </a:r>
          </a:p>
          <a:p>
            <a:pPr/>
            <a:endParaRPr lang="zh-CN" dirty="0"/>
          </a:p>
          <a:p>
            <a:pPr/>
            <a:r>
              <a:rPr lang="zh-CN" dirty="0"/>
              <a:t>资源底稿补充提醒：匿名纸条不要求姓名。若纸条涉及即时安全风险，按学校危机流程私下处理，不在台上念。</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高中阶段，评价更密集，同伴关系的分量增加，独立做决定的愿望也增强；对自己是谁和将来去哪儿的追问会更具体。这些变化不意味着每个人都一样，更不能用发展阶段来否定你的感受或判断。世界卫生组织描述的是身体、认知和心理社会发展的整体背景，不是给某个同学贴标签。</a:t>
            </a:r>
          </a:p>
          <a:p>
            <a:pPr/>
            <a:endParaRPr lang="zh-CN" dirty="0"/>
          </a:p>
          <a:p>
            <a:pPr/>
            <a:r>
              <a:rPr lang="zh-CN" dirty="0"/>
              <a:t>本页安排4分钟，累计第8至12分钟。四个变化解释两分钟，情境联结一分钟，个体差异边界一分钟。</a:t>
            </a:r>
          </a:p>
          <a:p>
            <a:pPr/>
            <a:endParaRPr lang="zh-CN" dirty="0"/>
          </a:p>
          <a:p>
            <a:pPr/>
            <a:r>
              <a:rPr lang="zh-CN" dirty="0"/>
              <a:t>资源底稿补充提醒：这不是“玻璃心”，也不是每个人都一样。青春期的身体、认知和社会关系快速变化，睡眠不足或持续高压会让判断更难。用原稿第 5、7 页的内容，删除“冲动都由大脑导致”的确定性叙述。</a:t>
            </a:r>
          </a:p>
          <a:p>
            <a:pPr/>
            <a:endParaRPr lang="zh-CN" dirty="0"/>
          </a:p>
          <a:p>
            <a:pPr/>
            <a:r>
              <a:rPr lang="zh-CN" dirty="0"/>
              <a:t>本页依据：[S01] [WHO, Adolescent health](https://www.who.int/health-topics/adolescent-health)。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同学已读未回，我们能确认的只有消息尚未回复。“他讨厌我”是其中一种解释，但也可能忙、没看见、想晚点回，或正在生气。感受是真的，解释仍可核实。请增加一种可能解释，然后选择等一会儿、核实，或者先做别的。这个方法不是要求自己一律往好处想，而是暂缓把推测当事实。</a:t>
            </a:r>
          </a:p>
          <a:p>
            <a:pPr/>
            <a:endParaRPr lang="zh-CN" dirty="0"/>
          </a:p>
          <a:p>
            <a:pPr/>
            <a:r>
              <a:rPr lang="zh-CN" dirty="0"/>
              <a:t>本页安排3分钟，累计第12至15分钟。场景一分钟，邀请增加解释一分钟，核实与行动一分钟。</a:t>
            </a:r>
          </a:p>
          <a:p>
            <a:pPr/>
            <a:endParaRPr lang="zh-CN" dirty="0"/>
          </a:p>
          <a:p>
            <a:pPr/>
            <a:r>
              <a:rPr lang="zh-CN" dirty="0"/>
              <a:t>资源底稿补充提醒：感受是真的；推测仍需查证。请学生为此例增加一种解释。</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压力有时先出现在肩颈、胃部、反复预演失败或行为变化中。拖延、发火、不停刷也可能是提醒我们留意状态的信号。这些信息不能用来自行诊断，也不能据此判断同学有什么病。现在只在心里辨认：我的最早信号通常是什么？如果信号持续并影响生活，后面会讲怎样连接真人支持。</a:t>
            </a:r>
          </a:p>
          <a:p>
            <a:pPr/>
            <a:endParaRPr lang="zh-CN" dirty="0"/>
          </a:p>
          <a:p>
            <a:pPr/>
            <a:r>
              <a:rPr lang="zh-CN" dirty="0"/>
              <a:t>本页安排3分钟，累计第15至18分钟。信号举例一分钟，私下辨认一分钟，边界与过渡一分钟。</a:t>
            </a:r>
          </a:p>
          <a:p>
            <a:pPr/>
            <a:endParaRPr lang="zh-CN" dirty="0"/>
          </a:p>
          <a:p>
            <a:pPr/>
            <a:r>
              <a:rPr lang="zh-CN" dirty="0"/>
              <a:t>资源底稿补充提醒：邀请学生辨认“我的最早信号”，无需说出口。合并原第 8–11 页的重复描述。</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虚构情境是数学考了六十八分。事实是这一次的分数，它确实可能影响选择，却不能直接证明“我不适合学数学”。把这句话改成能查证的问题：哪类题失分，原因是没理解、计算、审题还是时间，同类题能否独立做？下一步选三题分类，向老师问一个具体问题。请用两分钟在自己的纸上写一个自动解释，旁边写一个可核实问题；不收纸，不要求展示。</a:t>
            </a:r>
          </a:p>
          <a:p>
            <a:pPr/>
            <a:endParaRPr lang="zh-CN" dirty="0"/>
          </a:p>
          <a:p>
            <a:pPr/>
            <a:r>
              <a:rPr lang="zh-CN" dirty="0"/>
              <a:t>本页安排4分钟，累计第18至22分钟。案例拆解一分钟，个人书写两分钟，方法收束一分钟。</a:t>
            </a:r>
          </a:p>
          <a:p>
            <a:pPr/>
            <a:endParaRPr lang="zh-CN" dirty="0"/>
          </a:p>
          <a:p>
            <a:pPr/>
            <a:r>
              <a:rPr lang="zh-CN" dirty="0"/>
              <a:t>资源底稿补充提醒：请大家写下一个最近的“自动解释”，在旁边写一个可核实问题；不收纸。保留原第 12、13 页最好的案例，删去大段“思维陷阱”术语。</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愿意参与的同学可以脚踩地，睁着眼看见面前三个物体，再慢慢呼气数次。留意一下，给感受命名：我现在很什么。最后选一个不会让事情更糟的小动作，比如先放下准备发出去的回击。身体练习不舒服时可以跳过，也可以只观察眼前的物体。我们没有承诺九十秒消除情绪，目标只是给下一步留一点空间。</a:t>
            </a:r>
          </a:p>
          <a:p>
            <a:pPr/>
            <a:endParaRPr lang="zh-CN" dirty="0"/>
          </a:p>
          <a:p>
            <a:pPr/>
            <a:r>
              <a:rPr lang="zh-CN" dirty="0"/>
              <a:t>本页安排3分钟，累计第22至25分钟。自愿与退出说明半分钟，练习九十秒，辨认小动作一分钟。</a:t>
            </a:r>
          </a:p>
          <a:p>
            <a:pPr/>
            <a:endParaRPr lang="zh-CN" dirty="0"/>
          </a:p>
          <a:p>
            <a:pPr/>
            <a:r>
              <a:rPr lang="zh-CN" dirty="0"/>
              <a:t>资源底稿补充提醒：自愿参与，睁眼即可；不承诺 90 秒消除情绪。若身体练习不适，可跳过。合并原第 14、15 页。</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一个可能的循环：担心考差，熬夜补课，注意下降，错题增多，再更担心。它帮助我们找切入口，不是对每个人的因果诊断。从哪一环切入最容易？今晚可以停止没有目标的刷题，明天确认一个薄弱点，并安排现实可实现的睡眠与求助。让学生选自己能控制的一环，不用一句想开点来覆盖困难。</a:t>
            </a:r>
          </a:p>
          <a:p>
            <a:pPr/>
            <a:endParaRPr lang="zh-CN" dirty="0"/>
          </a:p>
          <a:p>
            <a:pPr/>
            <a:r>
              <a:rPr lang="zh-CN" dirty="0"/>
              <a:t>本页安排4分钟，累计第25至29分钟。循环讲解一分钟，选切入点一分钟，具体行动与求助两分钟。</a:t>
            </a:r>
          </a:p>
          <a:p>
            <a:pPr/>
            <a:endParaRPr lang="zh-CN" dirty="0"/>
          </a:p>
          <a:p>
            <a:pPr/>
            <a:r>
              <a:rPr lang="zh-CN" dirty="0"/>
              <a:t>资源底稿补充提醒：提问“从哪一环切入最容易？”选择可控的一环，不用对学生说“想开点”。改写原第 32 页。</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反复阅读答案会带来熟悉感，却未必能从记忆中独立解题。可以试四个动作：遮住答案尝试回忆，用新题检验，按原因归类错题，隔几天再测一次。现在做三十秒示范：合上书，用自己的话说出刚学过的一个概念；不会的部分正是接下来需要查的部分。方法的效果取决于具体学科和实施条件，不承诺提高固定分数。</a:t>
            </a:r>
          </a:p>
          <a:p>
            <a:pPr/>
            <a:endParaRPr lang="zh-CN" dirty="0"/>
          </a:p>
          <a:p>
            <a:pPr/>
            <a:r>
              <a:rPr lang="zh-CN" dirty="0"/>
              <a:t>本页安排4分钟，累计第29至33分钟。方法说明一分钟，三十秒回忆示范，讨论差别一分半钟，迁移一分钟。</a:t>
            </a:r>
          </a:p>
          <a:p>
            <a:pPr/>
            <a:endParaRPr lang="zh-CN" dirty="0"/>
          </a:p>
          <a:p>
            <a:pPr/>
            <a:r>
              <a:rPr lang="zh-CN" dirty="0"/>
              <a:t>资源底稿补充提醒：看懂答案与能从记忆中解题不同。现场用一个简单概念做 30 秒“合上书说出来”示范。不要承诺具体提分。此页替换原第 17、18、21、22 页中重复的“五分钟开始”。</a:t>
            </a:r>
          </a:p>
          <a:p>
            <a:pPr/>
            <a:endParaRPr lang="zh-CN" dirty="0"/>
          </a:p>
          <a:p>
            <a:pPr/>
            <a:r>
              <a:rPr lang="zh-CN" dirty="0"/>
              <a:t>本页依据：[S07] [Education Endowment Foundation, Cognitive science approaches in the classroom, 2021](https://educationendowmentfoundation.org.uk/education-evidence/evidence-reviews/cognitive-science-approaches-in-the-classroom)；[retrieval practice 解读](https://educationendowmentfoundation.org.uk/news/eef-blog-why-bother-with-retrieval)。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拖延时先找卡点，行动的大小要和卡点匹配。看不懂可以先问一个问题；任务太大可以只做第一小题；怕做错可以先交粗稿；太疲惫时先恢复基本状态。给自己一句“我就是不自律”不能帮助我们决定下一步。请选最常见的一个卡点，写一个相应小动作，不展示个人答案。长期功能受损时需要评估支持，不能只靠习惯建议。</a:t>
            </a:r>
          </a:p>
          <a:p>
            <a:pPr/>
            <a:endParaRPr lang="zh-CN" dirty="0"/>
          </a:p>
          <a:p>
            <a:pPr/>
            <a:r>
              <a:rPr lang="zh-CN" dirty="0"/>
              <a:t>本页安排3分钟，累计第33至36分钟。卡点说明一分钟，私人选择与书写一分钟，收束一分钟。</a:t>
            </a:r>
          </a:p>
          <a:p>
            <a:pPr/>
            <a:endParaRPr lang="zh-CN" dirty="0"/>
          </a:p>
          <a:p>
            <a:pPr/>
            <a:r>
              <a:rPr lang="zh-CN" dirty="0"/>
              <a:t>资源底稿补充提醒：选自己最常见的卡点，写下一步，不展示个人答案。</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美国睡眠医学会建议十三至十八岁青少年每二十四小时通常有八到十小时睡眠。这个建议不是对住宿生的道德要求，也不是低于八小时就一定患病。固定起床时间、减少睡前高刺激内容、留意晚间咖啡因可以作为观察方向；长期睡不好要告诉成人或专业人员。请想想，哪些作息条件需要学校或家庭一起改变，而不是全靠自己硬撑？</a:t>
            </a:r>
          </a:p>
          <a:p>
            <a:pPr/>
            <a:endParaRPr lang="zh-CN" dirty="0"/>
          </a:p>
          <a:p>
            <a:pPr/>
            <a:r>
              <a:rPr lang="zh-CN" dirty="0"/>
              <a:t>本页安排4分钟，累计第36至40分钟。建议与口径一分钟，现实行动一分钟，环境支持讨论两分钟。</a:t>
            </a:r>
          </a:p>
          <a:p>
            <a:pPr/>
            <a:endParaRPr lang="zh-CN" dirty="0"/>
          </a:p>
          <a:p>
            <a:pPr/>
            <a:r>
              <a:rPr lang="zh-CN" dirty="0"/>
              <a:t>资源底稿补充提醒：不把 8–10 小时作为对住宿生的道德要求；承认作息受学校安排和家庭环境限制。问“哪些条件需要大人一起改变？”</a:t>
            </a:r>
          </a:p>
          <a:p>
            <a:pPr/>
            <a:endParaRPr lang="zh-CN" dirty="0"/>
          </a:p>
          <a:p>
            <a:pPr/>
            <a:r>
              <a:rPr lang="zh-CN" dirty="0"/>
              <a:t>本页依据：[S05] [CDC, Sleep and Health](https://www.cdc.gov/healthy-schools/sleep/index.html)。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真正休息五分钟。可以起身、喝水、看看远处，身体练习都自愿。不要播放冥想指令，不要求闭眼，也不把休息时间变成另一个测试。主讲人设置五分钟计时，回来前只作普通提示。校方接应人员保持可见，若有人需要私下支持，按既定流程处理。</a:t>
            </a:r>
          </a:p>
          <a:p>
            <a:pPr/>
            <a:endParaRPr lang="zh-CN" dirty="0"/>
          </a:p>
          <a:p>
            <a:pPr/>
            <a:r>
              <a:rPr lang="zh-CN" dirty="0"/>
              <a:t>本页安排5分钟，累计第40至45分钟。完整五分钟休息，不占用为额外讲解。</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通知、自动播放、无尽下滑和即时反馈，都可能不断拉走注意力。我们不把责任全部放在学生自控差上：平台设计、班级规则和家庭环境也有关。可以改变一个环境条件：关掉非必要推送，学习时手机离桌，固定查看窗口，睡前放远。简化手机界面是虚构示意，没有真实账号或平台标志。请选一个现在最可能试的设置。</a:t>
            </a:r>
          </a:p>
          <a:p>
            <a:pPr/>
            <a:endParaRPr lang="zh-CN" dirty="0"/>
          </a:p>
          <a:p>
            <a:pPr/>
            <a:r>
              <a:rPr lang="zh-CN" dirty="0"/>
              <a:t>本页安排4分钟，累计第45至49分钟。识别设计两分钟，环境改变一分钟，私下选择一分钟。</a:t>
            </a:r>
          </a:p>
          <a:p>
            <a:pPr/>
            <a:endParaRPr lang="zh-CN" dirty="0"/>
          </a:p>
          <a:p>
            <a:pPr/>
            <a:r>
              <a:rPr lang="zh-CN" dirty="0"/>
              <a:t>资源底稿补充提醒：不把责任全放在学生“自控差”上，平台设计、班级规则与家庭环境都有关。原第 20 页升级为“识别设计+重设环境”。</a:t>
            </a:r>
          </a:p>
          <a:p>
            <a:pPr/>
            <a:endParaRPr lang="zh-CN" dirty="0"/>
          </a:p>
          <a:p>
            <a:pPr/>
            <a:r>
              <a:rPr lang="zh-CN" dirty="0"/>
              <a:t>本页依据：[S03] [National Academies of Sciences, Engineering, and Medicine, Social Media and Adolescent Health, 2024](https://www.nationalacademies.org/read/27396/chapter/2)；[益处章节](https://www.nationalacademies.org/read/27396/chapter/5)；[设计特征章节](https://www.nationalacademies.org/read/27396/chapter/7)；[S04] [APA, Health Advisory on Social Media Use in Adolescence, 2023](https://www.apa.org/topics/social-media-internet/health-advisory-adolescent-social-media-use)。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只统计刷了多久，可能忽略使用目的、内容和自己的状态。找资料、联系朋友、放松都可能有帮助，也可能是在逃避难题。刷完之后是更清楚、更有连接，还是更焦虑、更晚睡？请各举一个有帮助和有代价的用法，只用一般例子，不要要求公开私人内容。研究中的关联不能直接解释某个学生的个人因果。</a:t>
            </a:r>
          </a:p>
          <a:p>
            <a:pPr/>
            <a:endParaRPr lang="zh-CN" dirty="0"/>
          </a:p>
          <a:p>
            <a:pPr/>
            <a:r>
              <a:rPr lang="zh-CN" dirty="0"/>
              <a:t>本页安排3分钟，累计第49至52分钟。目的与结果一分钟，一般例子一分钟，边界一分钟。</a:t>
            </a:r>
          </a:p>
          <a:p>
            <a:pPr/>
            <a:endParaRPr lang="zh-CN" dirty="0"/>
          </a:p>
          <a:p>
            <a:pPr/>
            <a:r>
              <a:rPr lang="zh-CN" dirty="0"/>
              <a:t>资源底稿补充提醒：社交媒体可能有帮助，也可能造成困扰；观察“内容、时间、使用方式、自己的状态”，而不只计时。让学生给一个有帮助的用法和一个有代价的用法。</a:t>
            </a:r>
          </a:p>
          <a:p>
            <a:pPr/>
            <a:endParaRPr lang="zh-CN" dirty="0"/>
          </a:p>
          <a:p>
            <a:pPr/>
            <a:r>
              <a:rPr lang="zh-CN" dirty="0"/>
              <a:t>本页依据：[S03] [National Academies of Sciences, Engineering, and Medicine, Social Media and Adolescent Health, 2024](https://www.nationalacademies.org/read/27396/chapter/2)；[益处章节](https://www.nationalacademies.org/read/27396/chapter/5)；[设计特征章节](https://www.nationalacademies.org/read/27396/chapter/7)。</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屏幕上的“同龄人又晒出高分”和“未来职业全灭”都是虚构标题，不是真实报道。高光剪辑可能让普通生活显得失败，热搜频次可能让事件显得更常见，相似推荐也可能让我们以为别人都这样想。请任选一个标题，问三个问题：谁发布的，还缺哪一面，需要立刻反应吗？三个错觉是课堂整理，不是某研究的三项诊断标准。</a:t>
            </a:r>
          </a:p>
          <a:p>
            <a:pPr/>
            <a:endParaRPr lang="zh-CN" dirty="0"/>
          </a:p>
          <a:p>
            <a:pPr/>
            <a:r>
              <a:rPr lang="zh-CN" dirty="0"/>
              <a:t>本页安排5分钟，累计第52至57分钟。三种错觉两分钟，拆解标题两分钟，核实问题一分钟。</a:t>
            </a:r>
          </a:p>
          <a:p>
            <a:pPr/>
            <a:endParaRPr lang="zh-CN" dirty="0"/>
          </a:p>
          <a:p>
            <a:pPr/>
            <a:r>
              <a:rPr lang="zh-CN" dirty="0"/>
              <a:t>资源底稿补充提醒：使用虚构的“同龄人高分晒图”和“未来职业全灭”标题，现场拆解。原第 29 页扩展。</a:t>
            </a:r>
          </a:p>
          <a:p>
            <a:pPr/>
            <a:endParaRPr lang="zh-CN" dirty="0"/>
          </a:p>
          <a:p>
            <a:pPr/>
            <a:r>
              <a:rPr lang="zh-CN" dirty="0"/>
              <a:t>本页依据：[S03] [National Academies of Sciences, Engineering, and Medicine, Social Media and Adolescent Health, 2024](https://www.nationalacademies.org/read/27396/chapter/2)；[益处章节](https://www.nationalacademies.org/read/27396/chapter/5)；[设计特征章节](https://www.nationalacademies.org/read/27396/chapter/7)；[S04] [APA, Health Advisory on Social Media Use in Adolescence, 2023](https://www.apa.org/topics/social-media-internet/health-advisory-adolescent-social-media-use)。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看到自己的截图被转发，第一反应可能是回击。我们先保住证据与边界：不回击，保存必要截图，停止继续传播，再找班主任、心理老师或家长，要求处理具体行为。保存必要证据不等于把截图转给更多人。持续霸凌需要学校介入，不要求被伤害者自行和解，也不让学生公开真实聊天记录或被欺凌者姓名。</a:t>
            </a:r>
          </a:p>
          <a:p>
            <a:pPr/>
            <a:endParaRPr lang="zh-CN" dirty="0"/>
          </a:p>
          <a:p>
            <a:pPr/>
            <a:r>
              <a:rPr lang="zh-CN" dirty="0"/>
              <a:t>本页安排4分钟，累计第57至61分钟。虚构场景一分钟，处理顺序两分钟，学校介入边界一分钟。</a:t>
            </a:r>
          </a:p>
          <a:p>
            <a:pPr/>
            <a:endParaRPr lang="zh-CN" dirty="0"/>
          </a:p>
          <a:p>
            <a:pPr/>
            <a:r>
              <a:rPr lang="zh-CN" dirty="0"/>
              <a:t>资源底稿补充提醒：不要求被伤害者自行“和解”；持续霸凌需由学校介入。不要现场投放真实同学聊天记录。原第 24、33 页合并。</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即使是喜欢或信任的人，也不能把交出密码、定位或私密照片当作证明关系的条件。你可以拒绝。遇到威胁或胁迫，不要继续发送，留存必要证据，尽快找可信赖成人和学校处理。被威胁不是你的错。这里不展示具体私密图像，也不鼓励公开对方资料。若有人因此感到不适，可以不参与并课后私下寻求支持。</a:t>
            </a:r>
          </a:p>
          <a:p>
            <a:pPr/>
            <a:endParaRPr lang="zh-CN" dirty="0"/>
          </a:p>
          <a:p>
            <a:pPr/>
            <a:r>
              <a:rPr lang="zh-CN" dirty="0"/>
              <a:t>本页安排3分钟，累计第61至64分钟。拒绝权一分钟，胁迫应对一分钟，安全边界一分钟。</a:t>
            </a:r>
          </a:p>
          <a:p>
            <a:pPr/>
            <a:endParaRPr lang="zh-CN" dirty="0"/>
          </a:p>
          <a:p>
            <a:pPr/>
            <a:r>
              <a:rPr lang="zh-CN" dirty="0"/>
              <a:t>资源底稿补充提醒：不给学生展示具体涉隐私图像；不鼓励私自公开对方资料。继承原第 28 页的关系边界。</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你只会说我玩手机”改成具体、可检验的请求：我知道你担心成绩，我想先说完计划；今晚九点到九点半休息，手机放客厅，先试一周。例句不是保证沟通一定成功，也不是要求学生替成人承担所有责任。如果关系中存在恐吓或暴力，优先找其他可信赖成人，不要求当事人独自沟通或和解。</a:t>
            </a:r>
          </a:p>
          <a:p>
            <a:pPr/>
            <a:endParaRPr lang="zh-CN" dirty="0"/>
          </a:p>
          <a:p>
            <a:pPr/>
            <a:r>
              <a:rPr lang="zh-CN" dirty="0"/>
              <a:t>本页安排4分钟，累计第64至68分钟。原话与请求对照一分钟，拆解约定两分钟，安全边界一分钟。</a:t>
            </a:r>
          </a:p>
          <a:p>
            <a:pPr/>
            <a:endParaRPr lang="zh-CN" dirty="0"/>
          </a:p>
          <a:p>
            <a:pPr/>
            <a:r>
              <a:rPr lang="zh-CN" dirty="0"/>
              <a:t>资源底稿补充提醒：具体、可检验的约定比“你根本不懂”更有用；如果关系里存在恐吓或暴力，优先找其他可信赖成人，不要求当事人独自沟通。合并原第 25–27 页。</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不用AI时，我们学会一道题通常也要先试解、找卡点、看讲解、合上答案重做、隔天再做。AI加入后，仍需要判断自己在哪一步，不能把会解释和能独立做混为一谈。请想一想上次数学六十八分的案例：如果工具把整题写完，哪一步才能证明自己已经学会？把闭环留在自己手上，再决定工具如何辅助。</a:t>
            </a:r>
          </a:p>
          <a:p>
            <a:pPr/>
            <a:endParaRPr lang="zh-CN" dirty="0"/>
          </a:p>
          <a:p>
            <a:pPr/>
            <a:r>
              <a:rPr lang="zh-CN" dirty="0"/>
              <a:t>本页安排3分钟，累计第68至71分钟。学习闭环两分钟，联系数学案例一分钟。</a:t>
            </a:r>
          </a:p>
          <a:p>
            <a:pPr/>
            <a:endParaRPr lang="zh-CN" dirty="0"/>
          </a:p>
          <a:p>
            <a:pPr/>
            <a:r>
              <a:rPr lang="zh-CN" dirty="0"/>
              <a:t>资源底稿补充提醒：从学生熟悉的作业情境过渡。强调“会解释”与“能独立做”之间的差别。</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可以请AI给提示、生成同类练习、对照解题路径或扮演提问者。示例提示是：别直接给答案，先问我做到哪一步，再给一个提示。获得提示后，自己重做。现场只做一题预先核查的静态示范，不登录学生账号，不要求下载特定产品。使用需要符合学校的作业、考试与年龄规则，需要时披露AI协助；UNESCO指南不能替本校制定规则。</a:t>
            </a:r>
          </a:p>
          <a:p>
            <a:pPr/>
            <a:endParaRPr lang="zh-CN" dirty="0"/>
          </a:p>
          <a:p>
            <a:pPr/>
            <a:r>
              <a:rPr lang="zh-CN" dirty="0"/>
              <a:t>本页安排4分钟，累计第71至75分钟。助手角色一分钟，静态示范两分钟，学校规则一分钟。</a:t>
            </a:r>
          </a:p>
          <a:p>
            <a:pPr/>
            <a:endParaRPr lang="zh-CN" dirty="0"/>
          </a:p>
          <a:p>
            <a:pPr/>
            <a:r>
              <a:rPr lang="zh-CN" dirty="0"/>
              <a:t>资源底稿补充提醒：现场示范一题的提示词即可，不必登录学生账号。对照学校的作业与考试规定；需要时披露 AI 协助。</a:t>
            </a:r>
          </a:p>
          <a:p>
            <a:pPr/>
            <a:endParaRPr lang="zh-CN" dirty="0"/>
          </a:p>
          <a:p>
            <a:pPr/>
            <a:r>
              <a:rPr lang="zh-CN" dirty="0"/>
              <a:t>本页依据：[S08] [UNESCO, Guidance for Generative AI in Education and Research, 2023](https://www.unesco.org/en/articles/guidance-generative-ai-education-and-research)；[S09] [UNESCO, AI Competency Framework for Students, 2024](https://www.unesco.org/en/articles/ai-competency-framework-students)。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顺滑、完整的表达不保证正确。常见风险包括编造来源、省略关键条件，以及替你写完但你没有学会。课堂手工构造的例子是有人说“两边除以x即可”，我们先问x能不能为零。若要展示完整例题，可以口述等式x乘以x等于x：x为零和x为一都成立；直接除以x会漏掉零这个可能。请回到课本，独立重做，并让老师或同伴质疑解释。该例不是实际AI输出，不把它包装成产品实测。</a:t>
            </a:r>
          </a:p>
          <a:p>
            <a:pPr/>
            <a:endParaRPr lang="zh-CN" dirty="0"/>
          </a:p>
          <a:p>
            <a:pPr/>
            <a:r>
              <a:rPr lang="zh-CN" dirty="0"/>
              <a:t>本页安排4分钟，累计第75至79分钟。风险说明一分钟，漏条件例子两分钟，核查方法一分钟。</a:t>
            </a:r>
          </a:p>
          <a:p>
            <a:pPr/>
            <a:endParaRPr lang="zh-CN" dirty="0"/>
          </a:p>
          <a:p>
            <a:pPr/>
            <a:r>
              <a:rPr lang="zh-CN" dirty="0"/>
              <a:t>资源底稿补充提醒：用一个提前准备的虚构“看似正确但漏条件”的数学或历史例子，不生成未经核查的事实截图。结论是核查习惯，不是“AI 一律不能用”。</a:t>
            </a:r>
          </a:p>
          <a:p>
            <a:pPr/>
            <a:endParaRPr lang="zh-CN" dirty="0"/>
          </a:p>
          <a:p>
            <a:pPr/>
            <a:r>
              <a:rPr lang="zh-CN" dirty="0"/>
              <a:t>本页依据：[S08] [UNESCO, Guidance for Generative AI in Education and Research, 2023](https://www.unesco.org/en/articles/guidance-generative-ai-education-and-research)；[S09] [UNESCO, AI Competency Framework for Students, 2024](https://www.unesco.org/en/articles/ai-competency-framework-students)。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同学姓名、私密照片、家庭身份证件和个人心理危机细节，不适合随意上传到聊天机器人。AI可以解释题目和提供练习，却不应该成为危机时唯一的倾诉对象。危险、持续困扰、关系伤害需要现实中的可信赖成人与专业服务。不要让学生公开报告自己的危机经历，遵守学校和工具的年龄、隐私与使用规则。</a:t>
            </a:r>
          </a:p>
          <a:p>
            <a:pPr/>
            <a:endParaRPr lang="zh-CN" dirty="0"/>
          </a:p>
          <a:p>
            <a:pPr/>
            <a:r>
              <a:rPr lang="zh-CN" dirty="0"/>
              <a:t>本页安排3分钟，累计第79至82分钟。隐私范围一分钟，依赖与真人支持一分钟，规则与过渡一分钟。</a:t>
            </a:r>
          </a:p>
          <a:p>
            <a:pPr/>
            <a:endParaRPr lang="zh-CN" dirty="0"/>
          </a:p>
          <a:p>
            <a:pPr/>
            <a:r>
              <a:rPr lang="zh-CN" dirty="0"/>
              <a:t>资源底稿补充提醒：遵守学校及所用工具的年龄和使用规则。避免要求学生下载特定产品。</a:t>
            </a:r>
          </a:p>
          <a:p>
            <a:pPr/>
            <a:endParaRPr lang="zh-CN" dirty="0"/>
          </a:p>
          <a:p>
            <a:pPr/>
            <a:r>
              <a:rPr lang="zh-CN" dirty="0"/>
              <a:t>本页依据：[S08] [UNESCO, Guidance for Generative AI in Education and Research, 2023](https://www.unesco.org/en/articles/guidance-generative-ai-education-and-research)。</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读口径：世界经济论坛二〇二五年报告中的受访全球雇主预期，到二〇三〇年约百分之三十九的岗位核心技能将变化。这不是百分之三十九的人会失业。技术改变具体任务与技能需求，但行业、地区和个人的路径并不一样。家庭资源、地区机会和经济周期也影响路径；不把全球雇主调查机械套用到湖北或某个同学的命运。</a:t>
            </a:r>
          </a:p>
          <a:p>
            <a:pPr/>
            <a:endParaRPr lang="zh-CN" dirty="0"/>
          </a:p>
          <a:p>
            <a:pPr/>
            <a:r>
              <a:rPr lang="zh-CN" dirty="0"/>
              <a:t>本页安排4分钟，累计第82至86分钟。调查口径两分钟，误读辨别一分钟，机会差异一分钟。</a:t>
            </a:r>
          </a:p>
          <a:p>
            <a:pPr/>
            <a:endParaRPr lang="zh-CN" dirty="0"/>
          </a:p>
          <a:p>
            <a:pPr/>
            <a:r>
              <a:rPr lang="zh-CN" dirty="0"/>
              <a:t>资源底稿补充提醒：只用一张图：技能变化，不画“被 AI 淘汰的人”。承认家庭资源、地区机会和经济周期影响路径，不能只靠个人努力解释。</a:t>
            </a:r>
          </a:p>
          <a:p>
            <a:pPr/>
            <a:endParaRPr lang="zh-CN" dirty="0"/>
          </a:p>
          <a:p>
            <a:pPr/>
            <a:r>
              <a:rPr lang="zh-CN" dirty="0"/>
              <a:t>本页依据：[S10] [World Economic Forum, Future of Jobs Report 2025](https://www.weforum.org/publications/the-future-of-jobs-report-2025/3-skills-outlook)。</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把值得练的能力整理为四类：扎实基础知识，提出和检验问题，与人合作、表达和求助，学习新工具并判断其局限。放回高中场景：用AI查一道题后，自己能否说清为什么这样解？这些是跨路径的练习方向，不是学了就有好工作的承诺。四类整理是教学组织，不能说成WEF原文的固定分类。</a:t>
            </a:r>
          </a:p>
          <a:p>
            <a:pPr/>
            <a:endParaRPr lang="zh-CN" dirty="0"/>
          </a:p>
          <a:p>
            <a:pPr/>
            <a:r>
              <a:rPr lang="zh-CN" dirty="0"/>
              <a:t>本页安排4分钟，累计第86至90分钟。四类能力两分钟，高中场景一分钟，证据边界一分钟。</a:t>
            </a:r>
          </a:p>
          <a:p>
            <a:pPr/>
            <a:endParaRPr lang="zh-CN" dirty="0"/>
          </a:p>
          <a:p>
            <a:pPr/>
            <a:r>
              <a:rPr lang="zh-CN" dirty="0"/>
              <a:t>资源底稿补充提醒：这些是跨路径的能力，不承诺“学了就有好工作”。全球雇主调查重视分析思考、韧性与技术素养，不能机械套用中国就业市场。</a:t>
            </a:r>
          </a:p>
          <a:p>
            <a:pPr/>
            <a:endParaRPr lang="zh-CN" dirty="0"/>
          </a:p>
          <a:p>
            <a:pPr/>
            <a:r>
              <a:rPr lang="zh-CN" dirty="0"/>
              <a:t>本页依据：[S10] [World Economic Forum, Future of Jobs Report 2025](https://www.weforum.org/publications/the-future-of-jobs-report-2025/3-skills-outlook)；[S09] [UNESCO, AI Competency Framework for Students, 2024](https://www.unesco.org/en/articles/ai-competency-framework-students)。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不知道以后做什么，可以先写三个小问题：愿意在哪些事情上多花时间，哪些情境里能持续投入，还缺哪种真实信息。下一步选一次低成本探索：访谈从业者、参加体验，或比较两条升学路径的要求与成本。兴趣会变，专业和职业也不是一一对应。具体招生信息要查当年的高校官方资料，不能用人格测试直接指定专业。</a:t>
            </a:r>
          </a:p>
          <a:p>
            <a:pPr/>
            <a:endParaRPr lang="zh-CN" dirty="0"/>
          </a:p>
          <a:p>
            <a:pPr/>
            <a:r>
              <a:rPr lang="zh-CN" dirty="0"/>
              <a:t>本页安排4分钟，累计第90至94分钟。三个问题两分钟，探索行动一分钟，信息核验一分钟。</a:t>
            </a:r>
          </a:p>
          <a:p>
            <a:pPr/>
            <a:endParaRPr lang="zh-CN" dirty="0"/>
          </a:p>
          <a:p>
            <a:pPr/>
            <a:r>
              <a:rPr lang="zh-CN" dirty="0"/>
              <a:t>资源底稿补充提醒：兴趣会变，专业和职业也不是一一对应。不给学生做“人格对应专业”的断言；信息应从高校招生、职业体验、家庭讨论等多源验证。</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怕考不上，需要查实际目标与备选路径；怕选错，需要低成本体验与信息访谈；怕社会太难，要区分可控能力、可用支持和不可控条件。把“不确定”拆开，才知道是缺信息、缺技能还是需要支持。请选一种焦虑，写一个与它匹配的行动。不要求展示。机会差异和不公平真实存在，我们不以只要努力就能成功来覆盖困难。</a:t>
            </a:r>
          </a:p>
          <a:p>
            <a:pPr/>
            <a:endParaRPr lang="zh-CN" dirty="0"/>
          </a:p>
          <a:p>
            <a:pPr/>
            <a:r>
              <a:rPr lang="zh-CN" dirty="0"/>
              <a:t>本页安排5分钟，累计第94至99分钟。区分焦虑两分钟，私人书写两分钟，承认现实差异一分钟。</a:t>
            </a:r>
          </a:p>
          <a:p>
            <a:pPr/>
            <a:endParaRPr lang="zh-CN" dirty="0"/>
          </a:p>
          <a:p>
            <a:pPr/>
            <a:r>
              <a:rPr lang="zh-CN" dirty="0"/>
              <a:t>资源底稿补充提醒：把“不确定”拆成信息不足、技能不足或需要支持。承认不公平与机会差异真实存在，不用“只要努力就能成功”掩盖困难。</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决策放回不同时间尺度：本周可以决定一个学习实验，本学期可以探索一门方向和一次真实访谈，未来再决定专业、城市和职业。不同选择的可逆性不同，低成本实验可以帮助补信息，重大决策需要更多核实和讨论。高考很重要，但今天不必替十八岁以后的每一个自己签终身合同，也不宣称某专业一定热门。</a:t>
            </a:r>
          </a:p>
          <a:p>
            <a:pPr/>
            <a:endParaRPr lang="zh-CN" dirty="0"/>
          </a:p>
          <a:p>
            <a:pPr/>
            <a:r>
              <a:rPr lang="zh-CN" dirty="0"/>
              <a:t>本页安排3分钟，累计第99至102分钟。时间尺度两分钟，可逆性与边界一分钟。</a:t>
            </a:r>
          </a:p>
          <a:p>
            <a:pPr/>
            <a:endParaRPr lang="zh-CN" dirty="0"/>
          </a:p>
          <a:p>
            <a:pPr/>
            <a:r>
              <a:rPr lang="zh-CN" dirty="0"/>
              <a:t>资源底稿补充提醒：高考很重要，今天也不需要替十八岁以后的每个自己签终身合同。避免宣称某专业一定热门。</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情绪或睡眠问题持续并明显影响上学、学习、生活，明显退缩、绝望或功能下降，都值得找真人支持。有时会提到持续两周左右作为留意线索，但它不是求助门槛。出现自伤或轻生念头时，立刻告诉可信赖成人并寻求紧急专业帮助；有即时风险不能等两周。讲座不能诊断，放松练习也不足以处理自伤风险。不要请学生举手报告个人经历。</a:t>
            </a:r>
          </a:p>
          <a:p>
            <a:pPr/>
            <a:endParaRPr lang="zh-CN" dirty="0"/>
          </a:p>
          <a:p>
            <a:pPr/>
            <a:r>
              <a:rPr lang="zh-CN" dirty="0"/>
              <a:t>本页安排4分钟，累计第102至106分钟。支持信号两分钟，即时风险和求助门槛两分钟，不压缩本页。</a:t>
            </a:r>
          </a:p>
          <a:p>
            <a:pPr/>
            <a:endParaRPr lang="zh-CN" dirty="0"/>
          </a:p>
          <a:p>
            <a:pPr/>
            <a:r>
              <a:rPr lang="zh-CN" dirty="0"/>
              <a:t>资源底稿补充提醒：讲“持续两周左右”可作为留意线索，不是求助门槛。有即时风险时不能等两周。讲座内容不能替代诊断。</a:t>
            </a:r>
          </a:p>
          <a:p>
            <a:pPr/>
            <a:endParaRPr lang="zh-CN" dirty="0"/>
          </a:p>
          <a:p>
            <a:pPr/>
            <a:r>
              <a:rPr lang="zh-CN" dirty="0"/>
              <a:t>本页依据：[S02] [WHO, Mental health of adolescents, 2025](https://www.who.int/news-room/fact-sheets/detail/adolescent-mental-health)；[S11] [WHO, Self-harm and suicide, evidence centre](https://www.who.int/teams/mental-health-and-substance-use/treatment-care/mental-health-gap-action-programme/evidence-centre/self-harm-and-suicide)。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可以照着这句话开口：我最近连续睡不好，上课很难集中；我希望你先听我说，并陪我联系学校心理老师或医院。如果第一位成人没有认真听见，继续找另一位可信赖成人。校内心理老师、地点、预约方式必须由学校在正式发布前填写，不能临时编造热线或二维码。有紧急风险时不要独处，立即联系身边成人及当地急救服务。</a:t>
            </a:r>
          </a:p>
          <a:p>
            <a:pPr/>
            <a:endParaRPr lang="zh-CN" dirty="0"/>
          </a:p>
          <a:p>
            <a:pPr/>
            <a:r>
              <a:rPr lang="zh-CN" dirty="0"/>
              <a:t>本页安排4分钟，累计第106至110分钟。开口句两分钟，继续求助一分钟，校内流程和紧急风险一分钟，不压缩本页。</a:t>
            </a:r>
          </a:p>
          <a:p>
            <a:pPr/>
            <a:endParaRPr lang="zh-CN" dirty="0"/>
          </a:p>
          <a:p>
            <a:pPr/>
            <a:r>
              <a:rPr lang="zh-CN" dirty="0"/>
              <a:t>资源底稿补充提醒：校内转介联系人、地点、方式由学校在发布前填写。紧急风险：不要独处，立即联系身边成人及当地急救服务。不要在投影上放未经核实的热线。</a:t>
            </a:r>
          </a:p>
          <a:p>
            <a:pPr/>
            <a:endParaRPr lang="zh-CN" dirty="0"/>
          </a:p>
          <a:p>
            <a:pPr/>
            <a:r>
              <a:rPr lang="zh-CN" dirty="0"/>
              <a:t>本页依据：[S11] [WHO, Self-harm and suicide, evidence centre](https://www.who.int/teams/mental-health-and-substance-use/treatment-care/mental-health-gap-action-programme/evidence-centre/self-harm-and-suicide)；[S12] [教育部等十七部门《全面加强和改进新时代学生心理健康工作专项行动计划（2023—2025年）》](https://www.moe.gov.cn/srcsite/A17/moe_943/moe_946/202305/t20230511_1059219.html)。</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行动卡只属于你，不收、不拍照，也不用于筛查。写下一个情境、一个小动作、遇到阻碍时可找的人，以及七天后观察什么。可以选学习、睡眠、关系或手机。例子是做题卡住时，先写卡在哪一步，再问老师一个具体问题。七天是观察窗口，不是改变人生的期限；没做到时看看阻碍，调整动作或增加支持。</a:t>
            </a:r>
          </a:p>
          <a:p>
            <a:pPr/>
            <a:endParaRPr lang="zh-CN" dirty="0"/>
          </a:p>
          <a:p>
            <a:pPr/>
            <a:r>
              <a:rPr lang="zh-CN" dirty="0"/>
              <a:t>本页安排4分钟，累计第110至114分钟。说明卡片一分钟，私人填写两分钟，观察与收束一分钟。</a:t>
            </a:r>
          </a:p>
          <a:p>
            <a:pPr/>
            <a:endParaRPr lang="zh-CN" dirty="0"/>
          </a:p>
          <a:p>
            <a:pPr/>
            <a:r>
              <a:rPr lang="zh-CN" dirty="0"/>
              <a:t>资源底稿补充提醒：可以选择睡眠、学习、关系或手机。不给承诺“七天改变人生”。个人卡片不收。</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留最后六分钟给匿名问题与收束。优先回答方法与共性问题，涉及本人危机和他人隐私时不公开细谈，转到课后个别接应。回到路线：识别信号，核实信息，做一次选择，连接支持。你能练习的不是控制所有结果，而是下一次选择。请学校把实际心理老师、地点和预约方式补齐后，最后再明确说一遍现实中的求助渠道。</a:t>
            </a:r>
          </a:p>
          <a:p>
            <a:pPr/>
            <a:endParaRPr lang="zh-CN" dirty="0"/>
          </a:p>
          <a:p>
            <a:pPr/>
            <a:r>
              <a:rPr lang="zh-CN" dirty="0"/>
              <a:t>本页安排6分钟，累计第114至120分钟。匿名共性问答四分钟，四个动作收束一分钟，重申实际求助渠道一分钟。</a:t>
            </a:r>
          </a:p>
          <a:p>
            <a:pPr/>
            <a:endParaRPr lang="zh-CN" dirty="0"/>
          </a:p>
          <a:p>
            <a:pPr/>
            <a:r>
              <a:rPr lang="zh-CN" dirty="0"/>
              <a:t>资源底稿补充提醒：优先回答共性问题；涉及本人危机与他人隐私不公开细谈，课后个别接应。结尾重申学校实际求助渠道。</a:t>
            </a:r>
          </a:p>
          <a:p>
            <a:pPr/>
            <a:endParaRPr lang="zh-CN" dirty="0"/>
          </a:p>
          <a:p>
            <a:pPr/>
            <a:r>
              <a:rPr lang="zh-CN" dirty="0"/>
              <a:t>讲者完整来源清单：</a:t>
            </a:r>
          </a:p>
          <a:p>
            <a:pPr/>
            <a:endParaRPr lang="zh-CN" dirty="0"/>
          </a:p>
          <a:p>
            <a:pPr/>
            <a:r>
              <a:rPr lang="en-US" dirty="0"/>
              <a:t>[S01] [WHO, Adolescent health](https://www.who.int/health-topics/adolescent-health)</a:t>
            </a:r>
          </a:p>
          <a:p>
            <a:pPr/>
            <a:endParaRPr lang="zh-CN" dirty="0"/>
          </a:p>
          <a:p>
            <a:pPr/>
            <a:r>
              <a:rPr lang="en-US" dirty="0"/>
              <a:t>[S02] [WHO, Mental health of adolescents, 2025](https://www.who.int/news-room/fact-sheets/detail/adolescent-mental-health)</a:t>
            </a:r>
          </a:p>
          <a:p>
            <a:pPr/>
            <a:endParaRPr lang="zh-CN" dirty="0"/>
          </a:p>
          <a:p>
            <a:pPr/>
            <a:r>
              <a:rPr lang="zh-CN" dirty="0"/>
              <a:t>[S03] [National Academies of Sciences, Engineering, and Medicine, Social Media and Adolescent Health, 2024](https://www.nationalacademies.org/read/27396/chapter/2)；[益处章节](https://www.nationalacademies.org/read/27396/chapter/5)；[设计特征章节](https://www.nationalacademies.org/read/27396/chapter/7)</a:t>
            </a:r>
          </a:p>
          <a:p>
            <a:pPr/>
            <a:endParaRPr lang="zh-CN" dirty="0"/>
          </a:p>
          <a:p>
            <a:pPr/>
            <a:r>
              <a:rPr lang="en-US" dirty="0"/>
              <a:t>[S04] [APA, Health Advisory on Social Media Use in Adolescence, 2023](https://www.apa.org/topics/social-media-internet/health-advisory-adolescent-social-media-use)</a:t>
            </a:r>
          </a:p>
          <a:p>
            <a:pPr/>
            <a:endParaRPr lang="zh-CN" dirty="0"/>
          </a:p>
          <a:p>
            <a:pPr/>
            <a:r>
              <a:rPr lang="en-US" dirty="0"/>
              <a:t>[S05] [CDC, Sleep and Health](https://www.cdc.gov/healthy-schools/sleep/index.html)</a:t>
            </a:r>
          </a:p>
          <a:p>
            <a:pPr/>
            <a:endParaRPr lang="zh-CN" dirty="0"/>
          </a:p>
          <a:p>
            <a:pPr/>
            <a:r>
              <a:rPr lang="en-US" dirty="0"/>
              <a:t>[S06] [OECD, PISA 2022 Results, Vol. II, school life](https://www.oecd.org/en/publications/pisa-2022-results-volume-ii_a97db61c-en/full-report/component-10.html)</a:t>
            </a:r>
          </a:p>
          <a:p>
            <a:pPr/>
            <a:endParaRPr lang="zh-CN" dirty="0"/>
          </a:p>
          <a:p>
            <a:pPr/>
            <a:r>
              <a:rPr lang="zh-CN" dirty="0"/>
              <a:t>[S07] [Education Endowment Foundation, Cognitive science approaches in the classroom, 2021](https://educationendowmentfoundation.org.uk/education-evidence/evidence-reviews/cognitive-science-approaches-in-the-classroom)；[retrieval practice 解读](https://educationendowmentfoundation.org.uk/news/eef-blog-why-bother-with-retrieval)</a:t>
            </a:r>
          </a:p>
          <a:p>
            <a:pPr/>
            <a:endParaRPr lang="zh-CN" dirty="0"/>
          </a:p>
          <a:p>
            <a:pPr/>
            <a:r>
              <a:rPr lang="en-US" dirty="0"/>
              <a:t>[S08] [UNESCO, Guidance for Generative AI in Education and Research, 2023](https://www.unesco.org/en/articles/guidance-generative-ai-education-and-research)</a:t>
            </a:r>
          </a:p>
          <a:p>
            <a:pPr/>
            <a:endParaRPr lang="zh-CN" dirty="0"/>
          </a:p>
          <a:p>
            <a:pPr/>
            <a:r>
              <a:rPr lang="en-US" dirty="0"/>
              <a:t>[S09] [UNESCO, AI Competency Framework for Students, 2024](https://www.unesco.org/en/articles/ai-competency-framework-students)</a:t>
            </a:r>
          </a:p>
          <a:p>
            <a:pPr/>
            <a:endParaRPr lang="zh-CN" dirty="0"/>
          </a:p>
          <a:p>
            <a:pPr/>
            <a:r>
              <a:rPr lang="en-US" dirty="0"/>
              <a:t>[S10] [World Economic Forum, Future of Jobs Report 2025](https://www.weforum.org/publications/the-future-of-jobs-report-2025/3-skills-outlook)</a:t>
            </a:r>
          </a:p>
          <a:p>
            <a:pPr/>
            <a:endParaRPr lang="zh-CN" dirty="0"/>
          </a:p>
          <a:p>
            <a:pPr/>
            <a:r>
              <a:rPr lang="en-US" dirty="0"/>
              <a:t>[S11] [WHO, Self-harm and suicide, evidence centre](https://www.who.int/teams/mental-health-and-substance-use/treatment-care/mental-health-gap-action-programme/evidence-centre/self-harm-and-suicide)</a:t>
            </a:r>
          </a:p>
          <a:p>
            <a:pPr/>
            <a:endParaRPr lang="zh-CN" dirty="0"/>
          </a:p>
          <a:p>
            <a:pPr/>
            <a:r>
              <a:rPr lang="zh-CN" dirty="0"/>
              <a:t>[S12] [教育部等十七部门《全面加强和改进新时代学生心理健康工作专项行动计划（2023—2025年）》](https://www.moe.gov.cn/srcsite/A17/moe_943/moe_946/202305/t20230511_1059219.html)</a:t>
            </a:r>
          </a:p>
          <a:p>
            <a:pPr/>
            <a:endParaRPr lang="zh-CN" dirty="0"/>
          </a:p>
          <a:p>
            <a:pPr/>
            <a:r>
              <a:rPr lang="zh-CN" dirty="0"/>
              <a:t>来源使用边界：S02的全球约七分之一不是本校或中国发生率，本讲座未展示该比例；S06的PISA课堂分心比例未采用。S03和S04不可用来推断手机导致某个学生心理问题。S10只支持受访全球雇主的技能变化预期。自制暂停练习、四步拆解和七天小实验是教学组织，不是已验证的治疗方案。</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health-growth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health-growth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9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7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5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3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2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5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9pPr>
    </p:bodyStyle>
    <p:otherStyle>
      <a:defPPr>
        <a:defRPr lang="zh-CN"/>
      </a:defPPr>
      <a:lvl1pPr marL="0" algn="l" defTabSz="457200" rtl="0" eaLnBrk="1" latinLnBrk="0" hangingPunct="1">
        <a:defRPr sz="2700" kern="1200" lang="zh-CN">
          <a:solidFill>
            <a:schemeClr val="tx1"/>
          </a:solidFill>
          <a:latin typeface="+mn-lt"/>
          <a:ea typeface="+mn-ea"/>
          <a:cs typeface="+mn-cs"/>
        </a:defRPr>
      </a:lvl1pPr>
      <a:lvl2pPr marL="457200" algn="l" defTabSz="457200" rtl="0" eaLnBrk="1" latinLnBrk="0" hangingPunct="1">
        <a:defRPr sz="2550" kern="1200" lang="zh-CN">
          <a:solidFill>
            <a:schemeClr val="tx1"/>
          </a:solidFill>
          <a:latin typeface="+mn-lt"/>
          <a:ea typeface="+mn-ea"/>
          <a:cs typeface="+mn-cs"/>
        </a:defRPr>
      </a:lvl2pPr>
      <a:lvl3pPr marL="914400" algn="l" defTabSz="457200" rtl="0" eaLnBrk="1" latinLnBrk="0" hangingPunct="1">
        <a:defRPr sz="2350" kern="1200" lang="zh-CN">
          <a:solidFill>
            <a:schemeClr val="tx1"/>
          </a:solidFill>
          <a:latin typeface="+mn-lt"/>
          <a:ea typeface="+mn-ea"/>
          <a:cs typeface="+mn-cs"/>
        </a:defRPr>
      </a:lvl3pPr>
      <a:lvl4pPr marL="1371600" algn="l" defTabSz="457200" rtl="0" eaLnBrk="1" latinLnBrk="0" hangingPunct="1">
        <a:defRPr sz="2200" kern="1200" lang="zh-CN">
          <a:solidFill>
            <a:schemeClr val="tx1"/>
          </a:solidFill>
          <a:latin typeface="+mn-lt"/>
          <a:ea typeface="+mn-ea"/>
          <a:cs typeface="+mn-cs"/>
        </a:defRPr>
      </a:lvl4pPr>
      <a:lvl5pPr marL="1828800" algn="l" defTabSz="457200" rtl="0" eaLnBrk="1" latinLnBrk="0" hangingPunct="1">
        <a:defRPr sz="2000" kern="1200" lang="zh-CN">
          <a:solidFill>
            <a:schemeClr val="tx1"/>
          </a:solidFill>
          <a:latin typeface="+mn-lt"/>
          <a:ea typeface="+mn-ea"/>
          <a:cs typeface="+mn-cs"/>
        </a:defRPr>
      </a:lvl5pPr>
      <a:lvl6pPr marL="2286000" algn="l" defTabSz="457200" rtl="0" eaLnBrk="1" latinLnBrk="0" hangingPunct="1">
        <a:defRPr sz="1850" kern="1200" lang="zh-CN">
          <a:solidFill>
            <a:schemeClr val="tx1"/>
          </a:solidFill>
          <a:latin typeface="+mn-lt"/>
          <a:ea typeface="+mn-ea"/>
          <a:cs typeface="+mn-cs"/>
        </a:defRPr>
      </a:lvl6pPr>
      <a:lvl7pPr marL="2743200" algn="l" defTabSz="457200" rtl="0" eaLnBrk="1" latinLnBrk="0" hangingPunct="1">
        <a:defRPr sz="1700" kern="1200" lang="zh-CN">
          <a:solidFill>
            <a:schemeClr val="tx1"/>
          </a:solidFill>
          <a:latin typeface="+mn-lt"/>
          <a:ea typeface="+mn-ea"/>
          <a:cs typeface="+mn-cs"/>
        </a:defRPr>
      </a:lvl7pPr>
      <a:lvl8pPr marL="3200400" algn="l" defTabSz="457200" rtl="0" eaLnBrk="1" latinLnBrk="0" hangingPunct="1">
        <a:defRPr sz="1500" kern="1200" lang="zh-CN">
          <a:solidFill>
            <a:schemeClr val="tx1"/>
          </a:solidFill>
          <a:latin typeface="+mn-lt"/>
          <a:ea typeface="+mn-ea"/>
          <a:cs typeface="+mn-cs"/>
        </a:defRPr>
      </a:lvl8pPr>
      <a:lvl9pPr marL="3657600" algn="l" defTabSz="457200" rtl="0" eaLnBrk="1" latinLnBrk="0" hangingPunct="1">
        <a:defRPr sz="13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opening"/>
          <p:cNvGrpSpPr/>
          <p:nvPr/>
        </p:nvGrpSpPr>
        <p:grpSpPr>
          <a:xfrm>
            <a:off x="895350" y="1174750"/>
            <a:ext cx="8401812" cy="5430393"/>
            <a:chOff x="895350" y="1174750"/>
            <a:chExt cx="8401812" cy="5430393"/>
          </a:xfrm>
        </p:grpSpPr>
        <p:sp>
          <p:nvSpPr>
            <p:cNvPr id="2" name="TextBox 2"/>
            <p:cNvSpPr txBox="1"/>
            <p:nvPr/>
          </p:nvSpPr>
          <p:spPr>
            <a:xfrm>
              <a:off x="941832" y="1174750"/>
              <a:ext cx="159258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荆州市新时代高中 · 高中阶段健康成长讲座</a:t>
              </a:r>
            </a:p>
          </p:txBody>
        </p:sp>
        <p:sp>
          <p:nvSpPr>
            <p:cNvPr id="3" name="TextBox 3"/>
            <p:cNvSpPr txBox="1"/>
            <p:nvPr/>
          </p:nvSpPr>
          <p:spPr>
            <a:xfrm>
              <a:off x="895350" y="2324100"/>
              <a:ext cx="15963900" cy="1619250"/>
            </a:xfrm>
            <a:prstGeom prst="rect">
              <a:avLst/>
            </a:prstGeom>
            <a:noFill/>
            <a:ln>
              <a:noFill/>
            </a:ln>
          </p:spPr>
          <p:txBody>
            <a:bodyPr wrap="none" lIns="0" tIns="0" rIns="0" bIns="0" anchor="t" anchorCtr="0">
              <a:noAutofit/>
            </a:bodyPr>
            <a:lstStyle/>
            <a:p>
              <a:pPr algn="l"/>
              <a:r>
                <a:rPr lang="zh-CN" sz="8400" dirty="0">
                  <a:solidFill>
                    <a:schemeClr val="accent1"/>
                  </a:solidFill>
                  <a:latin typeface="+mj-lt"/>
                  <a:ea typeface="+mj-ea"/>
                  <a:cs typeface="+mj-cs"/>
                </a:rPr>
                <a:t>长成自己的样子</a:t>
              </a:r>
            </a:p>
          </p:txBody>
        </p:sp>
        <p:sp>
          <p:nvSpPr>
            <p:cNvPr id="4" name="TextBox 4"/>
            <p:cNvSpPr txBox="1"/>
            <p:nvPr/>
          </p:nvSpPr>
          <p:spPr>
            <a:xfrm>
              <a:off x="954786" y="3927475"/>
              <a:ext cx="15906750" cy="645414"/>
            </a:xfrm>
            <a:prstGeom prst="rect">
              <a:avLst/>
            </a:prstGeom>
            <a:noFill/>
            <a:ln>
              <a:noFill/>
            </a:ln>
          </p:spPr>
          <p:txBody>
            <a:bodyPr wrap="none" lIns="0" tIns="0" rIns="0" bIns="0" anchor="t" anchorCtr="0">
              <a:noAutofit/>
            </a:bodyPr>
            <a:lstStyle/>
            <a:p>
              <a:pPr algn="l"/>
              <a:r>
                <a:rPr lang="zh-CN" sz="3300" dirty="0">
                  <a:solidFill>
                    <a:schemeClr val="dk1"/>
                  </a:solidFill>
                  <a:latin typeface="+mn-lt"/>
                  <a:ea typeface="+mn-ea"/>
                  <a:cs typeface="+mn-cs"/>
                </a:rPr>
                <a:t>高中阶段的心理、关系与未来选择</a:t>
              </a:r>
            </a:p>
          </p:txBody>
        </p:sp>
        <p:sp>
          <p:nvSpPr>
            <p:cNvPr id="5" name="TextBox 5"/>
            <p:cNvSpPr txBox="1"/>
            <p:nvPr/>
          </p:nvSpPr>
          <p:spPr>
            <a:xfrm>
              <a:off x="976884" y="5461000"/>
              <a:ext cx="158877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2026.10.28 8:30　｜　樊捷</a:t>
              </a:r>
            </a:p>
          </p:txBody>
        </p:sp>
        <p:sp>
          <p:nvSpPr>
            <p:cNvPr id="6" name="TextBox 6"/>
            <p:cNvSpPr txBox="1"/>
            <p:nvPr/>
          </p:nvSpPr>
          <p:spPr>
            <a:xfrm>
              <a:off x="979932" y="6194425"/>
              <a:ext cx="158877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120 分钟 · 互动式成长课</a:t>
              </a:r>
            </a:p>
          </p:txBody>
        </p:sp>
      </p:grpSp>
      <p:grpSp>
        <p:nvGrpSpPr>
          <p:cNvPr id="18" name="unfinished-route"/>
          <p:cNvGrpSpPr/>
          <p:nvPr/>
        </p:nvGrpSpPr>
        <p:grpSpPr>
          <a:xfrm>
            <a:off x="942975" y="7210425"/>
            <a:ext cx="16202025" cy="1657350"/>
            <a:chOff x="942975" y="7210425"/>
            <a:chExt cx="16202025" cy="1657350"/>
          </a:xfrm>
        </p:grpSpPr>
        <p:sp>
          <p:nvSpPr>
            <p:cNvPr id="8" name="Line 8"/>
            <p:cNvSpPr/>
            <p:nvPr/>
          </p:nvSpPr>
          <p:spPr>
            <a:xfrm>
              <a:off x="1047750" y="8382000"/>
              <a:ext cx="5429250" cy="9525"/>
            </a:xfrm>
            <a:custGeom>
              <a:avLst/>
              <a:gdLst/>
              <a:ahLst/>
              <a:cxnLst/>
              <a:rect l="l" t="t" r="r" b="b"/>
              <a:pathLst>
                <a:path w="5429250" h="9525">
                  <a:moveTo>
                    <a:pt x="0" y="0"/>
                  </a:moveTo>
                  <a:lnTo>
                    <a:pt x="5429250" y="0"/>
                  </a:lnTo>
                </a:path>
              </a:pathLst>
            </a:custGeom>
            <a:noFill/>
            <a:ln w="47625">
              <a:solidFill>
                <a:schemeClr val="accent1"/>
              </a:solidFill>
            </a:ln>
          </p:spPr>
          <p:txBody>
            <a:bodyPr/>
            <a:p/>
          </p:txBody>
        </p:sp>
        <p:sp>
          <p:nvSpPr>
            <p:cNvPr id="9" name="Line 9"/>
            <p:cNvSpPr/>
            <p:nvPr/>
          </p:nvSpPr>
          <p:spPr>
            <a:xfrm>
              <a:off x="6477000" y="7315200"/>
              <a:ext cx="3143250" cy="1066800"/>
            </a:xfrm>
            <a:custGeom>
              <a:avLst/>
              <a:gdLst/>
              <a:ahLst/>
              <a:cxnLst/>
              <a:rect l="l" t="t" r="r" b="b"/>
              <a:pathLst>
                <a:path w="3143250" h="1066800">
                  <a:moveTo>
                    <a:pt x="0" y="1066800"/>
                  </a:moveTo>
                  <a:lnTo>
                    <a:pt x="3143250" y="0"/>
                  </a:lnTo>
                </a:path>
              </a:pathLst>
            </a:custGeom>
            <a:noFill/>
            <a:ln w="47625">
              <a:solidFill>
                <a:schemeClr val="accent1"/>
              </a:solidFill>
            </a:ln>
          </p:spPr>
          <p:txBody>
            <a:bodyPr/>
            <a:p/>
          </p:txBody>
        </p:sp>
        <p:sp>
          <p:nvSpPr>
            <p:cNvPr id="10" name="Line 10"/>
            <p:cNvSpPr/>
            <p:nvPr/>
          </p:nvSpPr>
          <p:spPr>
            <a:xfrm>
              <a:off x="6477000" y="8382000"/>
              <a:ext cx="4381500" cy="381000"/>
            </a:xfrm>
            <a:custGeom>
              <a:avLst/>
              <a:gdLst/>
              <a:ahLst/>
              <a:cxnLst/>
              <a:rect l="l" t="t" r="r" b="b"/>
              <a:pathLst>
                <a:path w="4381500" h="381000">
                  <a:moveTo>
                    <a:pt x="0" y="0"/>
                  </a:moveTo>
                  <a:lnTo>
                    <a:pt x="4381500" y="381000"/>
                  </a:lnTo>
                </a:path>
              </a:pathLst>
            </a:custGeom>
            <a:noFill/>
            <a:ln w="47625">
              <a:solidFill>
                <a:schemeClr val="accent2"/>
              </a:solidFill>
            </a:ln>
          </p:spPr>
          <p:txBody>
            <a:bodyPr/>
            <a:p/>
          </p:txBody>
        </p:sp>
        <p:sp>
          <p:nvSpPr>
            <p:cNvPr id="11" name="Line 11"/>
            <p:cNvSpPr/>
            <p:nvPr/>
          </p:nvSpPr>
          <p:spPr>
            <a:xfrm>
              <a:off x="9620250" y="7315200"/>
              <a:ext cx="5334000" cy="9525"/>
            </a:xfrm>
            <a:custGeom>
              <a:avLst/>
              <a:gdLst/>
              <a:ahLst/>
              <a:cxnLst/>
              <a:rect l="l" t="t" r="r" b="b"/>
              <a:pathLst>
                <a:path w="5334000" h="9525">
                  <a:moveTo>
                    <a:pt x="0" y="0"/>
                  </a:moveTo>
                  <a:lnTo>
                    <a:pt x="5334000" y="0"/>
                  </a:lnTo>
                </a:path>
              </a:pathLst>
            </a:custGeom>
            <a:noFill/>
            <a:ln w="47625">
              <a:solidFill>
                <a:schemeClr val="accent1"/>
              </a:solidFill>
            </a:ln>
          </p:spPr>
          <p:txBody>
            <a:bodyPr/>
            <a:p/>
          </p:txBody>
        </p:sp>
        <p:sp>
          <p:nvSpPr>
            <p:cNvPr id="12" name="Line 12"/>
            <p:cNvSpPr/>
            <p:nvPr/>
          </p:nvSpPr>
          <p:spPr>
            <a:xfrm>
              <a:off x="14954250" y="7315200"/>
              <a:ext cx="2190750" cy="9525"/>
            </a:xfrm>
            <a:custGeom>
              <a:avLst/>
              <a:gdLst/>
              <a:ahLst/>
              <a:cxnLst/>
              <a:rect l="l" t="t" r="r" b="b"/>
              <a:pathLst>
                <a:path w="2190750" h="9525">
                  <a:moveTo>
                    <a:pt x="0" y="0"/>
                  </a:moveTo>
                  <a:lnTo>
                    <a:pt x="2190750" y="0"/>
                  </a:lnTo>
                </a:path>
              </a:pathLst>
            </a:custGeom>
            <a:noFill/>
            <a:ln w="47625">
              <a:solidFill>
                <a:schemeClr val="accent6"/>
              </a:solidFill>
              <a:prstDash val="lgDash"/>
            </a:ln>
          </p:spPr>
          <p:txBody>
            <a:bodyPr/>
            <a:p/>
          </p:txBody>
        </p:sp>
        <p:sp>
          <p:nvSpPr>
            <p:cNvPr id="13" name="Line 13"/>
            <p:cNvSpPr/>
            <p:nvPr/>
          </p:nvSpPr>
          <p:spPr>
            <a:xfrm>
              <a:off x="10858500" y="8763000"/>
              <a:ext cx="5143500" cy="9525"/>
            </a:xfrm>
            <a:custGeom>
              <a:avLst/>
              <a:gdLst/>
              <a:ahLst/>
              <a:cxnLst/>
              <a:rect l="l" t="t" r="r" b="b"/>
              <a:pathLst>
                <a:path w="5143500" h="9525">
                  <a:moveTo>
                    <a:pt x="0" y="0"/>
                  </a:moveTo>
                  <a:lnTo>
                    <a:pt x="5143500" y="0"/>
                  </a:lnTo>
                </a:path>
              </a:pathLst>
            </a:custGeom>
            <a:noFill/>
            <a:ln w="47625">
              <a:solidFill>
                <a:schemeClr val="accent6"/>
              </a:solidFill>
              <a:prstDash val="lgDash"/>
            </a:ln>
          </p:spPr>
          <p:txBody>
            <a:bodyPr/>
            <a:p/>
          </p:txBody>
        </p:sp>
        <p:sp>
          <p:nvSpPr>
            <p:cNvPr id="14" name="Ellipse 14"/>
            <p:cNvSpPr/>
            <p:nvPr/>
          </p:nvSpPr>
          <p:spPr>
            <a:xfrm>
              <a:off x="942975" y="8277225"/>
              <a:ext cx="209550" cy="209550"/>
            </a:xfrm>
            <a:prstGeom prst="ellipse">
              <a:avLst/>
            </a:prstGeom>
            <a:solidFill>
              <a:schemeClr val="accent1"/>
            </a:solidFill>
            <a:ln>
              <a:noFill/>
            </a:ln>
          </p:spPr>
          <p:txBody>
            <a:bodyPr/>
            <a:p/>
          </p:txBody>
        </p:sp>
        <p:sp>
          <p:nvSpPr>
            <p:cNvPr id="15" name="Ellipse 15"/>
            <p:cNvSpPr/>
            <p:nvPr/>
          </p:nvSpPr>
          <p:spPr>
            <a:xfrm>
              <a:off x="6334125" y="8239125"/>
              <a:ext cx="285750" cy="285750"/>
            </a:xfrm>
            <a:prstGeom prst="ellipse">
              <a:avLst/>
            </a:prstGeom>
            <a:solidFill>
              <a:schemeClr val="accent3"/>
            </a:solidFill>
            <a:ln w="38100">
              <a:solidFill>
                <a:schemeClr val="accent1"/>
              </a:solidFill>
            </a:ln>
          </p:spPr>
          <p:txBody>
            <a:bodyPr/>
            <a:p/>
          </p:txBody>
        </p:sp>
        <p:sp>
          <p:nvSpPr>
            <p:cNvPr id="16" name="Ellipse 16"/>
            <p:cNvSpPr/>
            <p:nvPr/>
          </p:nvSpPr>
          <p:spPr>
            <a:xfrm>
              <a:off x="9515475" y="7210425"/>
              <a:ext cx="209550" cy="209550"/>
            </a:xfrm>
            <a:prstGeom prst="ellipse">
              <a:avLst/>
            </a:prstGeom>
            <a:solidFill>
              <a:schemeClr val="accent1"/>
            </a:solidFill>
            <a:ln>
              <a:noFill/>
            </a:ln>
          </p:spPr>
          <p:txBody>
            <a:bodyPr/>
            <a:p/>
          </p:txBody>
        </p:sp>
        <p:sp>
          <p:nvSpPr>
            <p:cNvPr id="17" name="Ellipse 17"/>
            <p:cNvSpPr/>
            <p:nvPr/>
          </p:nvSpPr>
          <p:spPr>
            <a:xfrm>
              <a:off x="10753725" y="8658225"/>
              <a:ext cx="209550" cy="209550"/>
            </a:xfrm>
            <a:prstGeom prst="ellipse">
              <a:avLst/>
            </a:prstGeom>
            <a:solidFill>
              <a:schemeClr val="accent2"/>
            </a:solidFill>
            <a:ln>
              <a:noFill/>
            </a:ln>
          </p:spPr>
          <p:txBody>
            <a:bodyPr/>
            <a:p/>
          </p:txBody>
        </p:sp>
      </p:grpSp>
      <p:sp>
        <p:nvSpPr>
          <p:cNvPr id="19"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未画完的路线图</a:t>
            </a:r>
          </a:p>
        </p:txBody>
      </p:sp>
      <p:sp>
        <p:nvSpPr>
          <p:cNvPr id="20"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01 / 32　·　1 分钟</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7249668" cy="1384300"/>
            <a:chOff x="895350" y="908050"/>
            <a:chExt cx="7249668"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01　认识变化　/　开场投票</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开场投票：最近哪句话更像你</a:t>
              </a:r>
            </a:p>
          </p:txBody>
        </p:sp>
      </p:grpSp>
      <p:grpSp>
        <p:nvGrpSpPr>
          <p:cNvPr id="10" name="choices"/>
          <p:cNvGrpSpPr/>
          <p:nvPr/>
        </p:nvGrpSpPr>
        <p:grpSpPr>
          <a:xfrm>
            <a:off x="937260" y="2965450"/>
            <a:ext cx="5111496" cy="4396740"/>
            <a:chOff x="937260" y="2965450"/>
            <a:chExt cx="5111496" cy="4396740"/>
          </a:xfrm>
        </p:grpSpPr>
        <p:sp>
          <p:nvSpPr>
            <p:cNvPr id="5" name="TextBox 5"/>
            <p:cNvSpPr txBox="1"/>
            <p:nvPr/>
          </p:nvSpPr>
          <p:spPr>
            <a:xfrm>
              <a:off x="937260" y="2965450"/>
              <a:ext cx="10687050" cy="586740"/>
            </a:xfrm>
            <a:prstGeom prst="rect">
              <a:avLst/>
            </a:prstGeom>
            <a:noFill/>
            <a:ln>
              <a:noFill/>
            </a:ln>
          </p:spPr>
          <p:txBody>
            <a:bodyPr wrap="none" lIns="0" tIns="0" rIns="0" bIns="0" anchor="t" anchorCtr="0">
              <a:noAutofit/>
            </a:bodyPr>
            <a:lstStyle/>
            <a:p>
              <a:pPr algn="l"/>
              <a:r>
                <a:rPr lang="zh-CN" sz="3000" dirty="0">
                  <a:solidFill>
                    <a:schemeClr val="accent1"/>
                  </a:solidFill>
                  <a:latin typeface="+mn-lt"/>
                  <a:ea typeface="+mn-ea"/>
                  <a:cs typeface="+mn-cs"/>
                </a:rPr>
                <a:t xml:space="preserve">A　</a:t>
              </a:r>
              <a:r>
                <a:rPr lang="zh-CN" sz="3000" dirty="0">
                  <a:solidFill>
                    <a:schemeClr val="dk1"/>
                  </a:solidFill>
                  <a:latin typeface="+mn-lt"/>
                  <a:ea typeface="+mn-ea"/>
                  <a:cs typeface="+mn-cs"/>
                </a:rPr>
                <a:t>明明努力了，还是怕不够</a:t>
              </a:r>
            </a:p>
          </p:txBody>
        </p:sp>
        <p:sp>
          <p:nvSpPr>
            <p:cNvPr id="6" name="TextBox 6"/>
            <p:cNvSpPr txBox="1"/>
            <p:nvPr/>
          </p:nvSpPr>
          <p:spPr>
            <a:xfrm>
              <a:off x="937260" y="3917950"/>
              <a:ext cx="10687050" cy="586740"/>
            </a:xfrm>
            <a:prstGeom prst="rect">
              <a:avLst/>
            </a:prstGeom>
            <a:noFill/>
            <a:ln>
              <a:noFill/>
            </a:ln>
          </p:spPr>
          <p:txBody>
            <a:bodyPr wrap="none" lIns="0" tIns="0" rIns="0" bIns="0" anchor="t" anchorCtr="0">
              <a:noAutofit/>
            </a:bodyPr>
            <a:lstStyle/>
            <a:p>
              <a:pPr algn="l"/>
              <a:r>
                <a:rPr lang="zh-CN" sz="3000" dirty="0">
                  <a:solidFill>
                    <a:schemeClr val="accent1"/>
                  </a:solidFill>
                  <a:latin typeface="+mn-lt"/>
                  <a:ea typeface="+mn-ea"/>
                  <a:cs typeface="+mn-cs"/>
                </a:rPr>
                <a:t xml:space="preserve">B　</a:t>
              </a:r>
              <a:r>
                <a:rPr lang="zh-CN" sz="3000" dirty="0">
                  <a:solidFill>
                    <a:schemeClr val="dk1"/>
                  </a:solidFill>
                  <a:latin typeface="+mn-lt"/>
                  <a:ea typeface="+mn-ea"/>
                  <a:cs typeface="+mn-cs"/>
                </a:rPr>
                <a:t>想休息，停下又内疚</a:t>
              </a:r>
            </a:p>
          </p:txBody>
        </p:sp>
        <p:sp>
          <p:nvSpPr>
            <p:cNvPr id="7" name="TextBox 7"/>
            <p:cNvSpPr txBox="1"/>
            <p:nvPr/>
          </p:nvSpPr>
          <p:spPr>
            <a:xfrm>
              <a:off x="937260" y="4870450"/>
              <a:ext cx="10687050" cy="586740"/>
            </a:xfrm>
            <a:prstGeom prst="rect">
              <a:avLst/>
            </a:prstGeom>
            <a:noFill/>
            <a:ln>
              <a:noFill/>
            </a:ln>
          </p:spPr>
          <p:txBody>
            <a:bodyPr wrap="none" lIns="0" tIns="0" rIns="0" bIns="0" anchor="t" anchorCtr="0">
              <a:noAutofit/>
            </a:bodyPr>
            <a:lstStyle/>
            <a:p>
              <a:pPr algn="l"/>
              <a:r>
                <a:rPr lang="zh-CN" sz="3000" dirty="0">
                  <a:solidFill>
                    <a:schemeClr val="accent1"/>
                  </a:solidFill>
                  <a:latin typeface="+mn-lt"/>
                  <a:ea typeface="+mn-ea"/>
                  <a:cs typeface="+mn-cs"/>
                </a:rPr>
                <a:t xml:space="preserve">C　</a:t>
              </a:r>
              <a:r>
                <a:rPr lang="zh-CN" sz="3000" dirty="0">
                  <a:solidFill>
                    <a:schemeClr val="dk1"/>
                  </a:solidFill>
                  <a:latin typeface="+mn-lt"/>
                  <a:ea typeface="+mn-ea"/>
                  <a:cs typeface="+mn-cs"/>
                </a:rPr>
                <a:t>信息太多，不知道信谁</a:t>
              </a:r>
            </a:p>
          </p:txBody>
        </p:sp>
        <p:sp>
          <p:nvSpPr>
            <p:cNvPr id="8" name="TextBox 8"/>
            <p:cNvSpPr txBox="1"/>
            <p:nvPr/>
          </p:nvSpPr>
          <p:spPr>
            <a:xfrm>
              <a:off x="937260" y="5822950"/>
              <a:ext cx="10687050" cy="586740"/>
            </a:xfrm>
            <a:prstGeom prst="rect">
              <a:avLst/>
            </a:prstGeom>
            <a:noFill/>
            <a:ln>
              <a:noFill/>
            </a:ln>
          </p:spPr>
          <p:txBody>
            <a:bodyPr wrap="none" lIns="0" tIns="0" rIns="0" bIns="0" anchor="t" anchorCtr="0">
              <a:noAutofit/>
            </a:bodyPr>
            <a:lstStyle/>
            <a:p>
              <a:pPr algn="l"/>
              <a:r>
                <a:rPr lang="zh-CN" sz="3000" dirty="0">
                  <a:solidFill>
                    <a:schemeClr val="accent1"/>
                  </a:solidFill>
                  <a:latin typeface="+mn-lt"/>
                  <a:ea typeface="+mn-ea"/>
                  <a:cs typeface="+mn-cs"/>
                </a:rPr>
                <a:t xml:space="preserve">D　</a:t>
              </a:r>
              <a:r>
                <a:rPr lang="zh-CN" sz="3000" dirty="0">
                  <a:solidFill>
                    <a:schemeClr val="dk1"/>
                  </a:solidFill>
                  <a:latin typeface="+mn-lt"/>
                  <a:ea typeface="+mn-ea"/>
                  <a:cs typeface="+mn-cs"/>
                </a:rPr>
                <a:t>我也不知道以后要做什么</a:t>
              </a:r>
            </a:p>
          </p:txBody>
        </p:sp>
        <p:sp>
          <p:nvSpPr>
            <p:cNvPr id="9" name="TextBox 9"/>
            <p:cNvSpPr txBox="1"/>
            <p:nvPr/>
          </p:nvSpPr>
          <p:spPr>
            <a:xfrm>
              <a:off x="937260" y="6775450"/>
              <a:ext cx="10687050" cy="586740"/>
            </a:xfrm>
            <a:prstGeom prst="rect">
              <a:avLst/>
            </a:prstGeom>
            <a:noFill/>
            <a:ln>
              <a:noFill/>
            </a:ln>
          </p:spPr>
          <p:txBody>
            <a:bodyPr wrap="none" lIns="0" tIns="0" rIns="0" bIns="0" anchor="t" anchorCtr="0">
              <a:noAutofit/>
            </a:bodyPr>
            <a:lstStyle/>
            <a:p>
              <a:pPr algn="l"/>
              <a:r>
                <a:rPr lang="zh-CN" sz="3000" dirty="0">
                  <a:solidFill>
                    <a:schemeClr val="accent1"/>
                  </a:solidFill>
                  <a:latin typeface="+mn-lt"/>
                  <a:ea typeface="+mn-ea"/>
                  <a:cs typeface="+mn-cs"/>
                </a:rPr>
                <a:t xml:space="preserve">E　</a:t>
              </a:r>
              <a:r>
                <a:rPr lang="zh-CN" sz="3000" dirty="0">
                  <a:solidFill>
                    <a:schemeClr val="dk1"/>
                  </a:solidFill>
                  <a:latin typeface="+mn-lt"/>
                  <a:ea typeface="+mn-ea"/>
                  <a:cs typeface="+mn-cs"/>
                </a:rPr>
                <a:t>暂时都不像</a:t>
              </a:r>
            </a:p>
          </p:txBody>
        </p:sp>
      </p:grpSp>
      <p:grpSp>
        <p:nvGrpSpPr>
          <p:cNvPr id="14" name="private-choice"/>
          <p:cNvGrpSpPr/>
          <p:nvPr/>
        </p:nvGrpSpPr>
        <p:grpSpPr>
          <a:xfrm>
            <a:off x="12954000" y="3238500"/>
            <a:ext cx="3233166" cy="3714750"/>
            <a:chOff x="12954000" y="3238500"/>
            <a:chExt cx="3233166" cy="3714750"/>
          </a:xfrm>
        </p:grpSpPr>
        <p:sp>
          <p:nvSpPr>
            <p:cNvPr id="11" name="Line 11"/>
            <p:cNvSpPr/>
            <p:nvPr/>
          </p:nvSpPr>
          <p:spPr>
            <a:xfrm>
              <a:off x="12954000" y="3238500"/>
              <a:ext cx="9525" cy="3714750"/>
            </a:xfrm>
            <a:custGeom>
              <a:avLst/>
              <a:gdLst/>
              <a:ahLst/>
              <a:cxnLst/>
              <a:rect l="l" t="t" r="r" b="b"/>
              <a:pathLst>
                <a:path w="9525" h="3714750">
                  <a:moveTo>
                    <a:pt x="0" y="0"/>
                  </a:moveTo>
                  <a:lnTo>
                    <a:pt x="0" y="3714750"/>
                  </a:lnTo>
                </a:path>
              </a:pathLst>
            </a:custGeom>
            <a:noFill/>
            <a:ln w="28575">
              <a:solidFill>
                <a:schemeClr val="accent6"/>
              </a:solidFill>
            </a:ln>
          </p:spPr>
          <p:txBody>
            <a:bodyPr/>
            <a:p/>
          </p:txBody>
        </p:sp>
        <p:sp>
          <p:nvSpPr>
            <p:cNvPr id="12" name="TextBox 12"/>
            <p:cNvSpPr txBox="1"/>
            <p:nvPr/>
          </p:nvSpPr>
          <p:spPr>
            <a:xfrm>
              <a:off x="13416534" y="3486150"/>
              <a:ext cx="3676650" cy="1080516"/>
            </a:xfrm>
            <a:prstGeom prst="rect">
              <a:avLst/>
            </a:prstGeom>
            <a:noFill/>
            <a:ln>
              <a:noFill/>
            </a:ln>
          </p:spPr>
          <p:txBody>
            <a:bodyPr wrap="none" lIns="0" tIns="0" rIns="0" bIns="0" anchor="t" anchorCtr="0">
              <a:noAutofit/>
            </a:bodyPr>
            <a:lstStyle/>
            <a:p>
              <a:pPr algn="l">
                <a:lnSpc>
                  <a:spcPts val="4350"/>
                </a:lnSpc>
              </a:pPr>
              <a:r>
                <a:rPr lang="zh-CN" sz="2700" dirty="0">
                  <a:solidFill>
                    <a:schemeClr val="dk1"/>
                  </a:solidFill>
                  <a:latin typeface="+mn-lt"/>
                  <a:ea typeface="+mn-ea"/>
                  <a:cs typeface="+mn-cs"/>
                </a:rPr>
                <a:t>举手、匿名投票，</a:t>
              </a:r>
              <a:br>
                <a:rPr lang="zh-CN" sz="2700" dirty="0">
                  <a:solidFill>
                    <a:schemeClr val="dk1"/>
                  </a:solidFill>
                  <a:latin typeface="+mn-lt"/>
                  <a:ea typeface="+mn-ea"/>
                  <a:cs typeface="+mn-cs"/>
                </a:rPr>
              </a:br>
              <a:r>
                <a:rPr lang="zh-CN" sz="2700" dirty="0">
                  <a:solidFill>
                    <a:schemeClr val="dk1"/>
                  </a:solidFill>
                  <a:latin typeface="+mn-lt"/>
                  <a:ea typeface="+mn-ea"/>
                  <a:cs typeface="+mn-cs"/>
                </a:rPr>
                <a:t>或只在心里选。</a:t>
              </a:r>
            </a:p>
          </p:txBody>
        </p:sp>
        <p:sp>
          <p:nvSpPr>
            <p:cNvPr id="13" name="TextBox 13"/>
            <p:cNvSpPr txBox="1"/>
            <p:nvPr/>
          </p:nvSpPr>
          <p:spPr>
            <a:xfrm>
              <a:off x="13419582" y="5594350"/>
              <a:ext cx="3676650" cy="848868"/>
            </a:xfrm>
            <a:prstGeom prst="rect">
              <a:avLst/>
            </a:prstGeom>
            <a:noFill/>
            <a:ln>
              <a:noFill/>
            </a:ln>
          </p:spPr>
          <p:txBody>
            <a:bodyPr wrap="none" lIns="0" tIns="0" rIns="0" bIns="0" anchor="t" anchorCtr="0">
              <a:noAutofit/>
            </a:bodyPr>
            <a:lstStyle/>
            <a:p>
              <a:pPr algn="l">
                <a:lnSpc>
                  <a:spcPts val="3450"/>
                </a:lnSpc>
              </a:pPr>
              <a:r>
                <a:rPr lang="zh-CN" sz="2100" dirty="0">
                  <a:solidFill>
                    <a:schemeClr val="accent5"/>
                  </a:solidFill>
                  <a:latin typeface="+mn-lt"/>
                  <a:ea typeface="+mn-ea"/>
                  <a:cs typeface="+mn-cs"/>
                </a:rPr>
                <a:t>可以不参与。</a:t>
              </a:r>
              <a:br>
                <a:rPr lang="zh-CN" sz="2100" dirty="0">
                  <a:solidFill>
                    <a:schemeClr val="accent5"/>
                  </a:solidFill>
                  <a:latin typeface="+mn-lt"/>
                  <a:ea typeface="+mn-ea"/>
                  <a:cs typeface="+mn-cs"/>
                </a:rPr>
              </a:br>
              <a:r>
                <a:rPr lang="zh-CN" sz="2100" dirty="0">
                  <a:solidFill>
                    <a:schemeClr val="accent5"/>
                  </a:solidFill>
                  <a:latin typeface="+mn-lt"/>
                  <a:ea typeface="+mn-ea"/>
                  <a:cs typeface="+mn-cs"/>
                </a:rPr>
                <a:t>不必解释私人经历。</a:t>
              </a:r>
            </a:p>
          </p:txBody>
        </p:sp>
      </p:grpSp>
      <p:sp>
        <p:nvSpPr>
          <p:cNvPr id="15"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互动 · 哪一项最难和大人解释？</a:t>
            </a:r>
          </a:p>
        </p:txBody>
      </p:sp>
      <p:sp>
        <p:nvSpPr>
          <p:cNvPr id="16"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02 / 32　·　5 分钟</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3605898" cy="1384300"/>
            <a:chOff x="895350" y="908050"/>
            <a:chExt cx="3605898"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01　认识变化　/　课堂边界</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课堂约定</a:t>
              </a:r>
            </a:p>
          </p:txBody>
        </p:sp>
      </p:grpSp>
      <p:grpSp>
        <p:nvGrpSpPr>
          <p:cNvPr id="8" name="permission"/>
          <p:cNvGrpSpPr/>
          <p:nvPr/>
        </p:nvGrpSpPr>
        <p:grpSpPr>
          <a:xfrm>
            <a:off x="914400" y="3095625"/>
            <a:ext cx="7143750" cy="4762500"/>
            <a:chOff x="914400" y="3095625"/>
            <a:chExt cx="7143750" cy="4762500"/>
          </a:xfrm>
        </p:grpSpPr>
        <p:sp>
          <p:nvSpPr>
            <p:cNvPr id="5" name="Rectangle 5"/>
            <p:cNvSpPr/>
            <p:nvPr/>
          </p:nvSpPr>
          <p:spPr>
            <a:xfrm>
              <a:off x="914400" y="3095625"/>
              <a:ext cx="7143750" cy="4762500"/>
            </a:xfrm>
            <a:prstGeom prst="roundRect">
              <a:avLst>
                <a:gd name="adj" fmla="val 4800"/>
              </a:avLst>
            </a:prstGeom>
            <a:solidFill>
              <a:schemeClr val="lt2"/>
            </a:solidFill>
            <a:ln>
              <a:noFill/>
            </a:ln>
          </p:spPr>
          <p:txBody>
            <a:bodyPr/>
            <a:p/>
          </p:txBody>
        </p:sp>
        <p:sp>
          <p:nvSpPr>
            <p:cNvPr id="6" name="TextBox 6"/>
            <p:cNvSpPr txBox="1"/>
            <p:nvPr/>
          </p:nvSpPr>
          <p:spPr>
            <a:xfrm>
              <a:off x="1354836" y="3670300"/>
              <a:ext cx="6648450" cy="645414"/>
            </a:xfrm>
            <a:prstGeom prst="rect">
              <a:avLst/>
            </a:prstGeom>
            <a:noFill/>
            <a:ln>
              <a:noFill/>
            </a:ln>
          </p:spPr>
          <p:txBody>
            <a:bodyPr wrap="none" lIns="0" tIns="0" rIns="0" bIns="0" anchor="t" anchorCtr="0">
              <a:noAutofit/>
            </a:bodyPr>
            <a:lstStyle/>
            <a:p>
              <a:pPr algn="l"/>
              <a:r>
                <a:rPr lang="zh-CN" sz="3300" dirty="0">
                  <a:solidFill>
                    <a:schemeClr val="accent1"/>
                  </a:solidFill>
                  <a:latin typeface="+mn-lt"/>
                  <a:ea typeface="+mn-ea"/>
                  <a:cs typeface="+mn-cs"/>
                </a:rPr>
                <a:t>可以不参与。</a:t>
              </a:r>
            </a:p>
          </p:txBody>
        </p:sp>
        <p:sp>
          <p:nvSpPr>
            <p:cNvPr id="7" name="TextBox 7"/>
            <p:cNvSpPr txBox="1"/>
            <p:nvPr/>
          </p:nvSpPr>
          <p:spPr>
            <a:xfrm>
              <a:off x="1357884" y="4781550"/>
              <a:ext cx="6648450" cy="1747266"/>
            </a:xfrm>
            <a:prstGeom prst="rect">
              <a:avLst/>
            </a:prstGeom>
            <a:noFill/>
            <a:ln>
              <a:noFill/>
            </a:ln>
          </p:spPr>
          <p:txBody>
            <a:bodyPr wrap="none" lIns="0" tIns="0" rIns="0" bIns="0" anchor="t" anchorCtr="0">
              <a:noAutofit/>
            </a:bodyPr>
            <a:lstStyle/>
            <a:p>
              <a:pPr algn="l">
                <a:lnSpc>
                  <a:spcPts val="4800"/>
                </a:lnSpc>
              </a:pPr>
              <a:r>
                <a:rPr lang="zh-CN" sz="2700" dirty="0">
                  <a:solidFill>
                    <a:schemeClr val="dk1"/>
                  </a:solidFill>
                  <a:latin typeface="+mn-lt"/>
                  <a:ea typeface="+mn-ea"/>
                  <a:cs typeface="+mn-cs"/>
                </a:rPr>
                <a:t>不公开分析同学；</a:t>
              </a:r>
              <a:br>
                <a:rPr lang="zh-CN" sz="2700" dirty="0">
                  <a:solidFill>
                    <a:schemeClr val="dk1"/>
                  </a:solidFill>
                  <a:latin typeface="+mn-lt"/>
                  <a:ea typeface="+mn-ea"/>
                  <a:cs typeface="+mn-cs"/>
                </a:rPr>
              </a:br>
              <a:r>
                <a:rPr lang="zh-CN" sz="2700" dirty="0">
                  <a:solidFill>
                    <a:schemeClr val="dk1"/>
                  </a:solidFill>
                  <a:latin typeface="+mn-lt"/>
                  <a:ea typeface="+mn-ea"/>
                  <a:cs typeface="+mn-cs"/>
                </a:rPr>
                <a:t>用虚构例子讨论；</a:t>
              </a:r>
              <a:br>
                <a:rPr lang="zh-CN" sz="2700" dirty="0">
                  <a:solidFill>
                    <a:schemeClr val="dk1"/>
                  </a:solidFill>
                  <a:latin typeface="+mn-lt"/>
                  <a:ea typeface="+mn-ea"/>
                  <a:cs typeface="+mn-cs"/>
                </a:rPr>
              </a:br>
              <a:r>
                <a:rPr lang="zh-CN" sz="2700" dirty="0">
                  <a:solidFill>
                    <a:schemeClr val="dk1"/>
                  </a:solidFill>
                  <a:latin typeface="+mn-lt"/>
                  <a:ea typeface="+mn-ea"/>
                  <a:cs typeface="+mn-cs"/>
                </a:rPr>
                <a:t>不要求公开隐私。</a:t>
              </a:r>
            </a:p>
          </p:txBody>
        </p:sp>
      </p:grpSp>
      <p:grpSp>
        <p:nvGrpSpPr>
          <p:cNvPr id="12" name="private-support"/>
          <p:cNvGrpSpPr/>
          <p:nvPr/>
        </p:nvGrpSpPr>
        <p:grpSpPr>
          <a:xfrm>
            <a:off x="9414510" y="3613150"/>
            <a:ext cx="7444740" cy="3992118"/>
            <a:chOff x="9414510" y="3613150"/>
            <a:chExt cx="7444740" cy="3992118"/>
          </a:xfrm>
        </p:grpSpPr>
        <p:sp>
          <p:nvSpPr>
            <p:cNvPr id="9" name="TextBox 9"/>
            <p:cNvSpPr txBox="1"/>
            <p:nvPr/>
          </p:nvSpPr>
          <p:spPr>
            <a:xfrm>
              <a:off x="9414510" y="3613150"/>
              <a:ext cx="7677150" cy="1844040"/>
            </a:xfrm>
            <a:prstGeom prst="rect">
              <a:avLst/>
            </a:prstGeom>
            <a:noFill/>
            <a:ln>
              <a:noFill/>
            </a:ln>
          </p:spPr>
          <p:txBody>
            <a:bodyPr wrap="none" lIns="0" tIns="0" rIns="0" bIns="0" anchor="t" anchorCtr="0">
              <a:noAutofit/>
            </a:bodyPr>
            <a:lstStyle/>
            <a:p>
              <a:pPr algn="l">
                <a:lnSpc>
                  <a:spcPts val="4950"/>
                </a:lnSpc>
              </a:pPr>
              <a:r>
                <a:rPr lang="zh-CN" sz="3000" dirty="0">
                  <a:solidFill>
                    <a:schemeClr val="dk1"/>
                  </a:solidFill>
                  <a:latin typeface="+mn-lt"/>
                  <a:ea typeface="+mn-ea"/>
                  <a:cs typeface="+mn-cs"/>
                </a:rPr>
                <a:t>想单独求助，</a:t>
              </a:r>
              <a:br>
                <a:rPr lang="zh-CN" sz="3000" dirty="0">
                  <a:solidFill>
                    <a:schemeClr val="dk1"/>
                  </a:solidFill>
                  <a:latin typeface="+mn-lt"/>
                  <a:ea typeface="+mn-ea"/>
                  <a:cs typeface="+mn-cs"/>
                </a:rPr>
              </a:br>
              <a:r>
                <a:rPr lang="zh-CN" sz="3000" dirty="0">
                  <a:solidFill>
                    <a:schemeClr val="dk1"/>
                  </a:solidFill>
                  <a:latin typeface="+mn-lt"/>
                  <a:ea typeface="+mn-ea"/>
                  <a:cs typeface="+mn-cs"/>
                </a:rPr>
                <a:t>可以课后联系学校心理老师</a:t>
              </a:r>
              <a:br>
                <a:rPr lang="zh-CN" sz="3000" dirty="0">
                  <a:solidFill>
                    <a:schemeClr val="dk1"/>
                  </a:solidFill>
                  <a:latin typeface="+mn-lt"/>
                  <a:ea typeface="+mn-ea"/>
                  <a:cs typeface="+mn-cs"/>
                </a:rPr>
              </a:br>
              <a:r>
                <a:rPr lang="zh-CN" sz="3000" dirty="0">
                  <a:solidFill>
                    <a:schemeClr val="dk1"/>
                  </a:solidFill>
                  <a:latin typeface="+mn-lt"/>
                  <a:ea typeface="+mn-ea"/>
                  <a:cs typeface="+mn-cs"/>
                </a:rPr>
                <a:t>或可信赖成人。</a:t>
              </a:r>
            </a:p>
          </p:txBody>
        </p:sp>
        <p:sp>
          <p:nvSpPr>
            <p:cNvPr id="10" name="Line 10"/>
            <p:cNvSpPr/>
            <p:nvPr/>
          </p:nvSpPr>
          <p:spPr>
            <a:xfrm>
              <a:off x="9429750" y="6381750"/>
              <a:ext cx="7429500" cy="9525"/>
            </a:xfrm>
            <a:custGeom>
              <a:avLst/>
              <a:gdLst/>
              <a:ahLst/>
              <a:cxnLst/>
              <a:rect l="l" t="t" r="r" b="b"/>
              <a:pathLst>
                <a:path w="7429500" h="9525">
                  <a:moveTo>
                    <a:pt x="0" y="0"/>
                  </a:moveTo>
                  <a:lnTo>
                    <a:pt x="7429500" y="0"/>
                  </a:lnTo>
                </a:path>
              </a:pathLst>
            </a:custGeom>
            <a:noFill/>
            <a:ln w="19050">
              <a:solidFill>
                <a:schemeClr val="accent6"/>
              </a:solidFill>
            </a:ln>
          </p:spPr>
          <p:txBody>
            <a:bodyPr/>
            <a:p/>
          </p:txBody>
        </p:sp>
        <p:sp>
          <p:nvSpPr>
            <p:cNvPr id="11" name="TextBox 11"/>
            <p:cNvSpPr txBox="1"/>
            <p:nvPr/>
          </p:nvSpPr>
          <p:spPr>
            <a:xfrm>
              <a:off x="9419082" y="6756400"/>
              <a:ext cx="7677150" cy="848868"/>
            </a:xfrm>
            <a:prstGeom prst="rect">
              <a:avLst/>
            </a:prstGeom>
            <a:noFill/>
            <a:ln>
              <a:noFill/>
            </a:ln>
          </p:spPr>
          <p:txBody>
            <a:bodyPr wrap="none" lIns="0" tIns="0" rIns="0" bIns="0" anchor="t" anchorCtr="0">
              <a:noAutofit/>
            </a:bodyPr>
            <a:lstStyle/>
            <a:p>
              <a:pPr algn="l">
                <a:lnSpc>
                  <a:spcPts val="3450"/>
                </a:lnSpc>
              </a:pPr>
              <a:r>
                <a:rPr lang="zh-CN" sz="2100" dirty="0">
                  <a:solidFill>
                    <a:schemeClr val="accent5"/>
                  </a:solidFill>
                  <a:latin typeface="+mn-lt"/>
                  <a:ea typeface="+mn-ea"/>
                  <a:cs typeface="+mn-cs"/>
                </a:rPr>
                <a:t>匿名纸条无需姓名；涉及即时安全风险，</a:t>
              </a:r>
              <a:br>
                <a:rPr lang="zh-CN" sz="2100" dirty="0">
                  <a:solidFill>
                    <a:schemeClr val="accent5"/>
                  </a:solidFill>
                  <a:latin typeface="+mn-lt"/>
                  <a:ea typeface="+mn-ea"/>
                  <a:cs typeface="+mn-cs"/>
                </a:rPr>
              </a:br>
              <a:r>
                <a:rPr lang="zh-CN" sz="2100" dirty="0">
                  <a:solidFill>
                    <a:schemeClr val="accent5"/>
                  </a:solidFill>
                  <a:latin typeface="+mn-lt"/>
                  <a:ea typeface="+mn-ea"/>
                  <a:cs typeface="+mn-cs"/>
                </a:rPr>
                <a:t>由学校按流程私下接应，不在台上念。</a:t>
              </a:r>
            </a:p>
          </p:txBody>
        </p:sp>
      </p:grpSp>
      <p:sp>
        <p:nvSpPr>
          <p:cNvPr id="13"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安全先于分享</a:t>
            </a:r>
          </a:p>
        </p:txBody>
      </p:sp>
      <p:sp>
        <p:nvSpPr>
          <p:cNvPr id="14"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03 / 32　·　2 分钟</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5030724" cy="1384300"/>
            <a:chOff x="895350" y="908050"/>
            <a:chExt cx="5030724"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01　认识变化　/　成长背景</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高中阶段的四个变化</a:t>
              </a:r>
            </a:p>
          </p:txBody>
        </p:sp>
      </p:grpSp>
      <p:grpSp>
        <p:nvGrpSpPr>
          <p:cNvPr id="16" name="four-changes"/>
          <p:cNvGrpSpPr/>
          <p:nvPr/>
        </p:nvGrpSpPr>
        <p:grpSpPr>
          <a:xfrm>
            <a:off x="1238250" y="3308350"/>
            <a:ext cx="12945618" cy="4015740"/>
            <a:chOff x="1238250" y="3308350"/>
            <a:chExt cx="12945618" cy="4015740"/>
          </a:xfrm>
        </p:grpSpPr>
        <p:sp>
          <p:nvSpPr>
            <p:cNvPr id="5" name="Line 5"/>
            <p:cNvSpPr/>
            <p:nvPr/>
          </p:nvSpPr>
          <p:spPr>
            <a:xfrm>
              <a:off x="1333500" y="3333750"/>
              <a:ext cx="9525" cy="3619500"/>
            </a:xfrm>
            <a:custGeom>
              <a:avLst/>
              <a:gdLst/>
              <a:ahLst/>
              <a:cxnLst/>
              <a:rect l="l" t="t" r="r" b="b"/>
              <a:pathLst>
                <a:path w="9525" h="3619500">
                  <a:moveTo>
                    <a:pt x="0" y="0"/>
                  </a:moveTo>
                  <a:lnTo>
                    <a:pt x="0" y="3619500"/>
                  </a:lnTo>
                </a:path>
              </a:pathLst>
            </a:custGeom>
            <a:noFill/>
            <a:ln w="38100">
              <a:solidFill>
                <a:schemeClr val="accent6"/>
              </a:solidFill>
            </a:ln>
          </p:spPr>
          <p:txBody>
            <a:bodyPr/>
            <a:p/>
          </p:txBody>
        </p:sp>
        <p:sp>
          <p:nvSpPr>
            <p:cNvPr id="6" name="Ellipse 6"/>
            <p:cNvSpPr/>
            <p:nvPr/>
          </p:nvSpPr>
          <p:spPr>
            <a:xfrm>
              <a:off x="1238250" y="3429000"/>
              <a:ext cx="190500" cy="190500"/>
            </a:xfrm>
            <a:prstGeom prst="ellipse">
              <a:avLst/>
            </a:prstGeom>
            <a:solidFill>
              <a:schemeClr val="accent1"/>
            </a:solidFill>
            <a:ln>
              <a:noFill/>
            </a:ln>
          </p:spPr>
          <p:txBody>
            <a:bodyPr/>
            <a:p/>
          </p:txBody>
        </p:sp>
        <p:sp>
          <p:nvSpPr>
            <p:cNvPr id="7" name="Ellipse 7"/>
            <p:cNvSpPr/>
            <p:nvPr/>
          </p:nvSpPr>
          <p:spPr>
            <a:xfrm>
              <a:off x="1238250" y="4572000"/>
              <a:ext cx="190500" cy="190500"/>
            </a:xfrm>
            <a:prstGeom prst="ellipse">
              <a:avLst/>
            </a:prstGeom>
            <a:solidFill>
              <a:schemeClr val="accent1"/>
            </a:solidFill>
            <a:ln>
              <a:noFill/>
            </a:ln>
          </p:spPr>
          <p:txBody>
            <a:bodyPr/>
            <a:p/>
          </p:txBody>
        </p:sp>
        <p:sp>
          <p:nvSpPr>
            <p:cNvPr id="8" name="Ellipse 8"/>
            <p:cNvSpPr/>
            <p:nvPr/>
          </p:nvSpPr>
          <p:spPr>
            <a:xfrm>
              <a:off x="1238250" y="5715000"/>
              <a:ext cx="190500" cy="190500"/>
            </a:xfrm>
            <a:prstGeom prst="ellipse">
              <a:avLst/>
            </a:prstGeom>
            <a:solidFill>
              <a:schemeClr val="accent1"/>
            </a:solidFill>
            <a:ln>
              <a:noFill/>
            </a:ln>
          </p:spPr>
          <p:txBody>
            <a:bodyPr/>
            <a:p/>
          </p:txBody>
        </p:sp>
        <p:sp>
          <p:nvSpPr>
            <p:cNvPr id="9" name="Ellipse 9"/>
            <p:cNvSpPr/>
            <p:nvPr/>
          </p:nvSpPr>
          <p:spPr>
            <a:xfrm>
              <a:off x="1238250" y="6858000"/>
              <a:ext cx="190500" cy="190500"/>
            </a:xfrm>
            <a:prstGeom prst="ellipse">
              <a:avLst/>
            </a:prstGeom>
            <a:solidFill>
              <a:schemeClr val="accent2"/>
            </a:solidFill>
            <a:ln>
              <a:noFill/>
            </a:ln>
          </p:spPr>
          <p:txBody>
            <a:bodyPr/>
            <a:p/>
          </p:txBody>
        </p:sp>
        <p:sp>
          <p:nvSpPr>
            <p:cNvPr id="10" name="TextBox 10"/>
            <p:cNvSpPr txBox="1"/>
            <p:nvPr/>
          </p:nvSpPr>
          <p:spPr>
            <a:xfrm>
              <a:off x="1985010" y="3308350"/>
              <a:ext cx="153352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评价更密集</a:t>
              </a:r>
            </a:p>
          </p:txBody>
        </p:sp>
        <p:sp>
          <p:nvSpPr>
            <p:cNvPr id="11" name="TextBox 11"/>
            <p:cNvSpPr txBox="1"/>
            <p:nvPr/>
          </p:nvSpPr>
          <p:spPr>
            <a:xfrm>
              <a:off x="1985010" y="4451350"/>
              <a:ext cx="153352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同伴关系更重要</a:t>
              </a:r>
            </a:p>
          </p:txBody>
        </p:sp>
        <p:sp>
          <p:nvSpPr>
            <p:cNvPr id="12" name="TextBox 12"/>
            <p:cNvSpPr txBox="1"/>
            <p:nvPr/>
          </p:nvSpPr>
          <p:spPr>
            <a:xfrm>
              <a:off x="1985010" y="5594350"/>
              <a:ext cx="153352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想自己做决定</a:t>
              </a:r>
            </a:p>
          </p:txBody>
        </p:sp>
        <p:sp>
          <p:nvSpPr>
            <p:cNvPr id="13" name="TextBox 13"/>
            <p:cNvSpPr txBox="1"/>
            <p:nvPr/>
          </p:nvSpPr>
          <p:spPr>
            <a:xfrm>
              <a:off x="1985010" y="6737350"/>
              <a:ext cx="153352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开始问“我是谁、将来去哪儿”</a:t>
              </a:r>
            </a:p>
          </p:txBody>
        </p:sp>
        <p:sp>
          <p:nvSpPr>
            <p:cNvPr id="14" name="TextBox 14"/>
            <p:cNvSpPr txBox="1"/>
            <p:nvPr/>
          </p:nvSpPr>
          <p:spPr>
            <a:xfrm>
              <a:off x="11225784" y="3651250"/>
              <a:ext cx="6096000" cy="1118616"/>
            </a:xfrm>
            <a:prstGeom prst="rect">
              <a:avLst/>
            </a:prstGeom>
            <a:noFill/>
            <a:ln>
              <a:noFill/>
            </a:ln>
          </p:spPr>
          <p:txBody>
            <a:bodyPr wrap="none" lIns="0" tIns="0" rIns="0" bIns="0" anchor="t" anchorCtr="0">
              <a:noAutofit/>
            </a:bodyPr>
            <a:lstStyle/>
            <a:p>
              <a:pPr algn="l">
                <a:lnSpc>
                  <a:spcPts val="4650"/>
                </a:lnSpc>
              </a:pPr>
              <a:r>
                <a:rPr lang="zh-CN" sz="2700" dirty="0">
                  <a:solidFill>
                    <a:schemeClr val="accent1"/>
                  </a:solidFill>
                  <a:latin typeface="+mn-lt"/>
                  <a:ea typeface="+mn-ea"/>
                  <a:cs typeface="+mn-cs"/>
                </a:rPr>
                <a:t>你正在变化，</a:t>
              </a:r>
              <a:br>
                <a:rPr lang="zh-CN" sz="2700" dirty="0">
                  <a:solidFill>
                    <a:schemeClr val="accent1"/>
                  </a:solidFill>
                  <a:latin typeface="+mn-lt"/>
                  <a:ea typeface="+mn-ea"/>
                  <a:cs typeface="+mn-cs"/>
                </a:rPr>
              </a:br>
              <a:r>
                <a:rPr lang="zh-CN" sz="2700" dirty="0">
                  <a:solidFill>
                    <a:schemeClr val="accent1"/>
                  </a:solidFill>
                  <a:latin typeface="+mn-lt"/>
                  <a:ea typeface="+mn-ea"/>
                  <a:cs typeface="+mn-cs"/>
                </a:rPr>
                <a:t>环境也在变化。</a:t>
              </a:r>
            </a:p>
          </p:txBody>
        </p:sp>
        <p:sp>
          <p:nvSpPr>
            <p:cNvPr id="15" name="TextBox 15"/>
            <p:cNvSpPr txBox="1"/>
            <p:nvPr/>
          </p:nvSpPr>
          <p:spPr>
            <a:xfrm>
              <a:off x="11228832" y="5956300"/>
              <a:ext cx="6096000" cy="848868"/>
            </a:xfrm>
            <a:prstGeom prst="rect">
              <a:avLst/>
            </a:prstGeom>
            <a:noFill/>
            <a:ln>
              <a:noFill/>
            </a:ln>
          </p:spPr>
          <p:txBody>
            <a:bodyPr wrap="none" lIns="0" tIns="0" rIns="0" bIns="0" anchor="t" anchorCtr="0">
              <a:noAutofit/>
            </a:bodyPr>
            <a:lstStyle/>
            <a:p>
              <a:pPr algn="l">
                <a:lnSpc>
                  <a:spcPts val="3450"/>
                </a:lnSpc>
              </a:pPr>
              <a:r>
                <a:rPr lang="zh-CN" sz="2100" dirty="0">
                  <a:solidFill>
                    <a:schemeClr val="accent5"/>
                  </a:solidFill>
                  <a:latin typeface="+mn-lt"/>
                  <a:ea typeface="+mn-ea"/>
                  <a:cs typeface="+mn-cs"/>
                </a:rPr>
                <a:t>发展是群体背景，</a:t>
              </a:r>
              <a:br>
                <a:rPr lang="zh-CN" sz="2100" dirty="0">
                  <a:solidFill>
                    <a:schemeClr val="accent5"/>
                  </a:solidFill>
                  <a:latin typeface="+mn-lt"/>
                  <a:ea typeface="+mn-ea"/>
                  <a:cs typeface="+mn-cs"/>
                </a:rPr>
              </a:br>
              <a:r>
                <a:rPr lang="zh-CN" sz="2100" dirty="0">
                  <a:solidFill>
                    <a:schemeClr val="accent5"/>
                  </a:solidFill>
                  <a:latin typeface="+mn-lt"/>
                  <a:ea typeface="+mn-ea"/>
                  <a:cs typeface="+mn-cs"/>
                </a:rPr>
                <a:t>每个人的体验并不一样。</a:t>
              </a:r>
            </a:p>
          </p:txBody>
        </p:sp>
      </p:grpSp>
      <p:sp>
        <p:nvSpPr>
          <p:cNvPr id="17"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WHO · Adolescent health [S01]　｜　发展阶段不能用来否定学生的感受与自主权。</a:t>
            </a:r>
          </a:p>
        </p:txBody>
      </p:sp>
      <p:sp>
        <p:nvSpPr>
          <p:cNvPr id="18"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认识变化</a:t>
            </a:r>
          </a:p>
        </p:txBody>
      </p:sp>
      <p:sp>
        <p:nvSpPr>
          <p:cNvPr id="19"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04 / 32　·　4 分钟</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6694932" cy="1384300"/>
            <a:chOff x="895350" y="908050"/>
            <a:chExt cx="6694932"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02　压力与行动　/　虚构情境</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同一件事，为什么反应不同</a:t>
              </a:r>
            </a:p>
          </p:txBody>
        </p:sp>
      </p:grpSp>
      <p:grpSp>
        <p:nvGrpSpPr>
          <p:cNvPr id="7" name="message"/>
          <p:cNvGrpSpPr/>
          <p:nvPr/>
        </p:nvGrpSpPr>
        <p:grpSpPr>
          <a:xfrm>
            <a:off x="914400" y="2857500"/>
            <a:ext cx="16459200" cy="1428750"/>
            <a:chOff x="914400" y="2857500"/>
            <a:chExt cx="16459200" cy="1428750"/>
          </a:xfrm>
        </p:grpSpPr>
        <p:sp>
          <p:nvSpPr>
            <p:cNvPr id="5" name="Rectangle 5"/>
            <p:cNvSpPr/>
            <p:nvPr/>
          </p:nvSpPr>
          <p:spPr>
            <a:xfrm>
              <a:off x="914400" y="2857500"/>
              <a:ext cx="16459200" cy="1428750"/>
            </a:xfrm>
            <a:prstGeom prst="roundRect">
              <a:avLst>
                <a:gd name="adj" fmla="val 16000"/>
              </a:avLst>
            </a:prstGeom>
            <a:solidFill>
              <a:schemeClr val="lt2"/>
            </a:solidFill>
            <a:ln>
              <a:noFill/>
            </a:ln>
          </p:spPr>
          <p:txBody>
            <a:bodyPr/>
            <a:p/>
          </p:txBody>
        </p:sp>
        <p:sp>
          <p:nvSpPr>
            <p:cNvPr id="6" name="TextBox 6"/>
            <p:cNvSpPr txBox="1"/>
            <p:nvPr/>
          </p:nvSpPr>
          <p:spPr>
            <a:xfrm>
              <a:off x="1318260" y="3327400"/>
              <a:ext cx="160020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同学已读未回。</a:t>
              </a:r>
              <a:r>
                <a:rPr lang="zh-CN" sz="2100" dirty="0">
                  <a:solidFill>
                    <a:schemeClr val="accent5"/>
                  </a:solidFill>
                  <a:latin typeface="+mn-lt"/>
                  <a:ea typeface="+mn-ea"/>
                  <a:cs typeface="+mn-cs"/>
                </a:rPr>
                <a:t xml:space="preserve">　虚构情境，不涉及真实聊天记录</a:t>
              </a:r>
            </a:p>
          </p:txBody>
        </p:sp>
      </p:grpSp>
      <p:grpSp>
        <p:nvGrpSpPr>
          <p:cNvPr id="11" name="fact"/>
          <p:cNvGrpSpPr/>
          <p:nvPr/>
        </p:nvGrpSpPr>
        <p:grpSpPr>
          <a:xfrm>
            <a:off x="1030986" y="5032375"/>
            <a:ext cx="4028694" cy="2480691"/>
            <a:chOff x="1030986" y="5032375"/>
            <a:chExt cx="4028694" cy="2480691"/>
          </a:xfrm>
        </p:grpSpPr>
        <p:sp>
          <p:nvSpPr>
            <p:cNvPr id="8" name="TextBox 8"/>
            <p:cNvSpPr txBox="1"/>
            <p:nvPr/>
          </p:nvSpPr>
          <p:spPr>
            <a:xfrm>
              <a:off x="1037082" y="5032375"/>
              <a:ext cx="66865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能确认的事实</a:t>
              </a:r>
            </a:p>
          </p:txBody>
        </p:sp>
        <p:sp>
          <p:nvSpPr>
            <p:cNvPr id="9" name="TextBox 9"/>
            <p:cNvSpPr txBox="1"/>
            <p:nvPr/>
          </p:nvSpPr>
          <p:spPr>
            <a:xfrm>
              <a:off x="1030986" y="5737225"/>
              <a:ext cx="6686550" cy="645414"/>
            </a:xfrm>
            <a:prstGeom prst="rect">
              <a:avLst/>
            </a:prstGeom>
            <a:noFill/>
            <a:ln>
              <a:noFill/>
            </a:ln>
          </p:spPr>
          <p:txBody>
            <a:bodyPr wrap="none" lIns="0" tIns="0" rIns="0" bIns="0" anchor="t" anchorCtr="0">
              <a:noAutofit/>
            </a:bodyPr>
            <a:lstStyle/>
            <a:p>
              <a:pPr algn="l"/>
              <a:r>
                <a:rPr lang="zh-CN" sz="3300" dirty="0">
                  <a:solidFill>
                    <a:schemeClr val="accent1"/>
                  </a:solidFill>
                  <a:latin typeface="+mn-lt"/>
                  <a:ea typeface="+mn-ea"/>
                  <a:cs typeface="+mn-cs"/>
                </a:rPr>
                <a:t>消息未回复。</a:t>
              </a:r>
            </a:p>
          </p:txBody>
        </p:sp>
        <p:sp>
          <p:nvSpPr>
            <p:cNvPr id="10" name="TextBox 10"/>
            <p:cNvSpPr txBox="1"/>
            <p:nvPr/>
          </p:nvSpPr>
          <p:spPr>
            <a:xfrm>
              <a:off x="1034034" y="6985000"/>
              <a:ext cx="668655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感受可能是担心或生气。</a:t>
              </a:r>
            </a:p>
          </p:txBody>
        </p:sp>
      </p:grpSp>
      <p:grpSp>
        <p:nvGrpSpPr>
          <p:cNvPr id="15" name="interpretation"/>
          <p:cNvGrpSpPr/>
          <p:nvPr/>
        </p:nvGrpSpPr>
        <p:grpSpPr>
          <a:xfrm>
            <a:off x="9511284" y="5032375"/>
            <a:ext cx="6206490" cy="2861691"/>
            <a:chOff x="9511284" y="5032375"/>
            <a:chExt cx="6206490" cy="2861691"/>
          </a:xfrm>
        </p:grpSpPr>
        <p:sp>
          <p:nvSpPr>
            <p:cNvPr id="12" name="TextBox 12"/>
            <p:cNvSpPr txBox="1"/>
            <p:nvPr/>
          </p:nvSpPr>
          <p:spPr>
            <a:xfrm>
              <a:off x="9514332" y="5032375"/>
              <a:ext cx="76771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仍需查证的解释</a:t>
              </a:r>
            </a:p>
          </p:txBody>
        </p:sp>
        <p:sp>
          <p:nvSpPr>
            <p:cNvPr id="13" name="TextBox 13"/>
            <p:cNvSpPr txBox="1"/>
            <p:nvPr/>
          </p:nvSpPr>
          <p:spPr>
            <a:xfrm>
              <a:off x="9511284" y="5629275"/>
              <a:ext cx="7677150" cy="1080516"/>
            </a:xfrm>
            <a:prstGeom prst="rect">
              <a:avLst/>
            </a:prstGeom>
            <a:noFill/>
            <a:ln>
              <a:noFill/>
            </a:ln>
          </p:spPr>
          <p:txBody>
            <a:bodyPr wrap="none" lIns="0" tIns="0" rIns="0" bIns="0" anchor="t" anchorCtr="0">
              <a:noAutofit/>
            </a:bodyPr>
            <a:lstStyle/>
            <a:p>
              <a:pPr algn="l">
                <a:lnSpc>
                  <a:spcPts val="4350"/>
                </a:lnSpc>
              </a:pPr>
              <a:r>
                <a:rPr lang="zh-CN" sz="2700" dirty="0">
                  <a:solidFill>
                    <a:schemeClr val="dk1"/>
                  </a:solidFill>
                  <a:latin typeface="+mn-lt"/>
                  <a:ea typeface="+mn-ea"/>
                  <a:cs typeface="+mn-cs"/>
                </a:rPr>
                <a:t>忙、没看见、想晚点回，</a:t>
              </a:r>
              <a:br>
                <a:rPr lang="zh-CN" sz="2700" dirty="0">
                  <a:solidFill>
                    <a:schemeClr val="dk1"/>
                  </a:solidFill>
                  <a:latin typeface="+mn-lt"/>
                  <a:ea typeface="+mn-ea"/>
                  <a:cs typeface="+mn-cs"/>
                </a:rPr>
              </a:br>
              <a:r>
                <a:rPr lang="zh-CN" sz="2700" dirty="0">
                  <a:solidFill>
                    <a:schemeClr val="dk1"/>
                  </a:solidFill>
                  <a:latin typeface="+mn-lt"/>
                  <a:ea typeface="+mn-ea"/>
                  <a:cs typeface="+mn-cs"/>
                </a:rPr>
                <a:t>也可能正在生气。</a:t>
              </a:r>
            </a:p>
          </p:txBody>
        </p:sp>
        <p:sp>
          <p:nvSpPr>
            <p:cNvPr id="14" name="TextBox 14"/>
            <p:cNvSpPr txBox="1"/>
            <p:nvPr/>
          </p:nvSpPr>
          <p:spPr>
            <a:xfrm>
              <a:off x="9511284" y="7366000"/>
              <a:ext cx="7677150" cy="528066"/>
            </a:xfrm>
            <a:prstGeom prst="rect">
              <a:avLst/>
            </a:prstGeom>
            <a:noFill/>
            <a:ln>
              <a:noFill/>
            </a:ln>
          </p:spPr>
          <p:txBody>
            <a:bodyPr wrap="none" lIns="0" tIns="0" rIns="0" bIns="0" anchor="t" anchorCtr="0">
              <a:noAutofit/>
            </a:bodyPr>
            <a:lstStyle/>
            <a:p>
              <a:pPr algn="l"/>
              <a:r>
                <a:rPr lang="zh-CN" sz="2700" dirty="0">
                  <a:solidFill>
                    <a:schemeClr val="accent1"/>
                  </a:solidFill>
                  <a:latin typeface="+mn-lt"/>
                  <a:ea typeface="+mn-ea"/>
                  <a:cs typeface="+mn-cs"/>
                </a:rPr>
                <a:t>选择：等一会儿、核实，或先做别的。</a:t>
              </a:r>
            </a:p>
          </p:txBody>
        </p:sp>
      </p:grpSp>
      <p:sp>
        <p:nvSpPr>
          <p:cNvPr id="16"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互动 · 再增加一种可能的解释。感受是真的，推测仍需查证。</a:t>
            </a:r>
          </a:p>
        </p:txBody>
      </p:sp>
      <p:sp>
        <p:nvSpPr>
          <p:cNvPr id="17"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05 / 32　·　3 分钟</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7249668" cy="1384300"/>
            <a:chOff x="895350" y="908050"/>
            <a:chExt cx="7249668"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02　压力与行动　/　辨认信号</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压力常先出现在身体和行为里</a:t>
              </a:r>
            </a:p>
          </p:txBody>
        </p:sp>
      </p:grpSp>
      <p:grpSp>
        <p:nvGrpSpPr>
          <p:cNvPr id="12" name="signals"/>
          <p:cNvGrpSpPr/>
          <p:nvPr/>
        </p:nvGrpSpPr>
        <p:grpSpPr>
          <a:xfrm>
            <a:off x="1047750" y="3333750"/>
            <a:ext cx="4720590" cy="3790315"/>
            <a:chOff x="1047750" y="3333750"/>
            <a:chExt cx="4720590" cy="3790315"/>
          </a:xfrm>
        </p:grpSpPr>
        <p:sp>
          <p:nvSpPr>
            <p:cNvPr id="5" name="Line 5"/>
            <p:cNvSpPr/>
            <p:nvPr/>
          </p:nvSpPr>
          <p:spPr>
            <a:xfrm>
              <a:off x="1143000" y="3333750"/>
              <a:ext cx="9525" cy="3714750"/>
            </a:xfrm>
            <a:custGeom>
              <a:avLst/>
              <a:gdLst/>
              <a:ahLst/>
              <a:cxnLst/>
              <a:rect l="l" t="t" r="r" b="b"/>
              <a:pathLst>
                <a:path w="9525" h="3714750">
                  <a:moveTo>
                    <a:pt x="0" y="0"/>
                  </a:moveTo>
                  <a:lnTo>
                    <a:pt x="0" y="3714750"/>
                  </a:lnTo>
                </a:path>
              </a:pathLst>
            </a:custGeom>
            <a:noFill/>
            <a:ln w="38100">
              <a:solidFill>
                <a:schemeClr val="accent6"/>
              </a:solidFill>
            </a:ln>
          </p:spPr>
          <p:txBody>
            <a:bodyPr/>
            <a:p/>
          </p:txBody>
        </p:sp>
        <p:sp>
          <p:nvSpPr>
            <p:cNvPr id="6" name="Ellipse 6"/>
            <p:cNvSpPr/>
            <p:nvPr/>
          </p:nvSpPr>
          <p:spPr>
            <a:xfrm>
              <a:off x="1047750" y="3619500"/>
              <a:ext cx="190500" cy="190500"/>
            </a:xfrm>
            <a:prstGeom prst="ellipse">
              <a:avLst/>
            </a:prstGeom>
            <a:solidFill>
              <a:schemeClr val="accent1"/>
            </a:solidFill>
            <a:ln>
              <a:noFill/>
            </a:ln>
          </p:spPr>
          <p:txBody>
            <a:bodyPr/>
            <a:p/>
          </p:txBody>
        </p:sp>
        <p:sp>
          <p:nvSpPr>
            <p:cNvPr id="7" name="Ellipse 7"/>
            <p:cNvSpPr/>
            <p:nvPr/>
          </p:nvSpPr>
          <p:spPr>
            <a:xfrm>
              <a:off x="1047750" y="5143500"/>
              <a:ext cx="190500" cy="190500"/>
            </a:xfrm>
            <a:prstGeom prst="ellipse">
              <a:avLst/>
            </a:prstGeom>
            <a:solidFill>
              <a:schemeClr val="accent1"/>
            </a:solidFill>
            <a:ln>
              <a:noFill/>
            </a:ln>
          </p:spPr>
          <p:txBody>
            <a:bodyPr/>
            <a:p/>
          </p:txBody>
        </p:sp>
        <p:sp>
          <p:nvSpPr>
            <p:cNvPr id="8" name="Ellipse 8"/>
            <p:cNvSpPr/>
            <p:nvPr/>
          </p:nvSpPr>
          <p:spPr>
            <a:xfrm>
              <a:off x="1047750" y="6667500"/>
              <a:ext cx="190500" cy="190500"/>
            </a:xfrm>
            <a:prstGeom prst="ellipse">
              <a:avLst/>
            </a:prstGeom>
            <a:solidFill>
              <a:schemeClr val="accent2"/>
            </a:solidFill>
            <a:ln>
              <a:noFill/>
            </a:ln>
          </p:spPr>
          <p:txBody>
            <a:bodyPr/>
            <a:p/>
          </p:txBody>
        </p:sp>
        <p:sp>
          <p:nvSpPr>
            <p:cNvPr id="9" name="TextBox 9"/>
            <p:cNvSpPr txBox="1"/>
            <p:nvPr/>
          </p:nvSpPr>
          <p:spPr>
            <a:xfrm>
              <a:off x="1699260" y="3489325"/>
              <a:ext cx="91630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肩颈紧，或胃不舒服</a:t>
              </a:r>
            </a:p>
          </p:txBody>
        </p:sp>
        <p:sp>
          <p:nvSpPr>
            <p:cNvPr id="10" name="TextBox 10"/>
            <p:cNvSpPr txBox="1"/>
            <p:nvPr/>
          </p:nvSpPr>
          <p:spPr>
            <a:xfrm>
              <a:off x="1699260" y="5013325"/>
              <a:ext cx="91630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反复预演失败</a:t>
              </a:r>
            </a:p>
          </p:txBody>
        </p:sp>
        <p:sp>
          <p:nvSpPr>
            <p:cNvPr id="11" name="TextBox 11"/>
            <p:cNvSpPr txBox="1"/>
            <p:nvPr/>
          </p:nvSpPr>
          <p:spPr>
            <a:xfrm>
              <a:off x="1699260" y="6537325"/>
              <a:ext cx="91630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拖延、发火，或不停刷</a:t>
              </a:r>
            </a:p>
          </p:txBody>
        </p:sp>
      </p:grpSp>
      <p:grpSp>
        <p:nvGrpSpPr>
          <p:cNvPr id="15" name="notice"/>
          <p:cNvGrpSpPr/>
          <p:nvPr/>
        </p:nvGrpSpPr>
        <p:grpSpPr>
          <a:xfrm>
            <a:off x="12368784" y="3629025"/>
            <a:ext cx="2427732" cy="3147568"/>
            <a:chOff x="12368784" y="3629025"/>
            <a:chExt cx="2427732" cy="3147568"/>
          </a:xfrm>
        </p:grpSpPr>
        <p:sp>
          <p:nvSpPr>
            <p:cNvPr id="13" name="TextBox 13"/>
            <p:cNvSpPr txBox="1"/>
            <p:nvPr/>
          </p:nvSpPr>
          <p:spPr>
            <a:xfrm>
              <a:off x="12368784" y="3629025"/>
              <a:ext cx="4724400" cy="1080516"/>
            </a:xfrm>
            <a:prstGeom prst="rect">
              <a:avLst/>
            </a:prstGeom>
            <a:noFill/>
            <a:ln>
              <a:noFill/>
            </a:ln>
          </p:spPr>
          <p:txBody>
            <a:bodyPr wrap="none" lIns="0" tIns="0" rIns="0" bIns="0" anchor="t" anchorCtr="0">
              <a:noAutofit/>
            </a:bodyPr>
            <a:lstStyle/>
            <a:p>
              <a:pPr algn="l">
                <a:lnSpc>
                  <a:spcPts val="4350"/>
                </a:lnSpc>
              </a:pPr>
              <a:r>
                <a:rPr lang="zh-CN" sz="2700" dirty="0">
                  <a:solidFill>
                    <a:schemeClr val="dk1"/>
                  </a:solidFill>
                  <a:latin typeface="+mn-lt"/>
                  <a:ea typeface="+mn-ea"/>
                  <a:cs typeface="+mn-cs"/>
                </a:rPr>
                <a:t>我的最早信号，</a:t>
              </a:r>
              <a:br>
                <a:rPr lang="zh-CN" sz="2700" dirty="0">
                  <a:solidFill>
                    <a:schemeClr val="dk1"/>
                  </a:solidFill>
                  <a:latin typeface="+mn-lt"/>
                  <a:ea typeface="+mn-ea"/>
                  <a:cs typeface="+mn-cs"/>
                </a:rPr>
              </a:br>
              <a:r>
                <a:rPr lang="zh-CN" sz="2700" dirty="0">
                  <a:solidFill>
                    <a:schemeClr val="dk1"/>
                  </a:solidFill>
                  <a:latin typeface="+mn-lt"/>
                  <a:ea typeface="+mn-ea"/>
                  <a:cs typeface="+mn-cs"/>
                </a:rPr>
                <a:t>通常是什么？</a:t>
              </a:r>
            </a:p>
          </p:txBody>
        </p:sp>
        <p:sp>
          <p:nvSpPr>
            <p:cNvPr id="14" name="TextBox 14"/>
            <p:cNvSpPr txBox="1"/>
            <p:nvPr/>
          </p:nvSpPr>
          <p:spPr>
            <a:xfrm>
              <a:off x="12371832" y="5927725"/>
              <a:ext cx="4724400" cy="848868"/>
            </a:xfrm>
            <a:prstGeom prst="rect">
              <a:avLst/>
            </a:prstGeom>
            <a:noFill/>
            <a:ln>
              <a:noFill/>
            </a:ln>
          </p:spPr>
          <p:txBody>
            <a:bodyPr wrap="none" lIns="0" tIns="0" rIns="0" bIns="0" anchor="t" anchorCtr="0">
              <a:noAutofit/>
            </a:bodyPr>
            <a:lstStyle/>
            <a:p>
              <a:pPr algn="l">
                <a:lnSpc>
                  <a:spcPts val="3450"/>
                </a:lnSpc>
              </a:pPr>
              <a:r>
                <a:rPr lang="zh-CN" sz="2100" dirty="0">
                  <a:solidFill>
                    <a:schemeClr val="accent5"/>
                  </a:solidFill>
                  <a:latin typeface="+mn-lt"/>
                  <a:ea typeface="+mn-ea"/>
                  <a:cs typeface="+mn-cs"/>
                </a:rPr>
                <a:t>只在心里辨认，</a:t>
              </a:r>
              <a:br>
                <a:rPr lang="zh-CN" sz="2100" dirty="0">
                  <a:solidFill>
                    <a:schemeClr val="accent5"/>
                  </a:solidFill>
                  <a:latin typeface="+mn-lt"/>
                  <a:ea typeface="+mn-ea"/>
                  <a:cs typeface="+mn-cs"/>
                </a:rPr>
              </a:br>
              <a:r>
                <a:rPr lang="zh-CN" sz="2100" dirty="0">
                  <a:solidFill>
                    <a:schemeClr val="accent5"/>
                  </a:solidFill>
                  <a:latin typeface="+mn-lt"/>
                  <a:ea typeface="+mn-ea"/>
                  <a:cs typeface="+mn-cs"/>
                </a:rPr>
                <a:t>无需说出口。</a:t>
              </a:r>
            </a:p>
          </p:txBody>
        </p:sp>
      </p:grpSp>
      <p:sp>
        <p:nvSpPr>
          <p:cNvPr id="16"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这些信号不能用于自行诊断。</a:t>
            </a:r>
          </a:p>
        </p:txBody>
      </p:sp>
      <p:sp>
        <p:nvSpPr>
          <p:cNvPr id="17"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06 / 32　·　3 分钟</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5608244" cy="1371600"/>
            <a:chOff x="895350" y="908050"/>
            <a:chExt cx="5608244" cy="13716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02　压力与行动　/　两分钟书写</a:t>
              </a:r>
            </a:p>
          </p:txBody>
        </p:sp>
        <p:sp>
          <p:nvSpPr>
            <p:cNvPr id="3" name="TextBox 3"/>
            <p:cNvSpPr txBox="1"/>
            <p:nvPr/>
          </p:nvSpPr>
          <p:spPr>
            <a:xfrm>
              <a:off x="895350" y="15176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两分钟：把“完了”拆开</a:t>
              </a:r>
            </a:p>
          </p:txBody>
        </p:sp>
      </p:grpSp>
      <p:grpSp>
        <p:nvGrpSpPr>
          <p:cNvPr id="8" name="score"/>
          <p:cNvGrpSpPr/>
          <p:nvPr/>
        </p:nvGrpSpPr>
        <p:grpSpPr>
          <a:xfrm>
            <a:off x="914400" y="3536950"/>
            <a:ext cx="3576066" cy="4192016"/>
            <a:chOff x="914400" y="3536950"/>
            <a:chExt cx="3576066" cy="4192016"/>
          </a:xfrm>
        </p:grpSpPr>
        <p:sp>
          <p:nvSpPr>
            <p:cNvPr id="5" name="TextBox 5"/>
            <p:cNvSpPr txBox="1"/>
            <p:nvPr/>
          </p:nvSpPr>
          <p:spPr>
            <a:xfrm>
              <a:off x="1037082" y="3536950"/>
              <a:ext cx="60198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虚构案例 · 数学</a:t>
              </a:r>
            </a:p>
          </p:txBody>
        </p:sp>
        <p:sp>
          <p:nvSpPr>
            <p:cNvPr id="6" name="TextBox 6"/>
            <p:cNvSpPr txBox="1"/>
            <p:nvPr/>
          </p:nvSpPr>
          <p:spPr>
            <a:xfrm>
              <a:off x="914400" y="3975100"/>
              <a:ext cx="6134100" cy="2990850"/>
            </a:xfrm>
            <a:prstGeom prst="rect">
              <a:avLst/>
            </a:prstGeom>
            <a:noFill/>
            <a:ln>
              <a:noFill/>
            </a:ln>
          </p:spPr>
          <p:txBody>
            <a:bodyPr wrap="none" lIns="0" tIns="0" rIns="0" bIns="0" anchor="t" anchorCtr="0">
              <a:noAutofit/>
            </a:bodyPr>
            <a:lstStyle/>
            <a:p>
              <a:pPr algn="l"/>
              <a:r>
                <a:rPr lang="zh-CN" sz="15600" dirty="0">
                  <a:solidFill>
                    <a:schemeClr val="accent1"/>
                  </a:solidFill>
                  <a:latin typeface="+mn-lt"/>
                  <a:ea typeface="+mn-ea"/>
                  <a:cs typeface="+mn-cs"/>
                </a:rPr>
                <a:t>68</a:t>
              </a:r>
              <a:r>
                <a:rPr lang="zh-CN" sz="3000" dirty="0">
                  <a:solidFill>
                    <a:schemeClr val="accent1"/>
                  </a:solidFill>
                  <a:latin typeface="+mn-lt"/>
                  <a:ea typeface="+mn-ea"/>
                  <a:cs typeface="+mn-cs"/>
                </a:rPr>
                <a:t xml:space="preserve"> 分</a:t>
              </a:r>
            </a:p>
          </p:txBody>
        </p:sp>
        <p:sp>
          <p:nvSpPr>
            <p:cNvPr id="7" name="TextBox 7"/>
            <p:cNvSpPr txBox="1"/>
            <p:nvPr/>
          </p:nvSpPr>
          <p:spPr>
            <a:xfrm>
              <a:off x="1034034" y="6648450"/>
              <a:ext cx="6019800" cy="1080516"/>
            </a:xfrm>
            <a:prstGeom prst="rect">
              <a:avLst/>
            </a:prstGeom>
            <a:noFill/>
            <a:ln>
              <a:noFill/>
            </a:ln>
          </p:spPr>
          <p:txBody>
            <a:bodyPr wrap="none" lIns="0" tIns="0" rIns="0" bIns="0" anchor="t" anchorCtr="0">
              <a:noAutofit/>
            </a:bodyPr>
            <a:lstStyle/>
            <a:p>
              <a:pPr algn="l">
                <a:lnSpc>
                  <a:spcPts val="4350"/>
                </a:lnSpc>
              </a:pPr>
              <a:r>
                <a:rPr lang="zh-CN" sz="2700" dirty="0">
                  <a:solidFill>
                    <a:schemeClr val="dk1"/>
                  </a:solidFill>
                  <a:latin typeface="+mn-lt"/>
                  <a:ea typeface="+mn-ea"/>
                  <a:cs typeface="+mn-cs"/>
                </a:rPr>
                <a:t>事实：本次分数。</a:t>
              </a:r>
              <a:br>
                <a:rPr lang="zh-CN" sz="2700" dirty="0">
                  <a:solidFill>
                    <a:schemeClr val="dk1"/>
                  </a:solidFill>
                  <a:latin typeface="+mn-lt"/>
                  <a:ea typeface="+mn-ea"/>
                  <a:cs typeface="+mn-cs"/>
                </a:rPr>
              </a:br>
              <a:r>
                <a:rPr lang="zh-CN" sz="2700" dirty="0">
                  <a:solidFill>
                    <a:schemeClr val="dk1"/>
                  </a:solidFill>
                  <a:latin typeface="+mn-lt"/>
                  <a:ea typeface="+mn-ea"/>
                  <a:cs typeface="+mn-cs"/>
                </a:rPr>
                <a:t>不是对我的终身判定。</a:t>
              </a:r>
            </a:p>
          </p:txBody>
        </p:sp>
      </p:grpSp>
      <p:grpSp>
        <p:nvGrpSpPr>
          <p:cNvPr id="16" name="inquiry"/>
          <p:cNvGrpSpPr/>
          <p:nvPr/>
        </p:nvGrpSpPr>
        <p:grpSpPr>
          <a:xfrm>
            <a:off x="8191500" y="3460750"/>
            <a:ext cx="8953500" cy="4787900"/>
            <a:chOff x="8191500" y="3460750"/>
            <a:chExt cx="8953500" cy="4787900"/>
          </a:xfrm>
        </p:grpSpPr>
        <p:sp>
          <p:nvSpPr>
            <p:cNvPr id="9" name="TextBox 9"/>
            <p:cNvSpPr txBox="1"/>
            <p:nvPr/>
          </p:nvSpPr>
          <p:spPr>
            <a:xfrm>
              <a:off x="8371332" y="3460750"/>
              <a:ext cx="88201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自动解释</a:t>
              </a:r>
            </a:p>
          </p:txBody>
        </p:sp>
        <p:sp>
          <p:nvSpPr>
            <p:cNvPr id="10" name="TextBox 10"/>
            <p:cNvSpPr txBox="1"/>
            <p:nvPr/>
          </p:nvSpPr>
          <p:spPr>
            <a:xfrm>
              <a:off x="8366760" y="4013200"/>
              <a:ext cx="88201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“我不适合学数学。”</a:t>
              </a:r>
            </a:p>
          </p:txBody>
        </p:sp>
        <p:sp>
          <p:nvSpPr>
            <p:cNvPr id="11" name="Line 11"/>
            <p:cNvSpPr/>
            <p:nvPr/>
          </p:nvSpPr>
          <p:spPr>
            <a:xfrm>
              <a:off x="8382000" y="4810125"/>
              <a:ext cx="8286750" cy="9525"/>
            </a:xfrm>
            <a:custGeom>
              <a:avLst/>
              <a:gdLst/>
              <a:ahLst/>
              <a:cxnLst/>
              <a:rect l="l" t="t" r="r" b="b"/>
              <a:pathLst>
                <a:path w="8286750" h="9525">
                  <a:moveTo>
                    <a:pt x="0" y="0"/>
                  </a:moveTo>
                  <a:lnTo>
                    <a:pt x="8286750" y="0"/>
                  </a:lnTo>
                </a:path>
              </a:pathLst>
            </a:custGeom>
            <a:noFill/>
            <a:ln w="19050">
              <a:solidFill>
                <a:schemeClr val="accent6"/>
              </a:solidFill>
            </a:ln>
          </p:spPr>
          <p:txBody>
            <a:bodyPr/>
            <a:p/>
          </p:txBody>
        </p:sp>
        <p:sp>
          <p:nvSpPr>
            <p:cNvPr id="12" name="TextBox 12"/>
            <p:cNvSpPr txBox="1"/>
            <p:nvPr/>
          </p:nvSpPr>
          <p:spPr>
            <a:xfrm>
              <a:off x="8371332" y="5222875"/>
              <a:ext cx="88201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改成可核实问题</a:t>
              </a:r>
            </a:p>
          </p:txBody>
        </p:sp>
        <p:sp>
          <p:nvSpPr>
            <p:cNvPr id="13" name="TextBox 13"/>
            <p:cNvSpPr txBox="1"/>
            <p:nvPr/>
          </p:nvSpPr>
          <p:spPr>
            <a:xfrm>
              <a:off x="8368284" y="5724525"/>
              <a:ext cx="8820150" cy="1080516"/>
            </a:xfrm>
            <a:prstGeom prst="rect">
              <a:avLst/>
            </a:prstGeom>
            <a:noFill/>
            <a:ln>
              <a:noFill/>
            </a:ln>
          </p:spPr>
          <p:txBody>
            <a:bodyPr wrap="none" lIns="0" tIns="0" rIns="0" bIns="0" anchor="t" anchorCtr="0">
              <a:noAutofit/>
            </a:bodyPr>
            <a:lstStyle/>
            <a:p>
              <a:pPr algn="l">
                <a:lnSpc>
                  <a:spcPts val="4350"/>
                </a:lnSpc>
              </a:pPr>
              <a:r>
                <a:rPr lang="zh-CN" sz="2700" dirty="0">
                  <a:solidFill>
                    <a:schemeClr val="dk1"/>
                  </a:solidFill>
                  <a:latin typeface="+mn-lt"/>
                  <a:ea typeface="+mn-ea"/>
                  <a:cs typeface="+mn-cs"/>
                </a:rPr>
                <a:t>哪类题？为什么失分？</a:t>
              </a:r>
              <a:br>
                <a:rPr lang="zh-CN" sz="2700" dirty="0">
                  <a:solidFill>
                    <a:schemeClr val="dk1"/>
                  </a:solidFill>
                  <a:latin typeface="+mn-lt"/>
                  <a:ea typeface="+mn-ea"/>
                  <a:cs typeface="+mn-cs"/>
                </a:rPr>
              </a:br>
              <a:r>
                <a:rPr lang="zh-CN" sz="2700" dirty="0">
                  <a:solidFill>
                    <a:schemeClr val="dk1"/>
                  </a:solidFill>
                  <a:latin typeface="+mn-lt"/>
                  <a:ea typeface="+mn-ea"/>
                  <a:cs typeface="+mn-cs"/>
                </a:rPr>
                <a:t>同类题能不能独立做？</a:t>
              </a:r>
            </a:p>
          </p:txBody>
        </p:sp>
        <p:sp>
          <p:nvSpPr>
            <p:cNvPr id="14" name="Rectangle 14"/>
            <p:cNvSpPr/>
            <p:nvPr/>
          </p:nvSpPr>
          <p:spPr>
            <a:xfrm>
              <a:off x="8191500" y="7181850"/>
              <a:ext cx="8953500" cy="1066800"/>
            </a:xfrm>
            <a:prstGeom prst="roundRect">
              <a:avLst>
                <a:gd name="adj" fmla="val 21429"/>
              </a:avLst>
            </a:prstGeom>
            <a:solidFill>
              <a:schemeClr val="accent3"/>
            </a:solidFill>
            <a:ln>
              <a:noFill/>
            </a:ln>
          </p:spPr>
          <p:txBody>
            <a:bodyPr/>
            <a:p/>
          </p:txBody>
        </p:sp>
        <p:sp>
          <p:nvSpPr>
            <p:cNvPr id="15" name="TextBox 15"/>
            <p:cNvSpPr txBox="1"/>
            <p:nvPr/>
          </p:nvSpPr>
          <p:spPr>
            <a:xfrm>
              <a:off x="8511159" y="7518400"/>
              <a:ext cx="8677275"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下一步：选三题分类，问老师一个具体问题。</a:t>
              </a:r>
            </a:p>
          </p:txBody>
        </p:sp>
      </p:grpSp>
      <p:sp>
        <p:nvSpPr>
          <p:cNvPr id="17"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互动 · 写一个“自动解释”，旁边改写成一个可核实问题。不收纸。</a:t>
            </a:r>
          </a:p>
        </p:txBody>
      </p:sp>
      <p:sp>
        <p:nvSpPr>
          <p:cNvPr id="18"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07 / 32　·　4 分钟</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6875221" cy="1371600"/>
            <a:chOff x="895350" y="908050"/>
            <a:chExt cx="6875221" cy="13716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02　压力与行动　/　自愿练习</a:t>
              </a:r>
            </a:p>
          </p:txBody>
        </p:sp>
        <p:sp>
          <p:nvSpPr>
            <p:cNvPr id="3" name="TextBox 3"/>
            <p:cNvSpPr txBox="1"/>
            <p:nvPr/>
          </p:nvSpPr>
          <p:spPr>
            <a:xfrm>
              <a:off x="895350" y="15176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90 秒暂停：为行动留出空间</a:t>
              </a:r>
            </a:p>
          </p:txBody>
        </p:sp>
      </p:grpSp>
      <p:grpSp>
        <p:nvGrpSpPr>
          <p:cNvPr id="18" name="grounding"/>
          <p:cNvGrpSpPr/>
          <p:nvPr/>
        </p:nvGrpSpPr>
        <p:grpSpPr>
          <a:xfrm>
            <a:off x="1219200" y="3298825"/>
            <a:ext cx="13917168" cy="4396740"/>
            <a:chOff x="1219200" y="3298825"/>
            <a:chExt cx="13917168" cy="4396740"/>
          </a:xfrm>
        </p:grpSpPr>
        <p:sp>
          <p:nvSpPr>
            <p:cNvPr id="5" name="Line 5"/>
            <p:cNvSpPr/>
            <p:nvPr/>
          </p:nvSpPr>
          <p:spPr>
            <a:xfrm>
              <a:off x="1333500" y="3429000"/>
              <a:ext cx="9525" cy="4000500"/>
            </a:xfrm>
            <a:custGeom>
              <a:avLst/>
              <a:gdLst/>
              <a:ahLst/>
              <a:cxnLst/>
              <a:rect l="l" t="t" r="r" b="b"/>
              <a:pathLst>
                <a:path w="9525" h="4000500">
                  <a:moveTo>
                    <a:pt x="0" y="0"/>
                  </a:moveTo>
                  <a:lnTo>
                    <a:pt x="0" y="4000500"/>
                  </a:lnTo>
                </a:path>
              </a:pathLst>
            </a:custGeom>
            <a:noFill/>
            <a:ln w="38100">
              <a:solidFill>
                <a:schemeClr val="accent2"/>
              </a:solidFill>
            </a:ln>
          </p:spPr>
          <p:txBody>
            <a:bodyPr/>
            <a:p/>
          </p:txBody>
        </p:sp>
        <p:sp>
          <p:nvSpPr>
            <p:cNvPr id="6" name="Ellipse 6"/>
            <p:cNvSpPr/>
            <p:nvPr/>
          </p:nvSpPr>
          <p:spPr>
            <a:xfrm>
              <a:off x="1219200" y="3409950"/>
              <a:ext cx="228600" cy="228600"/>
            </a:xfrm>
            <a:prstGeom prst="ellipse">
              <a:avLst/>
            </a:prstGeom>
            <a:solidFill>
              <a:schemeClr val="accent1"/>
            </a:solidFill>
            <a:ln>
              <a:noFill/>
            </a:ln>
          </p:spPr>
          <p:txBody>
            <a:bodyPr/>
            <a:p/>
          </p:txBody>
        </p:sp>
        <p:sp>
          <p:nvSpPr>
            <p:cNvPr id="7" name="Ellipse 7"/>
            <p:cNvSpPr/>
            <p:nvPr/>
          </p:nvSpPr>
          <p:spPr>
            <a:xfrm>
              <a:off x="1219200" y="4362450"/>
              <a:ext cx="228600" cy="228600"/>
            </a:xfrm>
            <a:prstGeom prst="ellipse">
              <a:avLst/>
            </a:prstGeom>
            <a:solidFill>
              <a:schemeClr val="accent1"/>
            </a:solidFill>
            <a:ln>
              <a:noFill/>
            </a:ln>
          </p:spPr>
          <p:txBody>
            <a:bodyPr/>
            <a:p/>
          </p:txBody>
        </p:sp>
        <p:sp>
          <p:nvSpPr>
            <p:cNvPr id="8" name="Ellipse 8"/>
            <p:cNvSpPr/>
            <p:nvPr/>
          </p:nvSpPr>
          <p:spPr>
            <a:xfrm>
              <a:off x="1219200" y="5314950"/>
              <a:ext cx="228600" cy="228600"/>
            </a:xfrm>
            <a:prstGeom prst="ellipse">
              <a:avLst/>
            </a:prstGeom>
            <a:solidFill>
              <a:schemeClr val="accent1"/>
            </a:solidFill>
            <a:ln>
              <a:noFill/>
            </a:ln>
          </p:spPr>
          <p:txBody>
            <a:bodyPr/>
            <a:p/>
          </p:txBody>
        </p:sp>
        <p:sp>
          <p:nvSpPr>
            <p:cNvPr id="9" name="Ellipse 9"/>
            <p:cNvSpPr/>
            <p:nvPr/>
          </p:nvSpPr>
          <p:spPr>
            <a:xfrm>
              <a:off x="1219200" y="6267450"/>
              <a:ext cx="228600" cy="228600"/>
            </a:xfrm>
            <a:prstGeom prst="ellipse">
              <a:avLst/>
            </a:prstGeom>
            <a:solidFill>
              <a:schemeClr val="accent1"/>
            </a:solidFill>
            <a:ln>
              <a:noFill/>
            </a:ln>
          </p:spPr>
          <p:txBody>
            <a:bodyPr/>
            <a:p/>
          </p:txBody>
        </p:sp>
        <p:sp>
          <p:nvSpPr>
            <p:cNvPr id="10" name="Ellipse 10"/>
            <p:cNvSpPr/>
            <p:nvPr/>
          </p:nvSpPr>
          <p:spPr>
            <a:xfrm>
              <a:off x="1219200" y="7219950"/>
              <a:ext cx="228600" cy="228600"/>
            </a:xfrm>
            <a:prstGeom prst="ellipse">
              <a:avLst/>
            </a:prstGeom>
            <a:solidFill>
              <a:schemeClr val="accent2"/>
            </a:solidFill>
            <a:ln>
              <a:noFill/>
            </a:ln>
          </p:spPr>
          <p:txBody>
            <a:bodyPr/>
            <a:p/>
          </p:txBody>
        </p:sp>
        <p:sp>
          <p:nvSpPr>
            <p:cNvPr id="11" name="TextBox 11"/>
            <p:cNvSpPr txBox="1"/>
            <p:nvPr/>
          </p:nvSpPr>
          <p:spPr>
            <a:xfrm>
              <a:off x="1889760" y="3298825"/>
              <a:ext cx="15430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脚踩地</a:t>
              </a:r>
            </a:p>
          </p:txBody>
        </p:sp>
        <p:sp>
          <p:nvSpPr>
            <p:cNvPr id="12" name="TextBox 12"/>
            <p:cNvSpPr txBox="1"/>
            <p:nvPr/>
          </p:nvSpPr>
          <p:spPr>
            <a:xfrm>
              <a:off x="1889760" y="4251325"/>
              <a:ext cx="15430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看见眼前三个物体</a:t>
              </a:r>
            </a:p>
          </p:txBody>
        </p:sp>
        <p:sp>
          <p:nvSpPr>
            <p:cNvPr id="13" name="TextBox 13"/>
            <p:cNvSpPr txBox="1"/>
            <p:nvPr/>
          </p:nvSpPr>
          <p:spPr>
            <a:xfrm>
              <a:off x="1889760" y="5203825"/>
              <a:ext cx="15430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慢慢呼气数次</a:t>
              </a:r>
            </a:p>
          </p:txBody>
        </p:sp>
        <p:sp>
          <p:nvSpPr>
            <p:cNvPr id="14" name="TextBox 14"/>
            <p:cNvSpPr txBox="1"/>
            <p:nvPr/>
          </p:nvSpPr>
          <p:spPr>
            <a:xfrm>
              <a:off x="1889760" y="6156325"/>
              <a:ext cx="15430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说出：“我现在很 ___。”</a:t>
              </a:r>
            </a:p>
          </p:txBody>
        </p:sp>
        <p:sp>
          <p:nvSpPr>
            <p:cNvPr id="15" name="TextBox 15"/>
            <p:cNvSpPr txBox="1"/>
            <p:nvPr/>
          </p:nvSpPr>
          <p:spPr>
            <a:xfrm>
              <a:off x="1889760" y="7108825"/>
              <a:ext cx="15430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选一个不会让事情更糟的小动作</a:t>
              </a:r>
            </a:p>
          </p:txBody>
        </p:sp>
        <p:sp>
          <p:nvSpPr>
            <p:cNvPr id="16" name="TextBox 16"/>
            <p:cNvSpPr txBox="1"/>
            <p:nvPr/>
          </p:nvSpPr>
          <p:spPr>
            <a:xfrm>
              <a:off x="12178284" y="4114800"/>
              <a:ext cx="5143500" cy="1137666"/>
            </a:xfrm>
            <a:prstGeom prst="rect">
              <a:avLst/>
            </a:prstGeom>
            <a:noFill/>
            <a:ln>
              <a:noFill/>
            </a:ln>
          </p:spPr>
          <p:txBody>
            <a:bodyPr wrap="none" lIns="0" tIns="0" rIns="0" bIns="0" anchor="t" anchorCtr="0">
              <a:noAutofit/>
            </a:bodyPr>
            <a:lstStyle/>
            <a:p>
              <a:pPr algn="l">
                <a:lnSpc>
                  <a:spcPts val="4800"/>
                </a:lnSpc>
              </a:pPr>
              <a:r>
                <a:rPr lang="zh-CN" sz="2700" dirty="0">
                  <a:solidFill>
                    <a:schemeClr val="dk1"/>
                  </a:solidFill>
                  <a:latin typeface="+mn-lt"/>
                  <a:ea typeface="+mn-ea"/>
                  <a:cs typeface="+mn-cs"/>
                </a:rPr>
                <a:t>睁眼即可。</a:t>
              </a:r>
              <a:br>
                <a:rPr lang="zh-CN" sz="2700" dirty="0">
                  <a:solidFill>
                    <a:schemeClr val="dk1"/>
                  </a:solidFill>
                  <a:latin typeface="+mn-lt"/>
                  <a:ea typeface="+mn-ea"/>
                  <a:cs typeface="+mn-cs"/>
                </a:rPr>
              </a:br>
              <a:r>
                <a:rPr lang="zh-CN" sz="2700" dirty="0">
                  <a:solidFill>
                    <a:schemeClr val="dk1"/>
                  </a:solidFill>
                  <a:latin typeface="+mn-lt"/>
                  <a:ea typeface="+mn-ea"/>
                  <a:cs typeface="+mn-cs"/>
                </a:rPr>
                <a:t>不适时可以跳过。</a:t>
              </a:r>
            </a:p>
          </p:txBody>
        </p:sp>
        <p:sp>
          <p:nvSpPr>
            <p:cNvPr id="17" name="TextBox 17"/>
            <p:cNvSpPr txBox="1"/>
            <p:nvPr/>
          </p:nvSpPr>
          <p:spPr>
            <a:xfrm>
              <a:off x="12181332" y="6432550"/>
              <a:ext cx="5143500" cy="848868"/>
            </a:xfrm>
            <a:prstGeom prst="rect">
              <a:avLst/>
            </a:prstGeom>
            <a:noFill/>
            <a:ln>
              <a:noFill/>
            </a:ln>
          </p:spPr>
          <p:txBody>
            <a:bodyPr wrap="none" lIns="0" tIns="0" rIns="0" bIns="0" anchor="t" anchorCtr="0">
              <a:noAutofit/>
            </a:bodyPr>
            <a:lstStyle/>
            <a:p>
              <a:pPr algn="l">
                <a:lnSpc>
                  <a:spcPts val="3450"/>
                </a:lnSpc>
              </a:pPr>
              <a:r>
                <a:rPr lang="zh-CN" sz="2100" dirty="0">
                  <a:solidFill>
                    <a:schemeClr val="accent5"/>
                  </a:solidFill>
                  <a:latin typeface="+mn-lt"/>
                  <a:ea typeface="+mn-ea"/>
                  <a:cs typeface="+mn-cs"/>
                </a:rPr>
                <a:t>不要求情绪消失，</a:t>
              </a:r>
              <a:br>
                <a:rPr lang="zh-CN" sz="2100" dirty="0">
                  <a:solidFill>
                    <a:schemeClr val="accent5"/>
                  </a:solidFill>
                  <a:latin typeface="+mn-lt"/>
                  <a:ea typeface="+mn-ea"/>
                  <a:cs typeface="+mn-cs"/>
                </a:rPr>
              </a:br>
              <a:r>
                <a:rPr lang="zh-CN" sz="2100" dirty="0">
                  <a:solidFill>
                    <a:schemeClr val="accent5"/>
                  </a:solidFill>
                  <a:latin typeface="+mn-lt"/>
                  <a:ea typeface="+mn-ea"/>
                  <a:cs typeface="+mn-cs"/>
                </a:rPr>
                <a:t>只为下一步腾一点空间。</a:t>
              </a:r>
            </a:p>
          </p:txBody>
        </p:sp>
      </p:grpSp>
      <p:sp>
        <p:nvSpPr>
          <p:cNvPr id="19"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这是课堂练习，不是治疗方案，也不承诺 90 秒消除情绪。</a:t>
            </a:r>
          </a:p>
        </p:txBody>
      </p:sp>
      <p:sp>
        <p:nvSpPr>
          <p:cNvPr id="20"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08 / 32　·　3 分钟</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5585460" cy="1384300"/>
            <a:chOff x="895350" y="908050"/>
            <a:chExt cx="5585460"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02　压力与行动　/　考试焦虑</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考试焦虑：先处理循环</a:t>
              </a:r>
            </a:p>
          </p:txBody>
        </p:sp>
      </p:grpSp>
      <p:grpSp>
        <p:nvGrpSpPr>
          <p:cNvPr id="11" name="loop"/>
          <p:cNvGrpSpPr/>
          <p:nvPr/>
        </p:nvGrpSpPr>
        <p:grpSpPr>
          <a:xfrm>
            <a:off x="914400" y="2857500"/>
            <a:ext cx="8858250" cy="5238750"/>
            <a:chOff x="914400" y="2857500"/>
            <a:chExt cx="8858250" cy="5238750"/>
          </a:xfrm>
        </p:grpSpPr>
        <p:sp>
          <p:nvSpPr>
            <p:cNvPr id="5" name="Rectangle 5"/>
            <p:cNvSpPr/>
            <p:nvPr/>
          </p:nvSpPr>
          <p:spPr>
            <a:xfrm>
              <a:off x="914400" y="2857500"/>
              <a:ext cx="8858250" cy="5238750"/>
            </a:xfrm>
            <a:prstGeom prst="roundRect">
              <a:avLst>
                <a:gd name="adj" fmla="val 4364"/>
              </a:avLst>
            </a:prstGeom>
            <a:solidFill>
              <a:schemeClr val="lt2"/>
            </a:solidFill>
            <a:ln>
              <a:noFill/>
            </a:ln>
          </p:spPr>
          <p:txBody>
            <a:bodyPr/>
            <a:p/>
          </p:txBody>
        </p:sp>
        <p:sp>
          <p:nvSpPr>
            <p:cNvPr id="6" name="TextBox 6"/>
            <p:cNvSpPr txBox="1"/>
            <p:nvPr/>
          </p:nvSpPr>
          <p:spPr>
            <a:xfrm>
              <a:off x="1413510" y="3536950"/>
              <a:ext cx="8305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担心考差　→　熬夜补课</a:t>
              </a:r>
            </a:p>
          </p:txBody>
        </p:sp>
        <p:sp>
          <p:nvSpPr>
            <p:cNvPr id="7" name="TextBox 7"/>
            <p:cNvSpPr txBox="1"/>
            <p:nvPr/>
          </p:nvSpPr>
          <p:spPr>
            <a:xfrm>
              <a:off x="7128510" y="4394200"/>
              <a:ext cx="2590800" cy="586740"/>
            </a:xfrm>
            <a:prstGeom prst="rect">
              <a:avLst/>
            </a:prstGeom>
            <a:noFill/>
            <a:ln>
              <a:noFill/>
            </a:ln>
          </p:spPr>
          <p:txBody>
            <a:bodyPr wrap="none" lIns="0" tIns="0" rIns="0" bIns="0" anchor="t" anchorCtr="0">
              <a:noAutofit/>
            </a:bodyPr>
            <a:lstStyle/>
            <a:p>
              <a:pPr algn="l"/>
              <a:r>
                <a:rPr lang="zh-CN" sz="3000" dirty="0">
                  <a:solidFill>
                    <a:schemeClr val="accent1"/>
                  </a:solidFill>
                  <a:latin typeface="+mn-lt"/>
                  <a:ea typeface="+mn-ea"/>
                  <a:cs typeface="+mn-cs"/>
                </a:rPr>
                <a:t>↓</a:t>
              </a:r>
            </a:p>
          </p:txBody>
        </p:sp>
        <p:sp>
          <p:nvSpPr>
            <p:cNvPr id="8" name="TextBox 8"/>
            <p:cNvSpPr txBox="1"/>
            <p:nvPr/>
          </p:nvSpPr>
          <p:spPr>
            <a:xfrm>
              <a:off x="1413510" y="5441950"/>
              <a:ext cx="8305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错题增多　←　注意下降</a:t>
              </a:r>
            </a:p>
          </p:txBody>
        </p:sp>
        <p:sp>
          <p:nvSpPr>
            <p:cNvPr id="9" name="TextBox 9"/>
            <p:cNvSpPr txBox="1"/>
            <p:nvPr/>
          </p:nvSpPr>
          <p:spPr>
            <a:xfrm>
              <a:off x="1413510" y="6394450"/>
              <a:ext cx="8305800" cy="586740"/>
            </a:xfrm>
            <a:prstGeom prst="rect">
              <a:avLst/>
            </a:prstGeom>
            <a:noFill/>
            <a:ln>
              <a:noFill/>
            </a:ln>
          </p:spPr>
          <p:txBody>
            <a:bodyPr wrap="none" lIns="0" tIns="0" rIns="0" bIns="0" anchor="t" anchorCtr="0">
              <a:noAutofit/>
            </a:bodyPr>
            <a:lstStyle/>
            <a:p>
              <a:pPr algn="l"/>
              <a:r>
                <a:rPr lang="zh-CN" sz="3000" dirty="0">
                  <a:solidFill>
                    <a:schemeClr val="accent1"/>
                  </a:solidFill>
                  <a:latin typeface="+mn-lt"/>
                  <a:ea typeface="+mn-ea"/>
                  <a:cs typeface="+mn-cs"/>
                </a:rPr>
                <a:t>↓</a:t>
              </a:r>
            </a:p>
          </p:txBody>
        </p:sp>
        <p:sp>
          <p:nvSpPr>
            <p:cNvPr id="10" name="TextBox 10"/>
            <p:cNvSpPr txBox="1"/>
            <p:nvPr/>
          </p:nvSpPr>
          <p:spPr>
            <a:xfrm>
              <a:off x="1413510" y="7175500"/>
              <a:ext cx="8305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更担心，再回到担心考差……</a:t>
              </a:r>
            </a:p>
          </p:txBody>
        </p:sp>
      </p:grpSp>
      <p:grpSp>
        <p:nvGrpSpPr>
          <p:cNvPr id="14" name="entry"/>
          <p:cNvGrpSpPr/>
          <p:nvPr/>
        </p:nvGrpSpPr>
        <p:grpSpPr>
          <a:xfrm>
            <a:off x="11035284" y="3460750"/>
            <a:ext cx="4142232" cy="3023616"/>
            <a:chOff x="11035284" y="3460750"/>
            <a:chExt cx="4142232" cy="3023616"/>
          </a:xfrm>
        </p:grpSpPr>
        <p:sp>
          <p:nvSpPr>
            <p:cNvPr id="12" name="TextBox 12"/>
            <p:cNvSpPr txBox="1"/>
            <p:nvPr/>
          </p:nvSpPr>
          <p:spPr>
            <a:xfrm>
              <a:off x="11038332" y="3460750"/>
              <a:ext cx="60579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从哪里切入最容易？</a:t>
              </a:r>
            </a:p>
          </p:txBody>
        </p:sp>
        <p:sp>
          <p:nvSpPr>
            <p:cNvPr id="13" name="TextBox 13"/>
            <p:cNvSpPr txBox="1"/>
            <p:nvPr/>
          </p:nvSpPr>
          <p:spPr>
            <a:xfrm>
              <a:off x="11035284" y="4051300"/>
              <a:ext cx="6057900" cy="2433066"/>
            </a:xfrm>
            <a:prstGeom prst="rect">
              <a:avLst/>
            </a:prstGeom>
            <a:noFill/>
            <a:ln>
              <a:noFill/>
            </a:ln>
          </p:spPr>
          <p:txBody>
            <a:bodyPr wrap="none" lIns="0" tIns="0" rIns="0" bIns="0" anchor="t" anchorCtr="0">
              <a:noAutofit/>
            </a:bodyPr>
            <a:lstStyle/>
            <a:p>
              <a:pPr algn="l">
                <a:lnSpc>
                  <a:spcPts val="7500"/>
                </a:lnSpc>
              </a:pPr>
              <a:r>
                <a:rPr lang="zh-CN" sz="2700" dirty="0">
                  <a:solidFill>
                    <a:schemeClr val="dk1"/>
                  </a:solidFill>
                  <a:latin typeface="+mn-lt"/>
                  <a:ea typeface="+mn-ea"/>
                  <a:cs typeface="+mn-cs"/>
                </a:rPr>
                <a:t>今晚：停止无目标刷题。</a:t>
              </a:r>
              <a:br>
                <a:rPr lang="zh-CN" sz="2700" dirty="0">
                  <a:solidFill>
                    <a:schemeClr val="dk1"/>
                  </a:solidFill>
                  <a:latin typeface="+mn-lt"/>
                  <a:ea typeface="+mn-ea"/>
                  <a:cs typeface="+mn-cs"/>
                </a:rPr>
              </a:br>
              <a:r>
                <a:rPr lang="zh-CN" sz="2700" dirty="0">
                  <a:solidFill>
                    <a:schemeClr val="dk1"/>
                  </a:solidFill>
                  <a:latin typeface="+mn-lt"/>
                  <a:ea typeface="+mn-ea"/>
                  <a:cs typeface="+mn-cs"/>
                </a:rPr>
                <a:t>明天：确认一个薄弱点。</a:t>
              </a:r>
              <a:br>
                <a:rPr lang="zh-CN" sz="2700" dirty="0">
                  <a:solidFill>
                    <a:schemeClr val="dk1"/>
                  </a:solidFill>
                  <a:latin typeface="+mn-lt"/>
                  <a:ea typeface="+mn-ea"/>
                  <a:cs typeface="+mn-cs"/>
                </a:rPr>
              </a:br>
              <a:r>
                <a:rPr lang="zh-CN" sz="2700" dirty="0">
                  <a:solidFill>
                    <a:schemeClr val="dk1"/>
                  </a:solidFill>
                  <a:latin typeface="+mn-lt"/>
                  <a:ea typeface="+mn-ea"/>
                  <a:cs typeface="+mn-cs"/>
                </a:rPr>
                <a:t>安排可实现的睡眠与求助。</a:t>
              </a:r>
            </a:p>
          </p:txBody>
        </p:sp>
      </p:grpSp>
      <p:sp>
        <p:nvSpPr>
          <p:cNvPr id="15"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选择可以改变的一环，不用一句“想开点”覆盖困难。</a:t>
            </a:r>
          </a:p>
        </p:txBody>
      </p:sp>
      <p:sp>
        <p:nvSpPr>
          <p:cNvPr id="16"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09 / 32　·　4 分钟</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7804404" cy="1384300"/>
            <a:chOff x="895350" y="908050"/>
            <a:chExt cx="7804404"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02　压力与行动　/　有效复习</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复习时，怎样知道自己真的会了</a:t>
              </a:r>
            </a:p>
          </p:txBody>
        </p:sp>
      </p:grpSp>
      <p:grpSp>
        <p:nvGrpSpPr>
          <p:cNvPr id="16" name="practice"/>
          <p:cNvGrpSpPr/>
          <p:nvPr/>
        </p:nvGrpSpPr>
        <p:grpSpPr>
          <a:xfrm>
            <a:off x="1304925" y="3394075"/>
            <a:ext cx="14495450" cy="4015740"/>
            <a:chOff x="1304925" y="3394075"/>
            <a:chExt cx="14495450" cy="4015740"/>
          </a:xfrm>
        </p:grpSpPr>
        <p:sp>
          <p:nvSpPr>
            <p:cNvPr id="5" name="Line 5"/>
            <p:cNvSpPr/>
            <p:nvPr/>
          </p:nvSpPr>
          <p:spPr>
            <a:xfrm>
              <a:off x="1428750" y="3524250"/>
              <a:ext cx="9525" cy="3619500"/>
            </a:xfrm>
            <a:custGeom>
              <a:avLst/>
              <a:gdLst/>
              <a:ahLst/>
              <a:cxnLst/>
              <a:rect l="l" t="t" r="r" b="b"/>
              <a:pathLst>
                <a:path w="9525" h="3619500">
                  <a:moveTo>
                    <a:pt x="0" y="0"/>
                  </a:moveTo>
                  <a:lnTo>
                    <a:pt x="0" y="3619500"/>
                  </a:lnTo>
                </a:path>
              </a:pathLst>
            </a:custGeom>
            <a:noFill/>
            <a:ln w="38100">
              <a:solidFill>
                <a:schemeClr val="accent6"/>
              </a:solidFill>
            </a:ln>
          </p:spPr>
          <p:txBody>
            <a:bodyPr/>
            <a:p/>
          </p:txBody>
        </p:sp>
        <p:sp>
          <p:nvSpPr>
            <p:cNvPr id="6" name="Ellipse 6"/>
            <p:cNvSpPr/>
            <p:nvPr/>
          </p:nvSpPr>
          <p:spPr>
            <a:xfrm>
              <a:off x="1304925" y="3495675"/>
              <a:ext cx="247650" cy="247650"/>
            </a:xfrm>
            <a:prstGeom prst="ellipse">
              <a:avLst/>
            </a:prstGeom>
            <a:solidFill>
              <a:schemeClr val="accent1"/>
            </a:solidFill>
            <a:ln>
              <a:noFill/>
            </a:ln>
          </p:spPr>
          <p:txBody>
            <a:bodyPr/>
            <a:p/>
          </p:txBody>
        </p:sp>
        <p:sp>
          <p:nvSpPr>
            <p:cNvPr id="7" name="Ellipse 7"/>
            <p:cNvSpPr/>
            <p:nvPr/>
          </p:nvSpPr>
          <p:spPr>
            <a:xfrm>
              <a:off x="1304925" y="4638675"/>
              <a:ext cx="247650" cy="247650"/>
            </a:xfrm>
            <a:prstGeom prst="ellipse">
              <a:avLst/>
            </a:prstGeom>
            <a:solidFill>
              <a:schemeClr val="accent1"/>
            </a:solidFill>
            <a:ln>
              <a:noFill/>
            </a:ln>
          </p:spPr>
          <p:txBody>
            <a:bodyPr/>
            <a:p/>
          </p:txBody>
        </p:sp>
        <p:sp>
          <p:nvSpPr>
            <p:cNvPr id="8" name="Ellipse 8"/>
            <p:cNvSpPr/>
            <p:nvPr/>
          </p:nvSpPr>
          <p:spPr>
            <a:xfrm>
              <a:off x="1304925" y="5781675"/>
              <a:ext cx="247650" cy="247650"/>
            </a:xfrm>
            <a:prstGeom prst="ellipse">
              <a:avLst/>
            </a:prstGeom>
            <a:solidFill>
              <a:schemeClr val="accent1"/>
            </a:solidFill>
            <a:ln>
              <a:noFill/>
            </a:ln>
          </p:spPr>
          <p:txBody>
            <a:bodyPr/>
            <a:p/>
          </p:txBody>
        </p:sp>
        <p:sp>
          <p:nvSpPr>
            <p:cNvPr id="9" name="Ellipse 9"/>
            <p:cNvSpPr/>
            <p:nvPr/>
          </p:nvSpPr>
          <p:spPr>
            <a:xfrm>
              <a:off x="1304925" y="6924675"/>
              <a:ext cx="247650" cy="247650"/>
            </a:xfrm>
            <a:prstGeom prst="ellipse">
              <a:avLst/>
            </a:prstGeom>
            <a:solidFill>
              <a:schemeClr val="accent2"/>
            </a:solidFill>
            <a:ln>
              <a:noFill/>
            </a:ln>
          </p:spPr>
          <p:txBody>
            <a:bodyPr/>
            <a:p/>
          </p:txBody>
        </p:sp>
        <p:sp>
          <p:nvSpPr>
            <p:cNvPr id="10" name="TextBox 10"/>
            <p:cNvSpPr txBox="1"/>
            <p:nvPr/>
          </p:nvSpPr>
          <p:spPr>
            <a:xfrm>
              <a:off x="2032635" y="3394075"/>
              <a:ext cx="15287625"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遮住答案，尝试独立回忆</a:t>
              </a:r>
            </a:p>
          </p:txBody>
        </p:sp>
        <p:sp>
          <p:nvSpPr>
            <p:cNvPr id="11" name="TextBox 11"/>
            <p:cNvSpPr txBox="1"/>
            <p:nvPr/>
          </p:nvSpPr>
          <p:spPr>
            <a:xfrm>
              <a:off x="2032635" y="4537075"/>
              <a:ext cx="15287625"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用一道新题检验</a:t>
              </a:r>
            </a:p>
          </p:txBody>
        </p:sp>
        <p:sp>
          <p:nvSpPr>
            <p:cNvPr id="12" name="TextBox 12"/>
            <p:cNvSpPr txBox="1"/>
            <p:nvPr/>
          </p:nvSpPr>
          <p:spPr>
            <a:xfrm>
              <a:off x="2032635" y="5680075"/>
              <a:ext cx="15287625"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错题按原因归类</a:t>
              </a:r>
            </a:p>
          </p:txBody>
        </p:sp>
        <p:sp>
          <p:nvSpPr>
            <p:cNvPr id="13" name="TextBox 13"/>
            <p:cNvSpPr txBox="1"/>
            <p:nvPr/>
          </p:nvSpPr>
          <p:spPr>
            <a:xfrm>
              <a:off x="2032635" y="6823075"/>
              <a:ext cx="15287625"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隔几天，再测一次</a:t>
              </a:r>
            </a:p>
          </p:txBody>
        </p:sp>
        <p:sp>
          <p:nvSpPr>
            <p:cNvPr id="14" name="TextBox 14"/>
            <p:cNvSpPr txBox="1"/>
            <p:nvPr/>
          </p:nvSpPr>
          <p:spPr>
            <a:xfrm>
              <a:off x="11984736" y="4044950"/>
              <a:ext cx="5334000" cy="1464564"/>
            </a:xfrm>
            <a:prstGeom prst="rect">
              <a:avLst/>
            </a:prstGeom>
            <a:noFill/>
            <a:ln>
              <a:noFill/>
            </a:ln>
          </p:spPr>
          <p:txBody>
            <a:bodyPr wrap="none" lIns="0" tIns="0" rIns="0" bIns="0" anchor="t" anchorCtr="0">
              <a:noAutofit/>
            </a:bodyPr>
            <a:lstStyle/>
            <a:p>
              <a:pPr algn="l">
                <a:lnSpc>
                  <a:spcPts val="6450"/>
                </a:lnSpc>
              </a:pPr>
              <a:r>
                <a:rPr lang="zh-CN" sz="3300" dirty="0">
                  <a:solidFill>
                    <a:schemeClr val="accent1"/>
                  </a:solidFill>
                  <a:latin typeface="+mn-lt"/>
                  <a:ea typeface="+mn-ea"/>
                  <a:cs typeface="+mn-cs"/>
                </a:rPr>
                <a:t>看懂答案</a:t>
              </a:r>
              <a:br>
                <a:rPr lang="zh-CN" sz="3300" dirty="0">
                  <a:solidFill>
                    <a:schemeClr val="accent1"/>
                  </a:solidFill>
                  <a:latin typeface="+mn-lt"/>
                  <a:ea typeface="+mn-ea"/>
                  <a:cs typeface="+mn-cs"/>
                </a:rPr>
              </a:br>
              <a:r>
                <a:rPr lang="zh-CN" sz="3300" dirty="0">
                  <a:solidFill>
                    <a:schemeClr val="accent1"/>
                  </a:solidFill>
                  <a:latin typeface="+mn-lt"/>
                  <a:ea typeface="+mn-ea"/>
                  <a:cs typeface="+mn-cs"/>
                </a:rPr>
                <a:t>≠ 能独立解题</a:t>
              </a:r>
            </a:p>
          </p:txBody>
        </p:sp>
        <p:sp>
          <p:nvSpPr>
            <p:cNvPr id="15" name="TextBox 15"/>
            <p:cNvSpPr txBox="1"/>
            <p:nvPr/>
          </p:nvSpPr>
          <p:spPr>
            <a:xfrm>
              <a:off x="11990832" y="6604000"/>
              <a:ext cx="53340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30 秒示范：合上书，说出来。</a:t>
              </a:r>
            </a:p>
          </p:txBody>
        </p:sp>
      </p:grpSp>
      <p:sp>
        <p:nvSpPr>
          <p:cNvPr id="17"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EEF, 2021 [S07]　｜　效果取决于学科与实施条件，不承诺固定提分。</a:t>
            </a:r>
          </a:p>
        </p:txBody>
      </p:sp>
      <p:sp>
        <p:nvSpPr>
          <p:cNvPr id="18"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练习提取，而不只是再次阅读</a:t>
            </a:r>
          </a:p>
        </p:txBody>
      </p:sp>
      <p:sp>
        <p:nvSpPr>
          <p:cNvPr id="19"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10 / 32　·　4 分钟</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4475988" cy="1384300"/>
            <a:chOff x="895350" y="908050"/>
            <a:chExt cx="4475988"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02　压力与行动　/　选择卡点</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拖延时，先找卡点</a:t>
              </a:r>
            </a:p>
          </p:txBody>
        </p:sp>
      </p:grpSp>
      <p:grpSp>
        <p:nvGrpSpPr>
          <p:cNvPr id="20" name="match"/>
          <p:cNvGrpSpPr/>
          <p:nvPr/>
        </p:nvGrpSpPr>
        <p:grpSpPr>
          <a:xfrm>
            <a:off x="1047750" y="3270250"/>
            <a:ext cx="16097250" cy="4472940"/>
            <a:chOff x="1047750" y="3270250"/>
            <a:chExt cx="16097250" cy="4472940"/>
          </a:xfrm>
        </p:grpSpPr>
        <p:sp>
          <p:nvSpPr>
            <p:cNvPr id="5" name="TextBox 5"/>
            <p:cNvSpPr txBox="1"/>
            <p:nvPr/>
          </p:nvSpPr>
          <p:spPr>
            <a:xfrm>
              <a:off x="1132332" y="3270250"/>
              <a:ext cx="161925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卡在哪里</a:t>
              </a:r>
            </a:p>
          </p:txBody>
        </p:sp>
        <p:sp>
          <p:nvSpPr>
            <p:cNvPr id="6" name="TextBox 6"/>
            <p:cNvSpPr txBox="1"/>
            <p:nvPr/>
          </p:nvSpPr>
          <p:spPr>
            <a:xfrm>
              <a:off x="9419082" y="3270250"/>
              <a:ext cx="79057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匹配一个小行动</a:t>
              </a:r>
            </a:p>
          </p:txBody>
        </p:sp>
        <p:sp>
          <p:nvSpPr>
            <p:cNvPr id="7" name="Line 7"/>
            <p:cNvSpPr/>
            <p:nvPr/>
          </p:nvSpPr>
          <p:spPr>
            <a:xfrm>
              <a:off x="1047750" y="3905250"/>
              <a:ext cx="16097250" cy="9525"/>
            </a:xfrm>
            <a:custGeom>
              <a:avLst/>
              <a:gdLst/>
              <a:ahLst/>
              <a:cxnLst/>
              <a:rect l="l" t="t" r="r" b="b"/>
              <a:pathLst>
                <a:path w="16097250" h="9525">
                  <a:moveTo>
                    <a:pt x="0" y="0"/>
                  </a:moveTo>
                  <a:lnTo>
                    <a:pt x="16097250" y="0"/>
                  </a:lnTo>
                </a:path>
              </a:pathLst>
            </a:custGeom>
            <a:noFill/>
            <a:ln w="19050">
              <a:solidFill>
                <a:schemeClr val="accent6"/>
              </a:solidFill>
            </a:ln>
          </p:spPr>
          <p:txBody>
            <a:bodyPr/>
            <a:p/>
          </p:txBody>
        </p:sp>
        <p:sp>
          <p:nvSpPr>
            <p:cNvPr id="8" name="TextBox 8"/>
            <p:cNvSpPr txBox="1"/>
            <p:nvPr/>
          </p:nvSpPr>
          <p:spPr>
            <a:xfrm>
              <a:off x="1127760" y="4298950"/>
              <a:ext cx="16192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看不懂</a:t>
              </a:r>
            </a:p>
          </p:txBody>
        </p:sp>
        <p:sp>
          <p:nvSpPr>
            <p:cNvPr id="9" name="TextBox 9"/>
            <p:cNvSpPr txBox="1"/>
            <p:nvPr/>
          </p:nvSpPr>
          <p:spPr>
            <a:xfrm>
              <a:off x="1127760" y="5251450"/>
              <a:ext cx="16192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任务过大</a:t>
              </a:r>
            </a:p>
          </p:txBody>
        </p:sp>
        <p:sp>
          <p:nvSpPr>
            <p:cNvPr id="10" name="TextBox 10"/>
            <p:cNvSpPr txBox="1"/>
            <p:nvPr/>
          </p:nvSpPr>
          <p:spPr>
            <a:xfrm>
              <a:off x="1127760" y="6203950"/>
              <a:ext cx="16192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怕做错</a:t>
              </a:r>
            </a:p>
          </p:txBody>
        </p:sp>
        <p:sp>
          <p:nvSpPr>
            <p:cNvPr id="11" name="TextBox 11"/>
            <p:cNvSpPr txBox="1"/>
            <p:nvPr/>
          </p:nvSpPr>
          <p:spPr>
            <a:xfrm>
              <a:off x="1127760" y="7156450"/>
              <a:ext cx="16192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太疲惫</a:t>
              </a:r>
            </a:p>
          </p:txBody>
        </p:sp>
        <p:sp>
          <p:nvSpPr>
            <p:cNvPr id="12" name="TextBox 12"/>
            <p:cNvSpPr txBox="1"/>
            <p:nvPr/>
          </p:nvSpPr>
          <p:spPr>
            <a:xfrm>
              <a:off x="9414510" y="4298950"/>
              <a:ext cx="79057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问一个问题</a:t>
              </a:r>
            </a:p>
          </p:txBody>
        </p:sp>
        <p:sp>
          <p:nvSpPr>
            <p:cNvPr id="13" name="TextBox 13"/>
            <p:cNvSpPr txBox="1"/>
            <p:nvPr/>
          </p:nvSpPr>
          <p:spPr>
            <a:xfrm>
              <a:off x="9414510" y="5251450"/>
              <a:ext cx="79057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只做第一小题</a:t>
              </a:r>
            </a:p>
          </p:txBody>
        </p:sp>
        <p:sp>
          <p:nvSpPr>
            <p:cNvPr id="14" name="TextBox 14"/>
            <p:cNvSpPr txBox="1"/>
            <p:nvPr/>
          </p:nvSpPr>
          <p:spPr>
            <a:xfrm>
              <a:off x="9414510" y="6203950"/>
              <a:ext cx="79057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先交粗稿</a:t>
              </a:r>
            </a:p>
          </p:txBody>
        </p:sp>
        <p:sp>
          <p:nvSpPr>
            <p:cNvPr id="15" name="TextBox 15"/>
            <p:cNvSpPr txBox="1"/>
            <p:nvPr/>
          </p:nvSpPr>
          <p:spPr>
            <a:xfrm>
              <a:off x="9414510" y="7156450"/>
              <a:ext cx="79057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先恢复基本状态</a:t>
              </a:r>
            </a:p>
          </p:txBody>
        </p:sp>
        <p:sp>
          <p:nvSpPr>
            <p:cNvPr id="16" name="Line 16"/>
            <p:cNvSpPr/>
            <p:nvPr/>
          </p:nvSpPr>
          <p:spPr>
            <a:xfrm>
              <a:off x="4857750" y="4543425"/>
              <a:ext cx="3429000" cy="9525"/>
            </a:xfrm>
            <a:custGeom>
              <a:avLst/>
              <a:gdLst/>
              <a:ahLst/>
              <a:cxnLst/>
              <a:rect l="l" t="t" r="r" b="b"/>
              <a:pathLst>
                <a:path w="3429000" h="9525">
                  <a:moveTo>
                    <a:pt x="0" y="0"/>
                  </a:moveTo>
                  <a:lnTo>
                    <a:pt x="3429000" y="0"/>
                  </a:lnTo>
                </a:path>
              </a:pathLst>
            </a:custGeom>
            <a:noFill/>
            <a:ln w="28575">
              <a:solidFill>
                <a:schemeClr val="accent2"/>
              </a:solidFill>
            </a:ln>
          </p:spPr>
          <p:txBody>
            <a:bodyPr/>
            <a:p/>
          </p:txBody>
        </p:sp>
        <p:sp>
          <p:nvSpPr>
            <p:cNvPr id="17" name="Line 17"/>
            <p:cNvSpPr/>
            <p:nvPr/>
          </p:nvSpPr>
          <p:spPr>
            <a:xfrm>
              <a:off x="4857750" y="5495925"/>
              <a:ext cx="3429000" cy="9525"/>
            </a:xfrm>
            <a:custGeom>
              <a:avLst/>
              <a:gdLst/>
              <a:ahLst/>
              <a:cxnLst/>
              <a:rect l="l" t="t" r="r" b="b"/>
              <a:pathLst>
                <a:path w="3429000" h="9525">
                  <a:moveTo>
                    <a:pt x="0" y="0"/>
                  </a:moveTo>
                  <a:lnTo>
                    <a:pt x="3429000" y="0"/>
                  </a:lnTo>
                </a:path>
              </a:pathLst>
            </a:custGeom>
            <a:noFill/>
            <a:ln w="28575">
              <a:solidFill>
                <a:schemeClr val="accent2"/>
              </a:solidFill>
            </a:ln>
          </p:spPr>
          <p:txBody>
            <a:bodyPr/>
            <a:p/>
          </p:txBody>
        </p:sp>
        <p:sp>
          <p:nvSpPr>
            <p:cNvPr id="18" name="Line 18"/>
            <p:cNvSpPr/>
            <p:nvPr/>
          </p:nvSpPr>
          <p:spPr>
            <a:xfrm>
              <a:off x="4857750" y="6448425"/>
              <a:ext cx="3429000" cy="9525"/>
            </a:xfrm>
            <a:custGeom>
              <a:avLst/>
              <a:gdLst/>
              <a:ahLst/>
              <a:cxnLst/>
              <a:rect l="l" t="t" r="r" b="b"/>
              <a:pathLst>
                <a:path w="3429000" h="9525">
                  <a:moveTo>
                    <a:pt x="0" y="0"/>
                  </a:moveTo>
                  <a:lnTo>
                    <a:pt x="3429000" y="0"/>
                  </a:lnTo>
                </a:path>
              </a:pathLst>
            </a:custGeom>
            <a:noFill/>
            <a:ln w="28575">
              <a:solidFill>
                <a:schemeClr val="accent2"/>
              </a:solidFill>
            </a:ln>
          </p:spPr>
          <p:txBody>
            <a:bodyPr/>
            <a:p/>
          </p:txBody>
        </p:sp>
        <p:sp>
          <p:nvSpPr>
            <p:cNvPr id="19" name="Line 19"/>
            <p:cNvSpPr/>
            <p:nvPr/>
          </p:nvSpPr>
          <p:spPr>
            <a:xfrm>
              <a:off x="4857750" y="7400925"/>
              <a:ext cx="3429000" cy="9525"/>
            </a:xfrm>
            <a:custGeom>
              <a:avLst/>
              <a:gdLst/>
              <a:ahLst/>
              <a:cxnLst/>
              <a:rect l="l" t="t" r="r" b="b"/>
              <a:pathLst>
                <a:path w="3429000" h="9525">
                  <a:moveTo>
                    <a:pt x="0" y="0"/>
                  </a:moveTo>
                  <a:lnTo>
                    <a:pt x="3429000" y="0"/>
                  </a:lnTo>
                </a:path>
              </a:pathLst>
            </a:custGeom>
            <a:noFill/>
            <a:ln w="28575">
              <a:solidFill>
                <a:schemeClr val="accent2"/>
              </a:solidFill>
            </a:ln>
          </p:spPr>
          <p:txBody>
            <a:bodyPr/>
            <a:p/>
          </p:txBody>
        </p:sp>
      </p:grpSp>
      <p:sp>
        <p:nvSpPr>
          <p:cNvPr id="21"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互动 · 选一个常见卡点，写下一步。个人答案不展示。</a:t>
            </a:r>
          </a:p>
        </p:txBody>
      </p:sp>
      <p:sp>
        <p:nvSpPr>
          <p:cNvPr id="22"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11 / 32　·　3 分钟</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5585460" cy="1384300"/>
            <a:chOff x="895350" y="908050"/>
            <a:chExt cx="5585460"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02　压力与行动　/　恢复基本状态</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睡眠不能无限借给成绩</a:t>
              </a:r>
            </a:p>
          </p:txBody>
        </p:sp>
      </p:grpSp>
      <p:grpSp>
        <p:nvGrpSpPr>
          <p:cNvPr id="9" name="sleep-range"/>
          <p:cNvGrpSpPr/>
          <p:nvPr/>
        </p:nvGrpSpPr>
        <p:grpSpPr>
          <a:xfrm>
            <a:off x="933450" y="3575050"/>
            <a:ext cx="4978527" cy="4296918"/>
            <a:chOff x="933450" y="3575050"/>
            <a:chExt cx="4978527" cy="4296918"/>
          </a:xfrm>
        </p:grpSpPr>
        <p:sp>
          <p:nvSpPr>
            <p:cNvPr id="5" name="TextBox 5"/>
            <p:cNvSpPr txBox="1"/>
            <p:nvPr/>
          </p:nvSpPr>
          <p:spPr>
            <a:xfrm>
              <a:off x="1037082" y="3575050"/>
              <a:ext cx="73533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13–18 岁 · 每 24 小时通常建议</a:t>
              </a:r>
            </a:p>
          </p:txBody>
        </p:sp>
        <p:sp>
          <p:nvSpPr>
            <p:cNvPr id="6" name="TextBox 6"/>
            <p:cNvSpPr txBox="1"/>
            <p:nvPr/>
          </p:nvSpPr>
          <p:spPr>
            <a:xfrm>
              <a:off x="933450" y="3975100"/>
              <a:ext cx="7448550" cy="2990850"/>
            </a:xfrm>
            <a:prstGeom prst="rect">
              <a:avLst/>
            </a:prstGeom>
            <a:noFill/>
            <a:ln>
              <a:noFill/>
            </a:ln>
          </p:spPr>
          <p:txBody>
            <a:bodyPr wrap="none" lIns="0" tIns="0" rIns="0" bIns="0" anchor="t" anchorCtr="0">
              <a:noAutofit/>
            </a:bodyPr>
            <a:lstStyle/>
            <a:p>
              <a:pPr algn="l"/>
              <a:r>
                <a:rPr lang="zh-CN" sz="15600" dirty="0">
                  <a:solidFill>
                    <a:schemeClr val="accent1"/>
                  </a:solidFill>
                  <a:latin typeface="+mn-lt"/>
                  <a:ea typeface="+mn-ea"/>
                  <a:cs typeface="+mn-cs"/>
                </a:rPr>
                <a:t>8–10</a:t>
              </a:r>
            </a:p>
          </p:txBody>
        </p:sp>
        <p:sp>
          <p:nvSpPr>
            <p:cNvPr id="7" name="TextBox 7"/>
            <p:cNvSpPr txBox="1"/>
            <p:nvPr/>
          </p:nvSpPr>
          <p:spPr>
            <a:xfrm>
              <a:off x="1078611" y="6642100"/>
              <a:ext cx="7305675" cy="645414"/>
            </a:xfrm>
            <a:prstGeom prst="rect">
              <a:avLst/>
            </a:prstGeom>
            <a:noFill/>
            <a:ln>
              <a:noFill/>
            </a:ln>
          </p:spPr>
          <p:txBody>
            <a:bodyPr wrap="none" lIns="0" tIns="0" rIns="0" bIns="0" anchor="t" anchorCtr="0">
              <a:noAutofit/>
            </a:bodyPr>
            <a:lstStyle/>
            <a:p>
              <a:pPr algn="l"/>
              <a:r>
                <a:rPr lang="zh-CN" sz="3300" dirty="0">
                  <a:solidFill>
                    <a:schemeClr val="dk1"/>
                  </a:solidFill>
                  <a:latin typeface="+mn-lt"/>
                  <a:ea typeface="+mn-ea"/>
                  <a:cs typeface="+mn-cs"/>
                </a:rPr>
                <a:t>小时睡眠</a:t>
              </a:r>
            </a:p>
          </p:txBody>
        </p:sp>
        <p:sp>
          <p:nvSpPr>
            <p:cNvPr id="8" name="TextBox 8"/>
            <p:cNvSpPr txBox="1"/>
            <p:nvPr/>
          </p:nvSpPr>
          <p:spPr>
            <a:xfrm>
              <a:off x="1084707" y="7461250"/>
              <a:ext cx="7305675"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作息条件，需要学校与家庭一起支持。</a:t>
              </a:r>
            </a:p>
          </p:txBody>
        </p:sp>
      </p:grpSp>
      <p:grpSp>
        <p:nvGrpSpPr>
          <p:cNvPr id="11" name="sleep-actions"/>
          <p:cNvGrpSpPr/>
          <p:nvPr/>
        </p:nvGrpSpPr>
        <p:grpSpPr>
          <a:xfrm>
            <a:off x="9987534" y="3321050"/>
            <a:ext cx="5513832" cy="3156966"/>
            <a:chOff x="9987534" y="3321050"/>
            <a:chExt cx="5513832" cy="3156966"/>
          </a:xfrm>
        </p:grpSpPr>
        <p:sp>
          <p:nvSpPr>
            <p:cNvPr id="10" name="TextBox 10"/>
            <p:cNvSpPr txBox="1"/>
            <p:nvPr/>
          </p:nvSpPr>
          <p:spPr>
            <a:xfrm>
              <a:off x="9987534" y="3321050"/>
              <a:ext cx="7200900" cy="3156966"/>
            </a:xfrm>
            <a:prstGeom prst="rect">
              <a:avLst/>
            </a:prstGeom>
            <a:noFill/>
            <a:ln>
              <a:noFill/>
            </a:ln>
          </p:spPr>
          <p:txBody>
            <a:bodyPr wrap="none" lIns="0" tIns="0" rIns="0" bIns="0" anchor="t" anchorCtr="0">
              <a:noAutofit/>
            </a:bodyPr>
            <a:lstStyle/>
            <a:p>
              <a:pPr algn="l">
                <a:lnSpc>
                  <a:spcPts val="6900"/>
                </a:lnSpc>
              </a:pPr>
              <a:r>
                <a:rPr lang="zh-CN" sz="2700" dirty="0">
                  <a:solidFill>
                    <a:schemeClr val="dk1"/>
                  </a:solidFill>
                  <a:latin typeface="+mn-lt"/>
                  <a:ea typeface="+mn-ea"/>
                  <a:cs typeface="+mn-cs"/>
                </a:rPr>
                <a:t>固定起床时间；</a:t>
              </a:r>
              <a:br>
                <a:rPr lang="zh-CN" sz="2700" dirty="0">
                  <a:solidFill>
                    <a:schemeClr val="dk1"/>
                  </a:solidFill>
                  <a:latin typeface="+mn-lt"/>
                  <a:ea typeface="+mn-ea"/>
                  <a:cs typeface="+mn-cs"/>
                </a:rPr>
              </a:br>
              <a:r>
                <a:rPr lang="zh-CN" sz="2700" dirty="0">
                  <a:solidFill>
                    <a:schemeClr val="dk1"/>
                  </a:solidFill>
                  <a:latin typeface="+mn-lt"/>
                  <a:ea typeface="+mn-ea"/>
                  <a:cs typeface="+mn-cs"/>
                </a:rPr>
                <a:t>睡前减少高刺激内容；</a:t>
              </a:r>
              <a:br>
                <a:rPr lang="zh-CN" sz="2700" dirty="0">
                  <a:solidFill>
                    <a:schemeClr val="dk1"/>
                  </a:solidFill>
                  <a:latin typeface="+mn-lt"/>
                  <a:ea typeface="+mn-ea"/>
                  <a:cs typeface="+mn-cs"/>
                </a:rPr>
              </a:br>
              <a:r>
                <a:rPr lang="zh-CN" sz="2700" dirty="0">
                  <a:solidFill>
                    <a:schemeClr val="dk1"/>
                  </a:solidFill>
                  <a:latin typeface="+mn-lt"/>
                  <a:ea typeface="+mn-ea"/>
                  <a:cs typeface="+mn-cs"/>
                </a:rPr>
                <a:t>晚间留意咖啡因；</a:t>
              </a:r>
              <a:br>
                <a:rPr lang="zh-CN" sz="2700" dirty="0">
                  <a:solidFill>
                    <a:schemeClr val="dk1"/>
                  </a:solidFill>
                  <a:latin typeface="+mn-lt"/>
                  <a:ea typeface="+mn-ea"/>
                  <a:cs typeface="+mn-cs"/>
                </a:rPr>
              </a:br>
              <a:r>
                <a:rPr lang="zh-CN" sz="2700" dirty="0">
                  <a:solidFill>
                    <a:schemeClr val="dk1"/>
                  </a:solidFill>
                  <a:latin typeface="+mn-lt"/>
                  <a:ea typeface="+mn-ea"/>
                  <a:cs typeface="+mn-cs"/>
                </a:rPr>
                <a:t>长期睡不好，告诉成人或专业人员。</a:t>
              </a:r>
            </a:p>
          </p:txBody>
        </p:sp>
      </p:grpSp>
      <p:sp>
        <p:nvSpPr>
          <p:cNvPr id="12"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CDC / AASM [S05]　｜　建议不是道德要求；睡眠不足不能用于自行诊断。</a:t>
            </a:r>
          </a:p>
        </p:txBody>
      </p:sp>
      <p:sp>
        <p:nvSpPr>
          <p:cNvPr id="13"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提问 · 哪些睡眠条件需要大人一起改变？</a:t>
            </a:r>
          </a:p>
        </p:txBody>
      </p:sp>
      <p:sp>
        <p:nvSpPr>
          <p:cNvPr id="14"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12 / 32　·　4 分钟</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5634495" cy="1371600"/>
            <a:chOff x="895350" y="908050"/>
            <a:chExt cx="5634495" cy="13716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中场休息</a:t>
              </a:r>
            </a:p>
          </p:txBody>
        </p:sp>
        <p:sp>
          <p:nvSpPr>
            <p:cNvPr id="3" name="TextBox 3"/>
            <p:cNvSpPr txBox="1"/>
            <p:nvPr/>
          </p:nvSpPr>
          <p:spPr>
            <a:xfrm>
              <a:off x="895350" y="15176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先停一下，休息 5 分钟</a:t>
              </a:r>
            </a:p>
          </p:txBody>
        </p:sp>
      </p:grpSp>
      <p:grpSp>
        <p:nvGrpSpPr>
          <p:cNvPr id="8" name="rest"/>
          <p:cNvGrpSpPr/>
          <p:nvPr/>
        </p:nvGrpSpPr>
        <p:grpSpPr>
          <a:xfrm>
            <a:off x="933450" y="3689350"/>
            <a:ext cx="13241274" cy="2991866"/>
            <a:chOff x="933450" y="3689350"/>
            <a:chExt cx="13241274" cy="2991866"/>
          </a:xfrm>
        </p:grpSpPr>
        <p:sp>
          <p:nvSpPr>
            <p:cNvPr id="5" name="TextBox 5"/>
            <p:cNvSpPr txBox="1"/>
            <p:nvPr/>
          </p:nvSpPr>
          <p:spPr>
            <a:xfrm>
              <a:off x="933450" y="3689350"/>
              <a:ext cx="16383000" cy="2990850"/>
            </a:xfrm>
            <a:prstGeom prst="rect">
              <a:avLst/>
            </a:prstGeom>
            <a:noFill/>
            <a:ln>
              <a:noFill/>
            </a:ln>
          </p:spPr>
          <p:txBody>
            <a:bodyPr wrap="none" lIns="0" tIns="0" rIns="0" bIns="0" anchor="t" anchorCtr="0">
              <a:noAutofit/>
            </a:bodyPr>
            <a:lstStyle/>
            <a:p>
              <a:pPr algn="l"/>
              <a:r>
                <a:rPr lang="zh-CN" sz="15600" dirty="0">
                  <a:solidFill>
                    <a:schemeClr val="accent1"/>
                  </a:solidFill>
                  <a:latin typeface="+mn-lt"/>
                  <a:ea typeface="+mn-ea"/>
                  <a:cs typeface="+mn-cs"/>
                </a:rPr>
                <a:t>5</a:t>
              </a:r>
              <a:r>
                <a:rPr lang="zh-CN" sz="3300" dirty="0">
                  <a:solidFill>
                    <a:schemeClr val="accent1"/>
                  </a:solidFill>
                  <a:latin typeface="+mn-lt"/>
                  <a:ea typeface="+mn-ea"/>
                  <a:cs typeface="+mn-cs"/>
                </a:rPr>
                <a:t xml:space="preserve"> 分钟</a:t>
              </a:r>
            </a:p>
          </p:txBody>
        </p:sp>
        <p:sp>
          <p:nvSpPr>
            <p:cNvPr id="6" name="TextBox 6"/>
            <p:cNvSpPr txBox="1"/>
            <p:nvPr/>
          </p:nvSpPr>
          <p:spPr>
            <a:xfrm>
              <a:off x="9698736" y="4070350"/>
              <a:ext cx="7620000" cy="645414"/>
            </a:xfrm>
            <a:prstGeom prst="rect">
              <a:avLst/>
            </a:prstGeom>
            <a:noFill/>
            <a:ln>
              <a:noFill/>
            </a:ln>
          </p:spPr>
          <p:txBody>
            <a:bodyPr wrap="none" lIns="0" tIns="0" rIns="0" bIns="0" anchor="t" anchorCtr="0">
              <a:noAutofit/>
            </a:bodyPr>
            <a:lstStyle/>
            <a:p>
              <a:pPr algn="l"/>
              <a:r>
                <a:rPr lang="zh-CN" sz="3300" dirty="0">
                  <a:solidFill>
                    <a:schemeClr val="dk1"/>
                  </a:solidFill>
                  <a:latin typeface="+mn-lt"/>
                  <a:ea typeface="+mn-ea"/>
                  <a:cs typeface="+mn-cs"/>
                </a:rPr>
                <a:t>起身、喝水、看远处。</a:t>
              </a:r>
            </a:p>
          </p:txBody>
        </p:sp>
        <p:sp>
          <p:nvSpPr>
            <p:cNvPr id="7" name="TextBox 7"/>
            <p:cNvSpPr txBox="1"/>
            <p:nvPr/>
          </p:nvSpPr>
          <p:spPr>
            <a:xfrm>
              <a:off x="9701784" y="5543550"/>
              <a:ext cx="7620000" cy="1137666"/>
            </a:xfrm>
            <a:prstGeom prst="rect">
              <a:avLst/>
            </a:prstGeom>
            <a:noFill/>
            <a:ln>
              <a:noFill/>
            </a:ln>
          </p:spPr>
          <p:txBody>
            <a:bodyPr wrap="none" lIns="0" tIns="0" rIns="0" bIns="0" anchor="t" anchorCtr="0">
              <a:noAutofit/>
            </a:bodyPr>
            <a:lstStyle/>
            <a:p>
              <a:pPr algn="l">
                <a:lnSpc>
                  <a:spcPts val="4800"/>
                </a:lnSpc>
              </a:pPr>
              <a:r>
                <a:rPr lang="zh-CN" sz="2700" dirty="0">
                  <a:solidFill>
                    <a:schemeClr val="dk1"/>
                  </a:solidFill>
                  <a:latin typeface="+mn-lt"/>
                  <a:ea typeface="+mn-ea"/>
                  <a:cs typeface="+mn-cs"/>
                </a:rPr>
                <a:t>身体练习自愿。</a:t>
              </a:r>
              <a:br>
                <a:rPr lang="zh-CN" sz="2700" dirty="0">
                  <a:solidFill>
                    <a:schemeClr val="dk1"/>
                  </a:solidFill>
                  <a:latin typeface="+mn-lt"/>
                  <a:ea typeface="+mn-ea"/>
                  <a:cs typeface="+mn-cs"/>
                </a:rPr>
              </a:br>
              <a:r>
                <a:rPr lang="zh-CN" sz="2700" dirty="0">
                  <a:solidFill>
                    <a:schemeClr val="dk1"/>
                  </a:solidFill>
                  <a:latin typeface="+mn-lt"/>
                  <a:ea typeface="+mn-ea"/>
                  <a:cs typeface="+mn-cs"/>
                </a:rPr>
                <a:t>不需要闭眼。</a:t>
              </a:r>
            </a:p>
          </p:txBody>
        </p:sp>
      </p:grpSp>
      <p:grpSp>
        <p:nvGrpSpPr>
          <p:cNvPr id="12" name="rest-route"/>
          <p:cNvGrpSpPr/>
          <p:nvPr/>
        </p:nvGrpSpPr>
        <p:grpSpPr>
          <a:xfrm>
            <a:off x="1047750" y="7905750"/>
            <a:ext cx="16097250" cy="285750"/>
            <a:chOff x="1047750" y="7905750"/>
            <a:chExt cx="16097250" cy="285750"/>
          </a:xfrm>
        </p:grpSpPr>
        <p:sp>
          <p:nvSpPr>
            <p:cNvPr id="9" name="Line 9"/>
            <p:cNvSpPr/>
            <p:nvPr/>
          </p:nvSpPr>
          <p:spPr>
            <a:xfrm>
              <a:off x="1047750" y="8048625"/>
              <a:ext cx="7048500" cy="9525"/>
            </a:xfrm>
            <a:custGeom>
              <a:avLst/>
              <a:gdLst/>
              <a:ahLst/>
              <a:cxnLst/>
              <a:rect l="l" t="t" r="r" b="b"/>
              <a:pathLst>
                <a:path w="7048500" h="9525">
                  <a:moveTo>
                    <a:pt x="0" y="0"/>
                  </a:moveTo>
                  <a:lnTo>
                    <a:pt x="7048500" y="0"/>
                  </a:lnTo>
                </a:path>
              </a:pathLst>
            </a:custGeom>
            <a:noFill/>
            <a:ln w="38100">
              <a:solidFill>
                <a:schemeClr val="accent1"/>
              </a:solidFill>
            </a:ln>
          </p:spPr>
          <p:txBody>
            <a:bodyPr/>
            <a:p/>
          </p:txBody>
        </p:sp>
        <p:sp>
          <p:nvSpPr>
            <p:cNvPr id="10" name="Ellipse 10"/>
            <p:cNvSpPr/>
            <p:nvPr/>
          </p:nvSpPr>
          <p:spPr>
            <a:xfrm>
              <a:off x="7953375" y="7905750"/>
              <a:ext cx="285750" cy="285750"/>
            </a:xfrm>
            <a:prstGeom prst="ellipse">
              <a:avLst/>
            </a:prstGeom>
            <a:solidFill>
              <a:schemeClr val="lt1"/>
            </a:solidFill>
            <a:ln w="38100">
              <a:solidFill>
                <a:schemeClr val="accent1"/>
              </a:solidFill>
            </a:ln>
          </p:spPr>
          <p:txBody>
            <a:bodyPr/>
            <a:p/>
          </p:txBody>
        </p:sp>
        <p:sp>
          <p:nvSpPr>
            <p:cNvPr id="11" name="Line 11"/>
            <p:cNvSpPr/>
            <p:nvPr/>
          </p:nvSpPr>
          <p:spPr>
            <a:xfrm>
              <a:off x="8572500" y="8048625"/>
              <a:ext cx="8572500" cy="9525"/>
            </a:xfrm>
            <a:custGeom>
              <a:avLst/>
              <a:gdLst/>
              <a:ahLst/>
              <a:cxnLst/>
              <a:rect l="l" t="t" r="r" b="b"/>
              <a:pathLst>
                <a:path w="8572500" h="9525">
                  <a:moveTo>
                    <a:pt x="0" y="0"/>
                  </a:moveTo>
                  <a:lnTo>
                    <a:pt x="8572500" y="0"/>
                  </a:lnTo>
                </a:path>
              </a:pathLst>
            </a:custGeom>
            <a:noFill/>
            <a:ln w="38100">
              <a:solidFill>
                <a:schemeClr val="accent2"/>
              </a:solidFill>
              <a:prstDash val="lgDash"/>
            </a:ln>
          </p:spPr>
          <p:txBody>
            <a:bodyPr/>
            <a:p/>
          </p:txBody>
        </p:sp>
      </p:grpSp>
      <p:sp>
        <p:nvSpPr>
          <p:cNvPr id="13"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回来后：信息流、群聊与关系</a:t>
            </a:r>
          </a:p>
        </p:txBody>
      </p:sp>
      <p:sp>
        <p:nvSpPr>
          <p:cNvPr id="14"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13 / 32　·　5 分钟</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7249668" cy="1384300"/>
            <a:chOff x="895350" y="908050"/>
            <a:chExt cx="7249668"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03　数字生活与关系　/　设计与环境</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手机为什么总能把注意力拉走</a:t>
              </a:r>
            </a:p>
          </p:txBody>
        </p:sp>
      </p:grpSp>
      <p:grpSp>
        <p:nvGrpSpPr>
          <p:cNvPr id="13" name="phone"/>
          <p:cNvGrpSpPr/>
          <p:nvPr/>
        </p:nvGrpSpPr>
        <p:grpSpPr>
          <a:xfrm>
            <a:off x="1905000" y="2857500"/>
            <a:ext cx="5143500" cy="5381625"/>
            <a:chOff x="1905000" y="2857500"/>
            <a:chExt cx="5143500" cy="5381625"/>
          </a:xfrm>
        </p:grpSpPr>
        <p:sp>
          <p:nvSpPr>
            <p:cNvPr id="5" name="Rectangle 5"/>
            <p:cNvSpPr/>
            <p:nvPr/>
          </p:nvSpPr>
          <p:spPr>
            <a:xfrm>
              <a:off x="1905000" y="2857500"/>
              <a:ext cx="5143500" cy="5381625"/>
            </a:xfrm>
            <a:prstGeom prst="roundRect">
              <a:avLst>
                <a:gd name="adj" fmla="val 4444"/>
              </a:avLst>
            </a:prstGeom>
            <a:solidFill>
              <a:schemeClr val="lt2"/>
            </a:solidFill>
            <a:ln>
              <a:noFill/>
            </a:ln>
          </p:spPr>
          <p:txBody>
            <a:bodyPr/>
            <a:p/>
          </p:txBody>
        </p:sp>
        <p:sp>
          <p:nvSpPr>
            <p:cNvPr id="6" name="Rectangle 6"/>
            <p:cNvSpPr/>
            <p:nvPr/>
          </p:nvSpPr>
          <p:spPr>
            <a:xfrm>
              <a:off x="2190750" y="3143250"/>
              <a:ext cx="4572000" cy="876300"/>
            </a:xfrm>
            <a:prstGeom prst="roundRect">
              <a:avLst>
                <a:gd name="adj" fmla="val 26087"/>
              </a:avLst>
            </a:prstGeom>
            <a:solidFill>
              <a:schemeClr val="lt1"/>
            </a:solidFill>
            <a:ln>
              <a:noFill/>
            </a:ln>
          </p:spPr>
          <p:txBody>
            <a:bodyPr/>
            <a:p/>
          </p:txBody>
        </p:sp>
        <p:sp>
          <p:nvSpPr>
            <p:cNvPr id="7" name="Ellipse 7"/>
            <p:cNvSpPr/>
            <p:nvPr/>
          </p:nvSpPr>
          <p:spPr>
            <a:xfrm>
              <a:off x="2457450" y="3467100"/>
              <a:ext cx="228600" cy="228600"/>
            </a:xfrm>
            <a:prstGeom prst="ellipse">
              <a:avLst/>
            </a:prstGeom>
            <a:solidFill>
              <a:schemeClr val="accent2"/>
            </a:solidFill>
            <a:ln>
              <a:noFill/>
            </a:ln>
          </p:spPr>
          <p:txBody>
            <a:bodyPr/>
            <a:p/>
          </p:txBody>
        </p:sp>
        <p:sp>
          <p:nvSpPr>
            <p:cNvPr id="8" name="TextBox 8"/>
            <p:cNvSpPr txBox="1"/>
            <p:nvPr/>
          </p:nvSpPr>
          <p:spPr>
            <a:xfrm>
              <a:off x="2939034" y="3365500"/>
              <a:ext cx="462915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新的通知</a:t>
              </a:r>
            </a:p>
          </p:txBody>
        </p:sp>
        <p:sp>
          <p:nvSpPr>
            <p:cNvPr id="9" name="Rectangle 9"/>
            <p:cNvSpPr/>
            <p:nvPr/>
          </p:nvSpPr>
          <p:spPr>
            <a:xfrm>
              <a:off x="2190750" y="4314825"/>
              <a:ext cx="4572000" cy="1714500"/>
            </a:xfrm>
            <a:prstGeom prst="roundRect">
              <a:avLst>
                <a:gd name="adj" fmla="val 13333"/>
              </a:avLst>
            </a:prstGeom>
            <a:solidFill>
              <a:schemeClr val="accent3"/>
            </a:solidFill>
            <a:ln>
              <a:noFill/>
            </a:ln>
          </p:spPr>
          <p:txBody>
            <a:bodyPr/>
            <a:p/>
          </p:txBody>
        </p:sp>
        <p:sp>
          <p:nvSpPr>
            <p:cNvPr id="10" name="TextBox 10"/>
            <p:cNvSpPr txBox="1"/>
            <p:nvPr/>
          </p:nvSpPr>
          <p:spPr>
            <a:xfrm>
              <a:off x="2604135" y="4889500"/>
              <a:ext cx="4962525"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自动播放</a:t>
              </a:r>
            </a:p>
          </p:txBody>
        </p:sp>
        <p:sp>
          <p:nvSpPr>
            <p:cNvPr id="11" name="TextBox 11"/>
            <p:cNvSpPr txBox="1"/>
            <p:nvPr/>
          </p:nvSpPr>
          <p:spPr>
            <a:xfrm>
              <a:off x="2558034" y="6480175"/>
              <a:ext cx="501015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无尽下滑</a:t>
              </a:r>
            </a:p>
          </p:txBody>
        </p:sp>
        <p:sp>
          <p:nvSpPr>
            <p:cNvPr id="12" name="TextBox 12"/>
            <p:cNvSpPr txBox="1"/>
            <p:nvPr/>
          </p:nvSpPr>
          <p:spPr>
            <a:xfrm>
              <a:off x="2558034" y="7289800"/>
              <a:ext cx="501015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即时反馈</a:t>
              </a:r>
            </a:p>
          </p:txBody>
        </p:sp>
      </p:grpSp>
      <p:grpSp>
        <p:nvGrpSpPr>
          <p:cNvPr id="16" name="environment"/>
          <p:cNvGrpSpPr/>
          <p:nvPr/>
        </p:nvGrpSpPr>
        <p:grpSpPr>
          <a:xfrm>
            <a:off x="9414510" y="3413125"/>
            <a:ext cx="2697480" cy="3803015"/>
            <a:chOff x="9414510" y="3413125"/>
            <a:chExt cx="2697480" cy="3803015"/>
          </a:xfrm>
        </p:grpSpPr>
        <p:sp>
          <p:nvSpPr>
            <p:cNvPr id="14" name="TextBox 14"/>
            <p:cNvSpPr txBox="1"/>
            <p:nvPr/>
          </p:nvSpPr>
          <p:spPr>
            <a:xfrm>
              <a:off x="9419082" y="3413125"/>
              <a:ext cx="76771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你能改的环境</a:t>
              </a:r>
            </a:p>
          </p:txBody>
        </p:sp>
        <p:sp>
          <p:nvSpPr>
            <p:cNvPr id="15" name="TextBox 15"/>
            <p:cNvSpPr txBox="1"/>
            <p:nvPr/>
          </p:nvSpPr>
          <p:spPr>
            <a:xfrm>
              <a:off x="9414510" y="3886200"/>
              <a:ext cx="7677150" cy="3329940"/>
            </a:xfrm>
            <a:prstGeom prst="rect">
              <a:avLst/>
            </a:prstGeom>
            <a:noFill/>
            <a:ln>
              <a:noFill/>
            </a:ln>
          </p:spPr>
          <p:txBody>
            <a:bodyPr wrap="none" lIns="0" tIns="0" rIns="0" bIns="0" anchor="t" anchorCtr="0">
              <a:noAutofit/>
            </a:bodyPr>
            <a:lstStyle/>
            <a:p>
              <a:pPr algn="l">
                <a:lnSpc>
                  <a:spcPts val="7200"/>
                </a:lnSpc>
              </a:pPr>
              <a:r>
                <a:rPr lang="zh-CN" sz="3000" dirty="0">
                  <a:solidFill>
                    <a:schemeClr val="dk1"/>
                  </a:solidFill>
                  <a:latin typeface="+mn-lt"/>
                  <a:ea typeface="+mn-ea"/>
                  <a:cs typeface="+mn-cs"/>
                </a:rPr>
                <a:t>关掉非必要推送</a:t>
              </a:r>
              <a:br>
                <a:rPr lang="zh-CN" sz="3000" dirty="0">
                  <a:solidFill>
                    <a:schemeClr val="dk1"/>
                  </a:solidFill>
                  <a:latin typeface="+mn-lt"/>
                  <a:ea typeface="+mn-ea"/>
                  <a:cs typeface="+mn-cs"/>
                </a:rPr>
              </a:br>
              <a:r>
                <a:rPr lang="zh-CN" sz="3000" dirty="0">
                  <a:solidFill>
                    <a:schemeClr val="dk1"/>
                  </a:solidFill>
                  <a:latin typeface="+mn-lt"/>
                  <a:ea typeface="+mn-ea"/>
                  <a:cs typeface="+mn-cs"/>
                </a:rPr>
                <a:t>学习时手机离桌</a:t>
              </a:r>
              <a:br>
                <a:rPr lang="zh-CN" sz="3000" dirty="0">
                  <a:solidFill>
                    <a:schemeClr val="dk1"/>
                  </a:solidFill>
                  <a:latin typeface="+mn-lt"/>
                  <a:ea typeface="+mn-ea"/>
                  <a:cs typeface="+mn-cs"/>
                </a:rPr>
              </a:br>
              <a:r>
                <a:rPr lang="zh-CN" sz="3000" dirty="0">
                  <a:solidFill>
                    <a:schemeClr val="dk1"/>
                  </a:solidFill>
                  <a:latin typeface="+mn-lt"/>
                  <a:ea typeface="+mn-ea"/>
                  <a:cs typeface="+mn-cs"/>
                </a:rPr>
                <a:t>固定查看窗口</a:t>
              </a:r>
              <a:br>
                <a:rPr lang="zh-CN" sz="3000" dirty="0">
                  <a:solidFill>
                    <a:schemeClr val="dk1"/>
                  </a:solidFill>
                  <a:latin typeface="+mn-lt"/>
                  <a:ea typeface="+mn-ea"/>
                  <a:cs typeface="+mn-cs"/>
                </a:rPr>
              </a:br>
              <a:r>
                <a:rPr lang="zh-CN" sz="3000" dirty="0">
                  <a:solidFill>
                    <a:schemeClr val="dk1"/>
                  </a:solidFill>
                  <a:latin typeface="+mn-lt"/>
                  <a:ea typeface="+mn-ea"/>
                  <a:cs typeface="+mn-cs"/>
                </a:rPr>
                <a:t>睡前放远</a:t>
              </a:r>
            </a:p>
          </p:txBody>
        </p:sp>
      </p:grpSp>
      <p:sp>
        <p:nvSpPr>
          <p:cNvPr id="17"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NASEM, 2024 [S03]；APA, 2023 [S04]　｜　平台设计、班级规则和家庭环境都有关。</a:t>
            </a:r>
          </a:p>
        </p:txBody>
      </p:sp>
      <p:sp>
        <p:nvSpPr>
          <p:cNvPr id="18"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简化虚构界面 · 不归因于学生“自控差”</a:t>
            </a:r>
          </a:p>
        </p:txBody>
      </p:sp>
      <p:sp>
        <p:nvSpPr>
          <p:cNvPr id="19"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14 / 32　·　4 分钟</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6140196" cy="1384300"/>
            <a:chOff x="895350" y="908050"/>
            <a:chExt cx="6140196"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03　数字生活与关系　/　观察使用方式</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刷完之后，我是什么状态</a:t>
              </a:r>
            </a:p>
          </p:txBody>
        </p:sp>
      </p:grpSp>
      <p:grpSp>
        <p:nvGrpSpPr>
          <p:cNvPr id="7" name="intention"/>
          <p:cNvGrpSpPr/>
          <p:nvPr/>
        </p:nvGrpSpPr>
        <p:grpSpPr>
          <a:xfrm>
            <a:off x="1127760" y="3460750"/>
            <a:ext cx="3840480" cy="2142490"/>
            <a:chOff x="1127760" y="3460750"/>
            <a:chExt cx="3840480" cy="2142490"/>
          </a:xfrm>
        </p:grpSpPr>
        <p:sp>
          <p:nvSpPr>
            <p:cNvPr id="5" name="TextBox 5"/>
            <p:cNvSpPr txBox="1"/>
            <p:nvPr/>
          </p:nvSpPr>
          <p:spPr>
            <a:xfrm>
              <a:off x="1132332" y="3460750"/>
              <a:ext cx="69723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打开之前 · 我的目的</a:t>
              </a:r>
            </a:p>
          </p:txBody>
        </p:sp>
        <p:sp>
          <p:nvSpPr>
            <p:cNvPr id="6" name="TextBox 6"/>
            <p:cNvSpPr txBox="1"/>
            <p:nvPr/>
          </p:nvSpPr>
          <p:spPr>
            <a:xfrm>
              <a:off x="1127760" y="4349750"/>
              <a:ext cx="6972300" cy="1253490"/>
            </a:xfrm>
            <a:prstGeom prst="rect">
              <a:avLst/>
            </a:prstGeom>
            <a:noFill/>
            <a:ln>
              <a:noFill/>
            </a:ln>
          </p:spPr>
          <p:txBody>
            <a:bodyPr wrap="none" lIns="0" tIns="0" rIns="0" bIns="0" anchor="t" anchorCtr="0">
              <a:noAutofit/>
            </a:bodyPr>
            <a:lstStyle/>
            <a:p>
              <a:pPr algn="l">
                <a:lnSpc>
                  <a:spcPts val="5250"/>
                </a:lnSpc>
              </a:pPr>
              <a:r>
                <a:rPr lang="zh-CN" sz="3000" dirty="0">
                  <a:solidFill>
                    <a:schemeClr val="dk1"/>
                  </a:solidFill>
                  <a:latin typeface="+mn-lt"/>
                  <a:ea typeface="+mn-ea"/>
                  <a:cs typeface="+mn-cs"/>
                </a:rPr>
                <a:t>找资料，联系朋友，</a:t>
              </a:r>
              <a:br>
                <a:rPr lang="zh-CN" sz="3000" dirty="0">
                  <a:solidFill>
                    <a:schemeClr val="dk1"/>
                  </a:solidFill>
                  <a:latin typeface="+mn-lt"/>
                  <a:ea typeface="+mn-ea"/>
                  <a:cs typeface="+mn-cs"/>
                </a:rPr>
              </a:br>
              <a:r>
                <a:rPr lang="zh-CN" sz="3000" dirty="0">
                  <a:solidFill>
                    <a:schemeClr val="dk1"/>
                  </a:solidFill>
                  <a:latin typeface="+mn-lt"/>
                  <a:ea typeface="+mn-ea"/>
                  <a:cs typeface="+mn-cs"/>
                </a:rPr>
                <a:t>放松，还是逃避任务？</a:t>
              </a:r>
            </a:p>
          </p:txBody>
        </p:sp>
      </p:grpSp>
      <p:grpSp>
        <p:nvGrpSpPr>
          <p:cNvPr id="12" name="result"/>
          <p:cNvGrpSpPr/>
          <p:nvPr/>
        </p:nvGrpSpPr>
        <p:grpSpPr>
          <a:xfrm>
            <a:off x="9525000" y="3095625"/>
            <a:ext cx="7620000" cy="4667250"/>
            <a:chOff x="9525000" y="3095625"/>
            <a:chExt cx="7620000" cy="4667250"/>
          </a:xfrm>
        </p:grpSpPr>
        <p:sp>
          <p:nvSpPr>
            <p:cNvPr id="8" name="Rectangle 8"/>
            <p:cNvSpPr/>
            <p:nvPr/>
          </p:nvSpPr>
          <p:spPr>
            <a:xfrm>
              <a:off x="9525000" y="3095625"/>
              <a:ext cx="7620000" cy="4667250"/>
            </a:xfrm>
            <a:prstGeom prst="roundRect">
              <a:avLst>
                <a:gd name="adj" fmla="val 4898"/>
              </a:avLst>
            </a:prstGeom>
            <a:solidFill>
              <a:schemeClr val="lt2"/>
            </a:solidFill>
            <a:ln>
              <a:noFill/>
            </a:ln>
          </p:spPr>
          <p:txBody>
            <a:bodyPr/>
            <a:p/>
          </p:txBody>
        </p:sp>
        <p:sp>
          <p:nvSpPr>
            <p:cNvPr id="9" name="TextBox 9"/>
            <p:cNvSpPr txBox="1"/>
            <p:nvPr/>
          </p:nvSpPr>
          <p:spPr>
            <a:xfrm>
              <a:off x="9971532" y="3460750"/>
              <a:ext cx="71247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使用之后 · 我的结果</a:t>
              </a:r>
            </a:p>
          </p:txBody>
        </p:sp>
        <p:sp>
          <p:nvSpPr>
            <p:cNvPr id="10" name="TextBox 10"/>
            <p:cNvSpPr txBox="1"/>
            <p:nvPr/>
          </p:nvSpPr>
          <p:spPr>
            <a:xfrm>
              <a:off x="9966960" y="4349750"/>
              <a:ext cx="7124700" cy="1253490"/>
            </a:xfrm>
            <a:prstGeom prst="rect">
              <a:avLst/>
            </a:prstGeom>
            <a:noFill/>
            <a:ln>
              <a:noFill/>
            </a:ln>
          </p:spPr>
          <p:txBody>
            <a:bodyPr wrap="none" lIns="0" tIns="0" rIns="0" bIns="0" anchor="t" anchorCtr="0">
              <a:noAutofit/>
            </a:bodyPr>
            <a:lstStyle/>
            <a:p>
              <a:pPr algn="l">
                <a:lnSpc>
                  <a:spcPts val="5250"/>
                </a:lnSpc>
              </a:pPr>
              <a:r>
                <a:rPr lang="zh-CN" sz="3000" dirty="0">
                  <a:solidFill>
                    <a:schemeClr val="dk1"/>
                  </a:solidFill>
                  <a:latin typeface="+mn-lt"/>
                  <a:ea typeface="+mn-ea"/>
                  <a:cs typeface="+mn-cs"/>
                </a:rPr>
                <a:t>更清楚、更有连接，</a:t>
              </a:r>
              <a:br>
                <a:rPr lang="zh-CN" sz="3000" dirty="0">
                  <a:solidFill>
                    <a:schemeClr val="dk1"/>
                  </a:solidFill>
                  <a:latin typeface="+mn-lt"/>
                  <a:ea typeface="+mn-ea"/>
                  <a:cs typeface="+mn-cs"/>
                </a:rPr>
              </a:br>
              <a:r>
                <a:rPr lang="zh-CN" sz="3000" dirty="0">
                  <a:solidFill>
                    <a:schemeClr val="dk1"/>
                  </a:solidFill>
                  <a:latin typeface="+mn-lt"/>
                  <a:ea typeface="+mn-ea"/>
                  <a:cs typeface="+mn-cs"/>
                </a:rPr>
                <a:t>还是更焦虑、更晚睡？</a:t>
              </a:r>
            </a:p>
          </p:txBody>
        </p:sp>
        <p:sp>
          <p:nvSpPr>
            <p:cNvPr id="11" name="TextBox 11"/>
            <p:cNvSpPr txBox="1"/>
            <p:nvPr/>
          </p:nvSpPr>
          <p:spPr>
            <a:xfrm>
              <a:off x="9971532" y="6699250"/>
              <a:ext cx="71247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不只计时，也看内容、方式和自己的状态。</a:t>
              </a:r>
            </a:p>
          </p:txBody>
        </p:sp>
      </p:grpSp>
      <p:sp>
        <p:nvSpPr>
          <p:cNvPr id="13"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NASEM, 2024 [S03]　｜　社交媒体可能有帮助，也可能造成困扰；关联不等于个人因果。</a:t>
            </a:r>
          </a:p>
        </p:txBody>
      </p:sp>
      <p:sp>
        <p:nvSpPr>
          <p:cNvPr id="14"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互动 · 各想一个“有帮助”和“有代价”的用法。</a:t>
            </a:r>
          </a:p>
        </p:txBody>
      </p:sp>
      <p:sp>
        <p:nvSpPr>
          <p:cNvPr id="15"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15 / 32　·　3 分钟</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5030724" cy="1384300"/>
            <a:chOff x="895350" y="908050"/>
            <a:chExt cx="5030724"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03　数字生活与关系　/　拆解信息流</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信息流里的三个错觉</a:t>
              </a:r>
            </a:p>
          </p:txBody>
        </p:sp>
      </p:grpSp>
      <p:grpSp>
        <p:nvGrpSpPr>
          <p:cNvPr id="12" name="feed"/>
          <p:cNvGrpSpPr/>
          <p:nvPr/>
        </p:nvGrpSpPr>
        <p:grpSpPr>
          <a:xfrm>
            <a:off x="914400" y="2952750"/>
            <a:ext cx="7620000" cy="5048250"/>
            <a:chOff x="914400" y="2952750"/>
            <a:chExt cx="7620000" cy="5048250"/>
          </a:xfrm>
        </p:grpSpPr>
        <p:sp>
          <p:nvSpPr>
            <p:cNvPr id="5" name="Rectangle 5"/>
            <p:cNvSpPr/>
            <p:nvPr/>
          </p:nvSpPr>
          <p:spPr>
            <a:xfrm>
              <a:off x="914400" y="2952750"/>
              <a:ext cx="7620000" cy="5048250"/>
            </a:xfrm>
            <a:prstGeom prst="roundRect">
              <a:avLst>
                <a:gd name="adj" fmla="val 4528"/>
              </a:avLst>
            </a:prstGeom>
            <a:solidFill>
              <a:schemeClr val="lt2"/>
            </a:solidFill>
            <a:ln>
              <a:noFill/>
            </a:ln>
          </p:spPr>
          <p:txBody>
            <a:bodyPr/>
            <a:p/>
          </p:txBody>
        </p:sp>
        <p:sp>
          <p:nvSpPr>
            <p:cNvPr id="6" name="TextBox 6"/>
            <p:cNvSpPr txBox="1"/>
            <p:nvPr/>
          </p:nvSpPr>
          <p:spPr>
            <a:xfrm>
              <a:off x="1322832" y="3365500"/>
              <a:ext cx="71628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虚构信息流 · 示例标题</a:t>
              </a:r>
            </a:p>
          </p:txBody>
        </p:sp>
        <p:sp>
          <p:nvSpPr>
            <p:cNvPr id="7" name="TextBox 7"/>
            <p:cNvSpPr txBox="1"/>
            <p:nvPr/>
          </p:nvSpPr>
          <p:spPr>
            <a:xfrm>
              <a:off x="1318260" y="4298950"/>
              <a:ext cx="7162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“同龄人又晒出高分”</a:t>
              </a:r>
            </a:p>
          </p:txBody>
        </p:sp>
        <p:sp>
          <p:nvSpPr>
            <p:cNvPr id="8" name="TextBox 8"/>
            <p:cNvSpPr txBox="1"/>
            <p:nvPr/>
          </p:nvSpPr>
          <p:spPr>
            <a:xfrm>
              <a:off x="1319784" y="5099050"/>
              <a:ext cx="71628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高光剪辑 ≠ 普通生活失败</a:t>
              </a:r>
            </a:p>
          </p:txBody>
        </p:sp>
        <p:sp>
          <p:nvSpPr>
            <p:cNvPr id="9" name="Line 9"/>
            <p:cNvSpPr/>
            <p:nvPr/>
          </p:nvSpPr>
          <p:spPr>
            <a:xfrm>
              <a:off x="1333500" y="5953125"/>
              <a:ext cx="6762750" cy="9525"/>
            </a:xfrm>
            <a:custGeom>
              <a:avLst/>
              <a:gdLst/>
              <a:ahLst/>
              <a:cxnLst/>
              <a:rect l="l" t="t" r="r" b="b"/>
              <a:pathLst>
                <a:path w="6762750" h="9525">
                  <a:moveTo>
                    <a:pt x="0" y="0"/>
                  </a:moveTo>
                  <a:lnTo>
                    <a:pt x="6762750" y="0"/>
                  </a:lnTo>
                </a:path>
              </a:pathLst>
            </a:custGeom>
            <a:noFill/>
            <a:ln w="19050">
              <a:solidFill>
                <a:schemeClr val="accent6"/>
              </a:solidFill>
            </a:ln>
          </p:spPr>
          <p:txBody>
            <a:bodyPr/>
            <a:p/>
          </p:txBody>
        </p:sp>
        <p:sp>
          <p:nvSpPr>
            <p:cNvPr id="10" name="TextBox 10"/>
            <p:cNvSpPr txBox="1"/>
            <p:nvPr/>
          </p:nvSpPr>
          <p:spPr>
            <a:xfrm>
              <a:off x="1318260" y="6299200"/>
              <a:ext cx="7162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“未来职业全灭？”</a:t>
              </a:r>
            </a:p>
          </p:txBody>
        </p:sp>
        <p:sp>
          <p:nvSpPr>
            <p:cNvPr id="11" name="TextBox 11"/>
            <p:cNvSpPr txBox="1"/>
            <p:nvPr/>
          </p:nvSpPr>
          <p:spPr>
            <a:xfrm>
              <a:off x="1319784" y="7099300"/>
              <a:ext cx="71628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热搜频次 ≠ 事件更常见</a:t>
              </a:r>
            </a:p>
          </p:txBody>
        </p:sp>
      </p:grpSp>
      <p:grpSp>
        <p:nvGrpSpPr>
          <p:cNvPr id="15" name="questions"/>
          <p:cNvGrpSpPr/>
          <p:nvPr/>
        </p:nvGrpSpPr>
        <p:grpSpPr>
          <a:xfrm>
            <a:off x="9795510" y="3248025"/>
            <a:ext cx="3459480" cy="3809365"/>
            <a:chOff x="9795510" y="3248025"/>
            <a:chExt cx="3459480" cy="3809365"/>
          </a:xfrm>
        </p:grpSpPr>
        <p:sp>
          <p:nvSpPr>
            <p:cNvPr id="13" name="TextBox 13"/>
            <p:cNvSpPr txBox="1"/>
            <p:nvPr/>
          </p:nvSpPr>
          <p:spPr>
            <a:xfrm>
              <a:off x="9797034" y="3248025"/>
              <a:ext cx="7296150" cy="1080516"/>
            </a:xfrm>
            <a:prstGeom prst="rect">
              <a:avLst/>
            </a:prstGeom>
            <a:noFill/>
            <a:ln>
              <a:noFill/>
            </a:ln>
          </p:spPr>
          <p:txBody>
            <a:bodyPr wrap="none" lIns="0" tIns="0" rIns="0" bIns="0" anchor="t" anchorCtr="0">
              <a:noAutofit/>
            </a:bodyPr>
            <a:lstStyle/>
            <a:p>
              <a:pPr algn="l">
                <a:lnSpc>
                  <a:spcPts val="4350"/>
                </a:lnSpc>
              </a:pPr>
              <a:r>
                <a:rPr lang="zh-CN" sz="2700" dirty="0">
                  <a:solidFill>
                    <a:schemeClr val="dk1"/>
                  </a:solidFill>
                  <a:latin typeface="+mn-lt"/>
                  <a:ea typeface="+mn-ea"/>
                  <a:cs typeface="+mn-cs"/>
                </a:rPr>
                <a:t>推荐系统还可能</a:t>
              </a:r>
              <a:br>
                <a:rPr lang="zh-CN" sz="2700" dirty="0">
                  <a:solidFill>
                    <a:schemeClr val="dk1"/>
                  </a:solidFill>
                  <a:latin typeface="+mn-lt"/>
                  <a:ea typeface="+mn-ea"/>
                  <a:cs typeface="+mn-cs"/>
                </a:rPr>
              </a:br>
              <a:r>
                <a:rPr lang="zh-CN" sz="2700" dirty="0">
                  <a:solidFill>
                    <a:schemeClr val="dk1"/>
                  </a:solidFill>
                  <a:latin typeface="+mn-lt"/>
                  <a:ea typeface="+mn-ea"/>
                  <a:cs typeface="+mn-cs"/>
                </a:rPr>
                <a:t>不断呈现相似观点。</a:t>
              </a:r>
            </a:p>
          </p:txBody>
        </p:sp>
        <p:sp>
          <p:nvSpPr>
            <p:cNvPr id="14" name="TextBox 14"/>
            <p:cNvSpPr txBox="1"/>
            <p:nvPr/>
          </p:nvSpPr>
          <p:spPr>
            <a:xfrm>
              <a:off x="9795510" y="4794250"/>
              <a:ext cx="7296150" cy="2263140"/>
            </a:xfrm>
            <a:prstGeom prst="rect">
              <a:avLst/>
            </a:prstGeom>
            <a:noFill/>
            <a:ln>
              <a:noFill/>
            </a:ln>
          </p:spPr>
          <p:txBody>
            <a:bodyPr wrap="none" lIns="0" tIns="0" rIns="0" bIns="0" anchor="t" anchorCtr="0">
              <a:noAutofit/>
            </a:bodyPr>
            <a:lstStyle/>
            <a:p>
              <a:pPr algn="l">
                <a:lnSpc>
                  <a:spcPts val="6600"/>
                </a:lnSpc>
              </a:pPr>
              <a:r>
                <a:rPr lang="zh-CN" sz="3000" dirty="0">
                  <a:solidFill>
                    <a:schemeClr val="accent1"/>
                  </a:solidFill>
                  <a:latin typeface="+mn-lt"/>
                  <a:ea typeface="+mn-ea"/>
                  <a:cs typeface="+mn-cs"/>
                </a:rPr>
                <a:t>这是谁发布的？</a:t>
              </a:r>
              <a:br>
                <a:rPr lang="zh-CN" sz="3000" dirty="0">
                  <a:solidFill>
                    <a:schemeClr val="accent1"/>
                  </a:solidFill>
                  <a:latin typeface="+mn-lt"/>
                  <a:ea typeface="+mn-ea"/>
                  <a:cs typeface="+mn-cs"/>
                </a:rPr>
              </a:br>
              <a:r>
                <a:rPr lang="zh-CN" sz="3000" dirty="0">
                  <a:solidFill>
                    <a:schemeClr val="accent1"/>
                  </a:solidFill>
                  <a:latin typeface="+mn-lt"/>
                  <a:ea typeface="+mn-ea"/>
                  <a:cs typeface="+mn-cs"/>
                </a:rPr>
                <a:t>还缺哪一面？</a:t>
              </a:r>
              <a:br>
                <a:rPr lang="zh-CN" sz="3000" dirty="0">
                  <a:solidFill>
                    <a:schemeClr val="accent1"/>
                  </a:solidFill>
                  <a:latin typeface="+mn-lt"/>
                  <a:ea typeface="+mn-ea"/>
                  <a:cs typeface="+mn-cs"/>
                </a:rPr>
              </a:br>
              <a:r>
                <a:rPr lang="zh-CN" sz="3000" dirty="0">
                  <a:solidFill>
                    <a:schemeClr val="accent1"/>
                  </a:solidFill>
                  <a:latin typeface="+mn-lt"/>
                  <a:ea typeface="+mn-ea"/>
                  <a:cs typeface="+mn-cs"/>
                </a:rPr>
                <a:t>我需要立刻反应吗？</a:t>
              </a:r>
            </a:p>
          </p:txBody>
        </p:sp>
      </p:grpSp>
      <p:sp>
        <p:nvSpPr>
          <p:cNvPr id="16"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NASEM, 2024 [S03]；APA, 2023 [S04]　｜　“三个错觉”为教学整理。</a:t>
            </a:r>
          </a:p>
        </p:txBody>
      </p:sp>
      <p:sp>
        <p:nvSpPr>
          <p:cNvPr id="17"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互动 · 用三个问题拆解一个虚构标题。</a:t>
            </a:r>
          </a:p>
        </p:txBody>
      </p:sp>
      <p:sp>
        <p:nvSpPr>
          <p:cNvPr id="18"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16 / 32　·　5 分钟</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7249668" cy="1384300"/>
            <a:chOff x="895350" y="908050"/>
            <a:chExt cx="7249668"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03　数字生活与关系　/　虚构群聊情境</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群聊冲突：先保住证据与边界</a:t>
              </a:r>
            </a:p>
          </p:txBody>
        </p:sp>
      </p:grpSp>
      <p:grpSp>
        <p:nvGrpSpPr>
          <p:cNvPr id="10" name="scenario"/>
          <p:cNvGrpSpPr/>
          <p:nvPr/>
        </p:nvGrpSpPr>
        <p:grpSpPr>
          <a:xfrm>
            <a:off x="914400" y="3143250"/>
            <a:ext cx="7143750" cy="4667250"/>
            <a:chOff x="914400" y="3143250"/>
            <a:chExt cx="7143750" cy="4667250"/>
          </a:xfrm>
        </p:grpSpPr>
        <p:sp>
          <p:nvSpPr>
            <p:cNvPr id="5" name="Rectangle 5"/>
            <p:cNvSpPr/>
            <p:nvPr/>
          </p:nvSpPr>
          <p:spPr>
            <a:xfrm>
              <a:off x="914400" y="3143250"/>
              <a:ext cx="7143750" cy="4667250"/>
            </a:xfrm>
            <a:prstGeom prst="roundRect">
              <a:avLst>
                <a:gd name="adj" fmla="val 4898"/>
              </a:avLst>
            </a:prstGeom>
            <a:solidFill>
              <a:schemeClr val="lt2"/>
            </a:solidFill>
            <a:ln>
              <a:noFill/>
            </a:ln>
          </p:spPr>
          <p:txBody>
            <a:bodyPr/>
            <a:p/>
          </p:txBody>
        </p:sp>
        <p:sp>
          <p:nvSpPr>
            <p:cNvPr id="6" name="TextBox 6"/>
            <p:cNvSpPr txBox="1"/>
            <p:nvPr/>
          </p:nvSpPr>
          <p:spPr>
            <a:xfrm>
              <a:off x="1322832" y="3603625"/>
              <a:ext cx="66865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虚构示意 · 不是实际聊天截图</a:t>
              </a:r>
            </a:p>
          </p:txBody>
        </p:sp>
        <p:sp>
          <p:nvSpPr>
            <p:cNvPr id="7" name="Rectangle 7"/>
            <p:cNvSpPr/>
            <p:nvPr/>
          </p:nvSpPr>
          <p:spPr>
            <a:xfrm>
              <a:off x="1333500" y="4476750"/>
              <a:ext cx="6286500" cy="1476375"/>
            </a:xfrm>
            <a:prstGeom prst="roundRect">
              <a:avLst>
                <a:gd name="adj" fmla="val 15484"/>
              </a:avLst>
            </a:prstGeom>
            <a:solidFill>
              <a:schemeClr val="lt1"/>
            </a:solidFill>
            <a:ln>
              <a:noFill/>
            </a:ln>
          </p:spPr>
          <p:txBody>
            <a:bodyPr/>
            <a:p/>
          </p:txBody>
        </p:sp>
        <p:sp>
          <p:nvSpPr>
            <p:cNvPr id="8" name="TextBox 8"/>
            <p:cNvSpPr txBox="1"/>
            <p:nvPr/>
          </p:nvSpPr>
          <p:spPr>
            <a:xfrm>
              <a:off x="1653159" y="4676775"/>
              <a:ext cx="6353175" cy="1080516"/>
            </a:xfrm>
            <a:prstGeom prst="rect">
              <a:avLst/>
            </a:prstGeom>
            <a:noFill/>
            <a:ln>
              <a:noFill/>
            </a:ln>
          </p:spPr>
          <p:txBody>
            <a:bodyPr wrap="none" lIns="0" tIns="0" rIns="0" bIns="0" anchor="t" anchorCtr="0">
              <a:noAutofit/>
            </a:bodyPr>
            <a:lstStyle/>
            <a:p>
              <a:pPr algn="l">
                <a:lnSpc>
                  <a:spcPts val="4350"/>
                </a:lnSpc>
              </a:pPr>
              <a:r>
                <a:rPr lang="zh-CN" sz="2700" dirty="0">
                  <a:solidFill>
                    <a:schemeClr val="dk1"/>
                  </a:solidFill>
                  <a:latin typeface="+mn-lt"/>
                  <a:ea typeface="+mn-ea"/>
                  <a:cs typeface="+mn-cs"/>
                </a:rPr>
                <a:t>看到自己的截图</a:t>
              </a:r>
              <a:br>
                <a:rPr lang="zh-CN" sz="2700" dirty="0">
                  <a:solidFill>
                    <a:schemeClr val="dk1"/>
                  </a:solidFill>
                  <a:latin typeface="+mn-lt"/>
                  <a:ea typeface="+mn-ea"/>
                  <a:cs typeface="+mn-cs"/>
                </a:rPr>
              </a:br>
              <a:r>
                <a:rPr lang="zh-CN" sz="2700" dirty="0">
                  <a:solidFill>
                    <a:schemeClr val="dk1"/>
                  </a:solidFill>
                  <a:latin typeface="+mn-lt"/>
                  <a:ea typeface="+mn-ea"/>
                  <a:cs typeface="+mn-cs"/>
                </a:rPr>
                <a:t>被转发到群里。</a:t>
              </a:r>
            </a:p>
          </p:txBody>
        </p:sp>
        <p:sp>
          <p:nvSpPr>
            <p:cNvPr id="9" name="TextBox 9"/>
            <p:cNvSpPr txBox="1"/>
            <p:nvPr/>
          </p:nvSpPr>
          <p:spPr>
            <a:xfrm>
              <a:off x="1319784" y="6718300"/>
              <a:ext cx="6686550" cy="528066"/>
            </a:xfrm>
            <a:prstGeom prst="rect">
              <a:avLst/>
            </a:prstGeom>
            <a:noFill/>
            <a:ln>
              <a:noFill/>
            </a:ln>
          </p:spPr>
          <p:txBody>
            <a:bodyPr wrap="none" lIns="0" tIns="0" rIns="0" bIns="0" anchor="t" anchorCtr="0">
              <a:noAutofit/>
            </a:bodyPr>
            <a:lstStyle/>
            <a:p>
              <a:pPr algn="l"/>
              <a:r>
                <a:rPr lang="zh-CN" sz="2700" dirty="0">
                  <a:solidFill>
                    <a:schemeClr val="accent1"/>
                  </a:solidFill>
                  <a:latin typeface="+mn-lt"/>
                  <a:ea typeface="+mn-ea"/>
                  <a:cs typeface="+mn-cs"/>
                </a:rPr>
                <a:t>要求处理具体行为。</a:t>
              </a:r>
            </a:p>
          </p:txBody>
        </p:sp>
      </p:grpSp>
      <p:grpSp>
        <p:nvGrpSpPr>
          <p:cNvPr id="21" name="response"/>
          <p:cNvGrpSpPr/>
          <p:nvPr/>
        </p:nvGrpSpPr>
        <p:grpSpPr>
          <a:xfrm>
            <a:off x="9525000" y="3489325"/>
            <a:ext cx="5981776" cy="4411218"/>
            <a:chOff x="9525000" y="3489325"/>
            <a:chExt cx="5981776" cy="4411218"/>
          </a:xfrm>
        </p:grpSpPr>
        <p:sp>
          <p:nvSpPr>
            <p:cNvPr id="11" name="Line 11"/>
            <p:cNvSpPr/>
            <p:nvPr/>
          </p:nvSpPr>
          <p:spPr>
            <a:xfrm>
              <a:off x="9620250" y="3524250"/>
              <a:ext cx="9525" cy="4000500"/>
            </a:xfrm>
            <a:custGeom>
              <a:avLst/>
              <a:gdLst/>
              <a:ahLst/>
              <a:cxnLst/>
              <a:rect l="l" t="t" r="r" b="b"/>
              <a:pathLst>
                <a:path w="9525" h="4000500">
                  <a:moveTo>
                    <a:pt x="0" y="0"/>
                  </a:moveTo>
                  <a:lnTo>
                    <a:pt x="0" y="4000500"/>
                  </a:lnTo>
                </a:path>
              </a:pathLst>
            </a:custGeom>
            <a:noFill/>
            <a:ln w="38100">
              <a:solidFill>
                <a:schemeClr val="accent6"/>
              </a:solidFill>
            </a:ln>
          </p:spPr>
          <p:txBody>
            <a:bodyPr/>
            <a:p/>
          </p:txBody>
        </p:sp>
        <p:sp>
          <p:nvSpPr>
            <p:cNvPr id="12" name="Ellipse 12"/>
            <p:cNvSpPr/>
            <p:nvPr/>
          </p:nvSpPr>
          <p:spPr>
            <a:xfrm>
              <a:off x="9525000" y="3619500"/>
              <a:ext cx="190500" cy="190500"/>
            </a:xfrm>
            <a:prstGeom prst="ellipse">
              <a:avLst/>
            </a:prstGeom>
            <a:solidFill>
              <a:schemeClr val="accent1"/>
            </a:solidFill>
            <a:ln>
              <a:noFill/>
            </a:ln>
          </p:spPr>
          <p:txBody>
            <a:bodyPr/>
            <a:p/>
          </p:txBody>
        </p:sp>
        <p:sp>
          <p:nvSpPr>
            <p:cNvPr id="13" name="Ellipse 13"/>
            <p:cNvSpPr/>
            <p:nvPr/>
          </p:nvSpPr>
          <p:spPr>
            <a:xfrm>
              <a:off x="9525000" y="4572000"/>
              <a:ext cx="190500" cy="190500"/>
            </a:xfrm>
            <a:prstGeom prst="ellipse">
              <a:avLst/>
            </a:prstGeom>
            <a:solidFill>
              <a:schemeClr val="accent1"/>
            </a:solidFill>
            <a:ln>
              <a:noFill/>
            </a:ln>
          </p:spPr>
          <p:txBody>
            <a:bodyPr/>
            <a:p/>
          </p:txBody>
        </p:sp>
        <p:sp>
          <p:nvSpPr>
            <p:cNvPr id="14" name="Ellipse 14"/>
            <p:cNvSpPr/>
            <p:nvPr/>
          </p:nvSpPr>
          <p:spPr>
            <a:xfrm>
              <a:off x="9525000" y="5524500"/>
              <a:ext cx="190500" cy="190500"/>
            </a:xfrm>
            <a:prstGeom prst="ellipse">
              <a:avLst/>
            </a:prstGeom>
            <a:solidFill>
              <a:schemeClr val="accent1"/>
            </a:solidFill>
            <a:ln>
              <a:noFill/>
            </a:ln>
          </p:spPr>
          <p:txBody>
            <a:bodyPr/>
            <a:p/>
          </p:txBody>
        </p:sp>
        <p:sp>
          <p:nvSpPr>
            <p:cNvPr id="15" name="Ellipse 15"/>
            <p:cNvSpPr/>
            <p:nvPr/>
          </p:nvSpPr>
          <p:spPr>
            <a:xfrm>
              <a:off x="9525000" y="6477000"/>
              <a:ext cx="190500" cy="190500"/>
            </a:xfrm>
            <a:prstGeom prst="ellipse">
              <a:avLst/>
            </a:prstGeom>
            <a:solidFill>
              <a:schemeClr val="accent2"/>
            </a:solidFill>
            <a:ln>
              <a:noFill/>
            </a:ln>
          </p:spPr>
          <p:txBody>
            <a:bodyPr/>
            <a:p/>
          </p:txBody>
        </p:sp>
        <p:sp>
          <p:nvSpPr>
            <p:cNvPr id="16" name="TextBox 16"/>
            <p:cNvSpPr txBox="1"/>
            <p:nvPr/>
          </p:nvSpPr>
          <p:spPr>
            <a:xfrm>
              <a:off x="10081260" y="3489325"/>
              <a:ext cx="71056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先不回击</a:t>
              </a:r>
            </a:p>
          </p:txBody>
        </p:sp>
        <p:sp>
          <p:nvSpPr>
            <p:cNvPr id="17" name="TextBox 17"/>
            <p:cNvSpPr txBox="1"/>
            <p:nvPr/>
          </p:nvSpPr>
          <p:spPr>
            <a:xfrm>
              <a:off x="10081260" y="4441825"/>
              <a:ext cx="71056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保存必要截图</a:t>
              </a:r>
            </a:p>
          </p:txBody>
        </p:sp>
        <p:sp>
          <p:nvSpPr>
            <p:cNvPr id="18" name="TextBox 18"/>
            <p:cNvSpPr txBox="1"/>
            <p:nvPr/>
          </p:nvSpPr>
          <p:spPr>
            <a:xfrm>
              <a:off x="10081260" y="5394325"/>
              <a:ext cx="71056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停止继续传播</a:t>
              </a:r>
            </a:p>
          </p:txBody>
        </p:sp>
        <p:sp>
          <p:nvSpPr>
            <p:cNvPr id="19" name="TextBox 19"/>
            <p:cNvSpPr txBox="1"/>
            <p:nvPr/>
          </p:nvSpPr>
          <p:spPr>
            <a:xfrm>
              <a:off x="10082784" y="6384925"/>
              <a:ext cx="710565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找班主任、心理老师或家长</a:t>
              </a:r>
            </a:p>
          </p:txBody>
        </p:sp>
        <p:sp>
          <p:nvSpPr>
            <p:cNvPr id="20" name="TextBox 20"/>
            <p:cNvSpPr txBox="1"/>
            <p:nvPr/>
          </p:nvSpPr>
          <p:spPr>
            <a:xfrm>
              <a:off x="10085832" y="7489825"/>
              <a:ext cx="71056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持续霸凌需学校介入，不要求自行“和解”。</a:t>
              </a:r>
            </a:p>
          </p:txBody>
        </p:sp>
      </p:grpSp>
      <p:sp>
        <p:nvSpPr>
          <p:cNvPr id="22"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保护证据，也保护隐私。不投放真实同学聊天记录。</a:t>
            </a:r>
          </a:p>
        </p:txBody>
      </p:sp>
      <p:sp>
        <p:nvSpPr>
          <p:cNvPr id="23"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17 / 32　·　4 分钟</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8359140" cy="1384300"/>
            <a:chOff x="895350" y="908050"/>
            <a:chExt cx="8359140"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03　数字生活与关系　/　关系边界</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别人要你的密码、定位或私密照片</a:t>
              </a:r>
            </a:p>
          </p:txBody>
        </p:sp>
      </p:grpSp>
      <p:grpSp>
        <p:nvGrpSpPr>
          <p:cNvPr id="7" name="refusal"/>
          <p:cNvGrpSpPr/>
          <p:nvPr/>
        </p:nvGrpSpPr>
        <p:grpSpPr>
          <a:xfrm>
            <a:off x="1030986" y="3556000"/>
            <a:ext cx="3386328" cy="3642741"/>
            <a:chOff x="1030986" y="3556000"/>
            <a:chExt cx="3386328" cy="3642741"/>
          </a:xfrm>
        </p:grpSpPr>
        <p:sp>
          <p:nvSpPr>
            <p:cNvPr id="5" name="TextBox 5"/>
            <p:cNvSpPr txBox="1"/>
            <p:nvPr/>
          </p:nvSpPr>
          <p:spPr>
            <a:xfrm>
              <a:off x="1030986" y="3556000"/>
              <a:ext cx="7448550" cy="1483614"/>
            </a:xfrm>
            <a:prstGeom prst="rect">
              <a:avLst/>
            </a:prstGeom>
            <a:noFill/>
            <a:ln>
              <a:noFill/>
            </a:ln>
          </p:spPr>
          <p:txBody>
            <a:bodyPr wrap="none" lIns="0" tIns="0" rIns="0" bIns="0" anchor="t" anchorCtr="0">
              <a:noAutofit/>
            </a:bodyPr>
            <a:lstStyle/>
            <a:p>
              <a:pPr algn="l">
                <a:lnSpc>
                  <a:spcPts val="6600"/>
                </a:lnSpc>
              </a:pPr>
              <a:r>
                <a:rPr lang="zh-CN" sz="3300" dirty="0">
                  <a:solidFill>
                    <a:schemeClr val="dk1"/>
                  </a:solidFill>
                  <a:latin typeface="+mn-lt"/>
                  <a:ea typeface="+mn-ea"/>
                  <a:cs typeface="+mn-cs"/>
                </a:rPr>
                <a:t>即使是喜欢的人，</a:t>
              </a:r>
              <a:br>
                <a:rPr lang="zh-CN" sz="3300" dirty="0">
                  <a:solidFill>
                    <a:schemeClr val="dk1"/>
                  </a:solidFill>
                  <a:latin typeface="+mn-lt"/>
                  <a:ea typeface="+mn-ea"/>
                  <a:cs typeface="+mn-cs"/>
                </a:rPr>
              </a:br>
              <a:r>
                <a:rPr lang="zh-CN" sz="3300" dirty="0">
                  <a:solidFill>
                    <a:schemeClr val="accent1"/>
                  </a:solidFill>
                  <a:latin typeface="+mn-lt"/>
                  <a:ea typeface="+mn-ea"/>
                  <a:cs typeface="+mn-cs"/>
                </a:rPr>
                <a:t>也可以拒绝。</a:t>
              </a:r>
            </a:p>
          </p:txBody>
        </p:sp>
        <p:sp>
          <p:nvSpPr>
            <p:cNvPr id="6" name="TextBox 6"/>
            <p:cNvSpPr txBox="1"/>
            <p:nvPr/>
          </p:nvSpPr>
          <p:spPr>
            <a:xfrm>
              <a:off x="1034034" y="6670675"/>
              <a:ext cx="744855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被威胁不是你的错。</a:t>
              </a:r>
            </a:p>
          </p:txBody>
        </p:sp>
      </p:grpSp>
      <p:grpSp>
        <p:nvGrpSpPr>
          <p:cNvPr id="11" name="coercion"/>
          <p:cNvGrpSpPr/>
          <p:nvPr/>
        </p:nvGrpSpPr>
        <p:grpSpPr>
          <a:xfrm>
            <a:off x="9525000" y="3143250"/>
            <a:ext cx="7620000" cy="4762500"/>
            <a:chOff x="9525000" y="3143250"/>
            <a:chExt cx="7620000" cy="4762500"/>
          </a:xfrm>
        </p:grpSpPr>
        <p:sp>
          <p:nvSpPr>
            <p:cNvPr id="8" name="Rectangle 8"/>
            <p:cNvSpPr/>
            <p:nvPr/>
          </p:nvSpPr>
          <p:spPr>
            <a:xfrm>
              <a:off x="9525000" y="3143250"/>
              <a:ext cx="7620000" cy="4762500"/>
            </a:xfrm>
            <a:prstGeom prst="roundRect">
              <a:avLst>
                <a:gd name="adj" fmla="val 4800"/>
              </a:avLst>
            </a:prstGeom>
            <a:solidFill>
              <a:schemeClr val="accent3"/>
            </a:solidFill>
            <a:ln>
              <a:noFill/>
            </a:ln>
          </p:spPr>
          <p:txBody>
            <a:bodyPr/>
            <a:p/>
          </p:txBody>
        </p:sp>
        <p:sp>
          <p:nvSpPr>
            <p:cNvPr id="9" name="TextBox 9"/>
            <p:cNvSpPr txBox="1"/>
            <p:nvPr/>
          </p:nvSpPr>
          <p:spPr>
            <a:xfrm>
              <a:off x="9971532" y="3651250"/>
              <a:ext cx="71247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遇到威胁或胁迫</a:t>
              </a:r>
            </a:p>
          </p:txBody>
        </p:sp>
        <p:sp>
          <p:nvSpPr>
            <p:cNvPr id="10" name="TextBox 10"/>
            <p:cNvSpPr txBox="1"/>
            <p:nvPr/>
          </p:nvSpPr>
          <p:spPr>
            <a:xfrm>
              <a:off x="9966960" y="4340225"/>
              <a:ext cx="7124700" cy="2339340"/>
            </a:xfrm>
            <a:prstGeom prst="rect">
              <a:avLst/>
            </a:prstGeom>
            <a:noFill/>
            <a:ln>
              <a:noFill/>
            </a:ln>
          </p:spPr>
          <p:txBody>
            <a:bodyPr wrap="none" lIns="0" tIns="0" rIns="0" bIns="0" anchor="t" anchorCtr="0">
              <a:noAutofit/>
            </a:bodyPr>
            <a:lstStyle/>
            <a:p>
              <a:pPr algn="l">
                <a:lnSpc>
                  <a:spcPts val="6900"/>
                </a:lnSpc>
              </a:pPr>
              <a:r>
                <a:rPr lang="zh-CN" sz="3000" dirty="0">
                  <a:solidFill>
                    <a:schemeClr val="dk1"/>
                  </a:solidFill>
                  <a:latin typeface="+mn-lt"/>
                  <a:ea typeface="+mn-ea"/>
                  <a:cs typeface="+mn-cs"/>
                </a:rPr>
                <a:t>不要继续发送；</a:t>
              </a:r>
              <a:br>
                <a:rPr lang="zh-CN" sz="3000" dirty="0">
                  <a:solidFill>
                    <a:schemeClr val="dk1"/>
                  </a:solidFill>
                  <a:latin typeface="+mn-lt"/>
                  <a:ea typeface="+mn-ea"/>
                  <a:cs typeface="+mn-cs"/>
                </a:rPr>
              </a:br>
              <a:r>
                <a:rPr lang="zh-CN" sz="3000" dirty="0">
                  <a:solidFill>
                    <a:schemeClr val="dk1"/>
                  </a:solidFill>
                  <a:latin typeface="+mn-lt"/>
                  <a:ea typeface="+mn-ea"/>
                  <a:cs typeface="+mn-cs"/>
                </a:rPr>
                <a:t>留存证据；</a:t>
              </a:r>
              <a:br>
                <a:rPr lang="zh-CN" sz="3000" dirty="0">
                  <a:solidFill>
                    <a:schemeClr val="dk1"/>
                  </a:solidFill>
                  <a:latin typeface="+mn-lt"/>
                  <a:ea typeface="+mn-ea"/>
                  <a:cs typeface="+mn-cs"/>
                </a:rPr>
              </a:br>
              <a:r>
                <a:rPr lang="zh-CN" sz="3000" dirty="0">
                  <a:solidFill>
                    <a:schemeClr val="dk1"/>
                  </a:solidFill>
                  <a:latin typeface="+mn-lt"/>
                  <a:ea typeface="+mn-ea"/>
                  <a:cs typeface="+mn-cs"/>
                </a:rPr>
                <a:t>尽快找可信赖成人和学校处理。</a:t>
              </a:r>
            </a:p>
          </p:txBody>
        </p:sp>
      </p:grpSp>
      <p:sp>
        <p:nvSpPr>
          <p:cNvPr id="12"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不展示私密图像，也不鼓励公开对方资料。</a:t>
            </a:r>
          </a:p>
        </p:txBody>
      </p:sp>
      <p:sp>
        <p:nvSpPr>
          <p:cNvPr id="13"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18 / 32　·　3 分钟</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8359140" cy="1384300"/>
            <a:chOff x="895350" y="908050"/>
            <a:chExt cx="8359140"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03　数字生活与关系　/　提出具体请求</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同伴与家人：把争吵变成一个请求</a:t>
              </a:r>
            </a:p>
          </p:txBody>
        </p:sp>
      </p:grpSp>
      <p:grpSp>
        <p:nvGrpSpPr>
          <p:cNvPr id="7" name="accusation"/>
          <p:cNvGrpSpPr/>
          <p:nvPr/>
        </p:nvGrpSpPr>
        <p:grpSpPr>
          <a:xfrm>
            <a:off x="914400" y="3048000"/>
            <a:ext cx="10287000" cy="1238250"/>
            <a:chOff x="914400" y="3048000"/>
            <a:chExt cx="10287000" cy="1238250"/>
          </a:xfrm>
        </p:grpSpPr>
        <p:sp>
          <p:nvSpPr>
            <p:cNvPr id="5" name="Rectangle 5"/>
            <p:cNvSpPr/>
            <p:nvPr/>
          </p:nvSpPr>
          <p:spPr>
            <a:xfrm>
              <a:off x="914400" y="3048000"/>
              <a:ext cx="10287000" cy="1238250"/>
            </a:xfrm>
            <a:prstGeom prst="roundRect">
              <a:avLst>
                <a:gd name="adj" fmla="val 18462"/>
              </a:avLst>
            </a:prstGeom>
            <a:solidFill>
              <a:schemeClr val="accent3"/>
            </a:solidFill>
            <a:ln>
              <a:noFill/>
            </a:ln>
          </p:spPr>
          <p:txBody>
            <a:bodyPr/>
            <a:p/>
          </p:txBody>
        </p:sp>
        <p:sp>
          <p:nvSpPr>
            <p:cNvPr id="6" name="TextBox 6"/>
            <p:cNvSpPr txBox="1"/>
            <p:nvPr/>
          </p:nvSpPr>
          <p:spPr>
            <a:xfrm>
              <a:off x="1318260" y="3441700"/>
              <a:ext cx="9829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“你只会说我玩手机。”</a:t>
              </a:r>
            </a:p>
          </p:txBody>
        </p:sp>
      </p:grpSp>
      <p:grpSp>
        <p:nvGrpSpPr>
          <p:cNvPr id="11" name="request"/>
          <p:cNvGrpSpPr/>
          <p:nvPr/>
        </p:nvGrpSpPr>
        <p:grpSpPr>
          <a:xfrm>
            <a:off x="2571750" y="4810125"/>
            <a:ext cx="14801850" cy="3381375"/>
            <a:chOff x="2571750" y="4810125"/>
            <a:chExt cx="14801850" cy="3381375"/>
          </a:xfrm>
        </p:grpSpPr>
        <p:sp>
          <p:nvSpPr>
            <p:cNvPr id="8" name="Rectangle 8"/>
            <p:cNvSpPr/>
            <p:nvPr/>
          </p:nvSpPr>
          <p:spPr>
            <a:xfrm>
              <a:off x="2571750" y="4810125"/>
              <a:ext cx="14801850" cy="3381375"/>
            </a:xfrm>
            <a:prstGeom prst="roundRect">
              <a:avLst>
                <a:gd name="adj" fmla="val 6761"/>
              </a:avLst>
            </a:prstGeom>
            <a:solidFill>
              <a:schemeClr val="lt2"/>
            </a:solidFill>
            <a:ln>
              <a:noFill/>
            </a:ln>
          </p:spPr>
          <p:txBody>
            <a:bodyPr/>
            <a:p/>
          </p:txBody>
        </p:sp>
        <p:sp>
          <p:nvSpPr>
            <p:cNvPr id="9" name="TextBox 9"/>
            <p:cNvSpPr txBox="1"/>
            <p:nvPr/>
          </p:nvSpPr>
          <p:spPr>
            <a:xfrm>
              <a:off x="3034284" y="5067300"/>
              <a:ext cx="14287500" cy="1747266"/>
            </a:xfrm>
            <a:prstGeom prst="rect">
              <a:avLst/>
            </a:prstGeom>
            <a:noFill/>
            <a:ln>
              <a:noFill/>
            </a:ln>
          </p:spPr>
          <p:txBody>
            <a:bodyPr wrap="none" lIns="0" tIns="0" rIns="0" bIns="0" anchor="t" anchorCtr="0">
              <a:noAutofit/>
            </a:bodyPr>
            <a:lstStyle/>
            <a:p>
              <a:pPr algn="l">
                <a:lnSpc>
                  <a:spcPts val="4800"/>
                </a:lnSpc>
              </a:pPr>
              <a:r>
                <a:rPr lang="zh-CN" sz="2700" dirty="0">
                  <a:solidFill>
                    <a:schemeClr val="dk1"/>
                  </a:solidFill>
                  <a:latin typeface="+mn-lt"/>
                  <a:ea typeface="+mn-ea"/>
                  <a:cs typeface="+mn-cs"/>
                </a:rPr>
                <a:t>“我知道你担心成绩。我想先说完我的计划。</a:t>
              </a:r>
              <a:br>
                <a:rPr lang="zh-CN" sz="2700" dirty="0">
                  <a:solidFill>
                    <a:schemeClr val="dk1"/>
                  </a:solidFill>
                  <a:latin typeface="+mn-lt"/>
                  <a:ea typeface="+mn-ea"/>
                  <a:cs typeface="+mn-cs"/>
                </a:rPr>
              </a:br>
              <a:r>
                <a:rPr lang="zh-CN" sz="2700" dirty="0">
                  <a:solidFill>
                    <a:schemeClr val="dk1"/>
                  </a:solidFill>
                  <a:latin typeface="+mn-lt"/>
                  <a:ea typeface="+mn-ea"/>
                  <a:cs typeface="+mn-cs"/>
                </a:rPr>
                <a:t>今晚 9 点到 9 点半休息，我会把手机放客厅，</a:t>
              </a:r>
              <a:br>
                <a:rPr lang="zh-CN" sz="2700" dirty="0">
                  <a:solidFill>
                    <a:schemeClr val="dk1"/>
                  </a:solidFill>
                  <a:latin typeface="+mn-lt"/>
                  <a:ea typeface="+mn-ea"/>
                  <a:cs typeface="+mn-cs"/>
                </a:rPr>
              </a:br>
              <a:r>
                <a:rPr lang="zh-CN" sz="2700" dirty="0">
                  <a:solidFill>
                    <a:schemeClr val="dk1"/>
                  </a:solidFill>
                  <a:latin typeface="+mn-lt"/>
                  <a:ea typeface="+mn-ea"/>
                  <a:cs typeface="+mn-cs"/>
                </a:rPr>
                <a:t>我们试一周好吗？”</a:t>
              </a:r>
            </a:p>
          </p:txBody>
        </p:sp>
        <p:sp>
          <p:nvSpPr>
            <p:cNvPr id="10" name="TextBox 10"/>
            <p:cNvSpPr txBox="1"/>
            <p:nvPr/>
          </p:nvSpPr>
          <p:spPr>
            <a:xfrm>
              <a:off x="3037332" y="7404100"/>
              <a:ext cx="142875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承认担心 · 说清计划 · 提出可检验的约定</a:t>
              </a:r>
            </a:p>
          </p:txBody>
        </p:sp>
      </p:grpSp>
      <p:sp>
        <p:nvSpPr>
          <p:cNvPr id="12" name="safety"/>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若关系中存在恐吓或暴力，优先找其他可信赖成人，不要求独自沟通。</a:t>
            </a:r>
          </a:p>
        </p:txBody>
      </p:sp>
      <p:sp>
        <p:nvSpPr>
          <p:cNvPr id="13"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虚构话术 · 请求要具体、可检验</a:t>
            </a:r>
          </a:p>
        </p:txBody>
      </p:sp>
      <p:sp>
        <p:nvSpPr>
          <p:cNvPr id="14"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19 / 32　·　4 分钟</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9163507" cy="1371600"/>
            <a:chOff x="895350" y="908050"/>
            <a:chExt cx="9163507" cy="13716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04　AI 与学习　/　学习闭环</a:t>
              </a:r>
            </a:p>
          </p:txBody>
        </p:sp>
        <p:sp>
          <p:nvSpPr>
            <p:cNvPr id="3" name="TextBox 3"/>
            <p:cNvSpPr txBox="1"/>
            <p:nvPr/>
          </p:nvSpPr>
          <p:spPr>
            <a:xfrm>
              <a:off x="895350" y="15176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没有 AI 的时候，我们怎样学会一道题</a:t>
              </a:r>
            </a:p>
          </p:txBody>
        </p:sp>
      </p:grpSp>
      <p:grpSp>
        <p:nvGrpSpPr>
          <p:cNvPr id="16" name="learning-route"/>
          <p:cNvGrpSpPr/>
          <p:nvPr/>
        </p:nvGrpSpPr>
        <p:grpSpPr>
          <a:xfrm>
            <a:off x="1314450" y="3394075"/>
            <a:ext cx="3219450" cy="4396740"/>
            <a:chOff x="1314450" y="3394075"/>
            <a:chExt cx="3219450" cy="4396740"/>
          </a:xfrm>
        </p:grpSpPr>
        <p:sp>
          <p:nvSpPr>
            <p:cNvPr id="5" name="Line 5"/>
            <p:cNvSpPr/>
            <p:nvPr/>
          </p:nvSpPr>
          <p:spPr>
            <a:xfrm>
              <a:off x="1428750" y="3429000"/>
              <a:ext cx="9525" cy="4095750"/>
            </a:xfrm>
            <a:custGeom>
              <a:avLst/>
              <a:gdLst/>
              <a:ahLst/>
              <a:cxnLst/>
              <a:rect l="l" t="t" r="r" b="b"/>
              <a:pathLst>
                <a:path w="9525" h="4095750">
                  <a:moveTo>
                    <a:pt x="0" y="0"/>
                  </a:moveTo>
                  <a:lnTo>
                    <a:pt x="0" y="4095750"/>
                  </a:lnTo>
                </a:path>
              </a:pathLst>
            </a:custGeom>
            <a:noFill/>
            <a:ln w="38100">
              <a:solidFill>
                <a:schemeClr val="accent6"/>
              </a:solidFill>
            </a:ln>
          </p:spPr>
          <p:txBody>
            <a:bodyPr/>
            <a:p/>
          </p:txBody>
        </p:sp>
        <p:sp>
          <p:nvSpPr>
            <p:cNvPr id="6" name="Ellipse 6"/>
            <p:cNvSpPr/>
            <p:nvPr/>
          </p:nvSpPr>
          <p:spPr>
            <a:xfrm>
              <a:off x="1314450" y="3505200"/>
              <a:ext cx="228600" cy="228600"/>
            </a:xfrm>
            <a:prstGeom prst="ellipse">
              <a:avLst/>
            </a:prstGeom>
            <a:solidFill>
              <a:schemeClr val="accent1"/>
            </a:solidFill>
            <a:ln>
              <a:noFill/>
            </a:ln>
          </p:spPr>
          <p:txBody>
            <a:bodyPr/>
            <a:p/>
          </p:txBody>
        </p:sp>
        <p:sp>
          <p:nvSpPr>
            <p:cNvPr id="7" name="Ellipse 7"/>
            <p:cNvSpPr/>
            <p:nvPr/>
          </p:nvSpPr>
          <p:spPr>
            <a:xfrm>
              <a:off x="1314450" y="4457700"/>
              <a:ext cx="228600" cy="228600"/>
            </a:xfrm>
            <a:prstGeom prst="ellipse">
              <a:avLst/>
            </a:prstGeom>
            <a:solidFill>
              <a:schemeClr val="accent1"/>
            </a:solidFill>
            <a:ln>
              <a:noFill/>
            </a:ln>
          </p:spPr>
          <p:txBody>
            <a:bodyPr/>
            <a:p/>
          </p:txBody>
        </p:sp>
        <p:sp>
          <p:nvSpPr>
            <p:cNvPr id="8" name="Ellipse 8"/>
            <p:cNvSpPr/>
            <p:nvPr/>
          </p:nvSpPr>
          <p:spPr>
            <a:xfrm>
              <a:off x="1314450" y="5410200"/>
              <a:ext cx="228600" cy="228600"/>
            </a:xfrm>
            <a:prstGeom prst="ellipse">
              <a:avLst/>
            </a:prstGeom>
            <a:solidFill>
              <a:schemeClr val="accent1"/>
            </a:solidFill>
            <a:ln>
              <a:noFill/>
            </a:ln>
          </p:spPr>
          <p:txBody>
            <a:bodyPr/>
            <a:p/>
          </p:txBody>
        </p:sp>
        <p:sp>
          <p:nvSpPr>
            <p:cNvPr id="9" name="Ellipse 9"/>
            <p:cNvSpPr/>
            <p:nvPr/>
          </p:nvSpPr>
          <p:spPr>
            <a:xfrm>
              <a:off x="1314450" y="6362700"/>
              <a:ext cx="228600" cy="228600"/>
            </a:xfrm>
            <a:prstGeom prst="ellipse">
              <a:avLst/>
            </a:prstGeom>
            <a:solidFill>
              <a:schemeClr val="accent1"/>
            </a:solidFill>
            <a:ln>
              <a:noFill/>
            </a:ln>
          </p:spPr>
          <p:txBody>
            <a:bodyPr/>
            <a:p/>
          </p:txBody>
        </p:sp>
        <p:sp>
          <p:nvSpPr>
            <p:cNvPr id="10" name="Ellipse 10"/>
            <p:cNvSpPr/>
            <p:nvPr/>
          </p:nvSpPr>
          <p:spPr>
            <a:xfrm>
              <a:off x="1314450" y="7315200"/>
              <a:ext cx="228600" cy="228600"/>
            </a:xfrm>
            <a:prstGeom prst="ellipse">
              <a:avLst/>
            </a:prstGeom>
            <a:solidFill>
              <a:schemeClr val="accent2"/>
            </a:solidFill>
            <a:ln>
              <a:noFill/>
            </a:ln>
          </p:spPr>
          <p:txBody>
            <a:bodyPr/>
            <a:p/>
          </p:txBody>
        </p:sp>
        <p:sp>
          <p:nvSpPr>
            <p:cNvPr id="11" name="TextBox 11"/>
            <p:cNvSpPr txBox="1"/>
            <p:nvPr/>
          </p:nvSpPr>
          <p:spPr>
            <a:xfrm>
              <a:off x="2080260" y="3394075"/>
              <a:ext cx="8305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先试解</a:t>
              </a:r>
            </a:p>
          </p:txBody>
        </p:sp>
        <p:sp>
          <p:nvSpPr>
            <p:cNvPr id="12" name="TextBox 12"/>
            <p:cNvSpPr txBox="1"/>
            <p:nvPr/>
          </p:nvSpPr>
          <p:spPr>
            <a:xfrm>
              <a:off x="2080260" y="4346575"/>
              <a:ext cx="8305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找卡住的步骤</a:t>
              </a:r>
            </a:p>
          </p:txBody>
        </p:sp>
        <p:sp>
          <p:nvSpPr>
            <p:cNvPr id="13" name="TextBox 13"/>
            <p:cNvSpPr txBox="1"/>
            <p:nvPr/>
          </p:nvSpPr>
          <p:spPr>
            <a:xfrm>
              <a:off x="2080260" y="5299075"/>
              <a:ext cx="8305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看讲解</a:t>
              </a:r>
            </a:p>
          </p:txBody>
        </p:sp>
        <p:sp>
          <p:nvSpPr>
            <p:cNvPr id="14" name="TextBox 14"/>
            <p:cNvSpPr txBox="1"/>
            <p:nvPr/>
          </p:nvSpPr>
          <p:spPr>
            <a:xfrm>
              <a:off x="2080260" y="6251575"/>
              <a:ext cx="8305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合上答案重做</a:t>
              </a:r>
            </a:p>
          </p:txBody>
        </p:sp>
        <p:sp>
          <p:nvSpPr>
            <p:cNvPr id="15" name="TextBox 15"/>
            <p:cNvSpPr txBox="1"/>
            <p:nvPr/>
          </p:nvSpPr>
          <p:spPr>
            <a:xfrm>
              <a:off x="2080260" y="7204075"/>
              <a:ext cx="83058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隔天再做</a:t>
              </a:r>
            </a:p>
          </p:txBody>
        </p:sp>
      </p:grpSp>
      <p:grpSp>
        <p:nvGrpSpPr>
          <p:cNvPr id="19" name="unchanged"/>
          <p:cNvGrpSpPr/>
          <p:nvPr/>
        </p:nvGrpSpPr>
        <p:grpSpPr>
          <a:xfrm>
            <a:off x="10936986" y="3917950"/>
            <a:ext cx="4607204" cy="3001518"/>
            <a:chOff x="10936986" y="3917950"/>
            <a:chExt cx="4607204" cy="3001518"/>
          </a:xfrm>
        </p:grpSpPr>
        <p:sp>
          <p:nvSpPr>
            <p:cNvPr id="17" name="TextBox 17"/>
            <p:cNvSpPr txBox="1"/>
            <p:nvPr/>
          </p:nvSpPr>
          <p:spPr>
            <a:xfrm>
              <a:off x="10936986" y="3917950"/>
              <a:ext cx="6057900" cy="1388364"/>
            </a:xfrm>
            <a:prstGeom prst="rect">
              <a:avLst/>
            </a:prstGeom>
            <a:noFill/>
            <a:ln>
              <a:noFill/>
            </a:ln>
          </p:spPr>
          <p:txBody>
            <a:bodyPr wrap="none" lIns="0" tIns="0" rIns="0" bIns="0" anchor="t" anchorCtr="0">
              <a:noAutofit/>
            </a:bodyPr>
            <a:lstStyle/>
            <a:p>
              <a:pPr algn="l">
                <a:lnSpc>
                  <a:spcPts val="5850"/>
                </a:lnSpc>
              </a:pPr>
              <a:r>
                <a:rPr lang="zh-CN" sz="3300" dirty="0">
                  <a:solidFill>
                    <a:schemeClr val="accent1"/>
                  </a:solidFill>
                  <a:latin typeface="+mn-lt"/>
                  <a:ea typeface="+mn-ea"/>
                  <a:cs typeface="+mn-cs"/>
                </a:rPr>
                <a:t>AI 出现后，</a:t>
              </a:r>
              <a:br>
                <a:rPr lang="zh-CN" sz="3300" dirty="0">
                  <a:solidFill>
                    <a:schemeClr val="accent1"/>
                  </a:solidFill>
                  <a:latin typeface="+mn-lt"/>
                  <a:ea typeface="+mn-ea"/>
                  <a:cs typeface="+mn-cs"/>
                </a:rPr>
              </a:br>
              <a:r>
                <a:rPr lang="zh-CN" sz="3300" dirty="0">
                  <a:solidFill>
                    <a:schemeClr val="accent1"/>
                  </a:solidFill>
                  <a:latin typeface="+mn-lt"/>
                  <a:ea typeface="+mn-ea"/>
                  <a:cs typeface="+mn-cs"/>
                </a:rPr>
                <a:t>这个闭环仍然重要。</a:t>
              </a:r>
            </a:p>
          </p:txBody>
        </p:sp>
        <p:sp>
          <p:nvSpPr>
            <p:cNvPr id="18" name="TextBox 18"/>
            <p:cNvSpPr txBox="1"/>
            <p:nvPr/>
          </p:nvSpPr>
          <p:spPr>
            <a:xfrm>
              <a:off x="10943082" y="6508750"/>
              <a:ext cx="60579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“会解释”与“能独立做”，仍需区分。</a:t>
              </a:r>
            </a:p>
          </p:txBody>
        </p:sp>
      </p:grpSp>
      <p:sp>
        <p:nvSpPr>
          <p:cNvPr id="20"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先保留学习动作，再决定工具怎么加入。</a:t>
            </a:r>
          </a:p>
        </p:txBody>
      </p:sp>
      <p:sp>
        <p:nvSpPr>
          <p:cNvPr id="21"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20 / 32　·　3 分钟</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6778142" cy="1371600"/>
            <a:chOff x="895350" y="908050"/>
            <a:chExt cx="6778142" cy="13716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04　AI 与学习　/　工具的角色</a:t>
              </a:r>
            </a:p>
          </p:txBody>
        </p:sp>
        <p:sp>
          <p:nvSpPr>
            <p:cNvPr id="3" name="TextBox 3"/>
            <p:cNvSpPr txBox="1"/>
            <p:nvPr/>
          </p:nvSpPr>
          <p:spPr>
            <a:xfrm>
              <a:off x="895350" y="15176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AI 可以当什么样的学习助手</a:t>
              </a:r>
            </a:p>
          </p:txBody>
        </p:sp>
      </p:grpSp>
      <p:grpSp>
        <p:nvGrpSpPr>
          <p:cNvPr id="7" name="roles"/>
          <p:cNvGrpSpPr/>
          <p:nvPr/>
        </p:nvGrpSpPr>
        <p:grpSpPr>
          <a:xfrm>
            <a:off x="1127760" y="3460750"/>
            <a:ext cx="2316480" cy="3672840"/>
            <a:chOff x="1127760" y="3460750"/>
            <a:chExt cx="2316480" cy="3672840"/>
          </a:xfrm>
        </p:grpSpPr>
        <p:sp>
          <p:nvSpPr>
            <p:cNvPr id="5" name="TextBox 5"/>
            <p:cNvSpPr txBox="1"/>
            <p:nvPr/>
          </p:nvSpPr>
          <p:spPr>
            <a:xfrm>
              <a:off x="1132332" y="3460750"/>
              <a:ext cx="69723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可以请它</a:t>
              </a:r>
            </a:p>
          </p:txBody>
        </p:sp>
        <p:sp>
          <p:nvSpPr>
            <p:cNvPr id="6" name="TextBox 6"/>
            <p:cNvSpPr txBox="1"/>
            <p:nvPr/>
          </p:nvSpPr>
          <p:spPr>
            <a:xfrm>
              <a:off x="1127760" y="4032250"/>
              <a:ext cx="6972300" cy="3101340"/>
            </a:xfrm>
            <a:prstGeom prst="rect">
              <a:avLst/>
            </a:prstGeom>
            <a:noFill/>
            <a:ln>
              <a:noFill/>
            </a:ln>
          </p:spPr>
          <p:txBody>
            <a:bodyPr wrap="none" lIns="0" tIns="0" rIns="0" bIns="0" anchor="t" anchorCtr="0">
              <a:noAutofit/>
            </a:bodyPr>
            <a:lstStyle/>
            <a:p>
              <a:pPr algn="l">
                <a:lnSpc>
                  <a:spcPts val="6600"/>
                </a:lnSpc>
              </a:pPr>
              <a:r>
                <a:rPr lang="zh-CN" sz="3000" dirty="0">
                  <a:solidFill>
                    <a:schemeClr val="dk1"/>
                  </a:solidFill>
                  <a:latin typeface="+mn-lt"/>
                  <a:ea typeface="+mn-ea"/>
                  <a:cs typeface="+mn-cs"/>
                </a:rPr>
                <a:t>给提示</a:t>
              </a:r>
              <a:br>
                <a:rPr lang="zh-CN" sz="3000" dirty="0">
                  <a:solidFill>
                    <a:schemeClr val="dk1"/>
                  </a:solidFill>
                  <a:latin typeface="+mn-lt"/>
                  <a:ea typeface="+mn-ea"/>
                  <a:cs typeface="+mn-cs"/>
                </a:rPr>
              </a:br>
              <a:r>
                <a:rPr lang="zh-CN" sz="3000" dirty="0">
                  <a:solidFill>
                    <a:schemeClr val="dk1"/>
                  </a:solidFill>
                  <a:latin typeface="+mn-lt"/>
                  <a:ea typeface="+mn-ea"/>
                  <a:cs typeface="+mn-cs"/>
                </a:rPr>
                <a:t>生成同类练习</a:t>
              </a:r>
              <a:br>
                <a:rPr lang="zh-CN" sz="3000" dirty="0">
                  <a:solidFill>
                    <a:schemeClr val="dk1"/>
                  </a:solidFill>
                  <a:latin typeface="+mn-lt"/>
                  <a:ea typeface="+mn-ea"/>
                  <a:cs typeface="+mn-cs"/>
                </a:rPr>
              </a:br>
              <a:r>
                <a:rPr lang="zh-CN" sz="3000" dirty="0">
                  <a:solidFill>
                    <a:schemeClr val="dk1"/>
                  </a:solidFill>
                  <a:latin typeface="+mn-lt"/>
                  <a:ea typeface="+mn-ea"/>
                  <a:cs typeface="+mn-cs"/>
                </a:rPr>
                <a:t>对照解题路径</a:t>
              </a:r>
              <a:br>
                <a:rPr lang="zh-CN" sz="3000" dirty="0">
                  <a:solidFill>
                    <a:schemeClr val="dk1"/>
                  </a:solidFill>
                  <a:latin typeface="+mn-lt"/>
                  <a:ea typeface="+mn-ea"/>
                  <a:cs typeface="+mn-cs"/>
                </a:rPr>
              </a:br>
              <a:r>
                <a:rPr lang="zh-CN" sz="3000" dirty="0">
                  <a:solidFill>
                    <a:schemeClr val="dk1"/>
                  </a:solidFill>
                  <a:latin typeface="+mn-lt"/>
                  <a:ea typeface="+mn-ea"/>
                  <a:cs typeface="+mn-cs"/>
                </a:rPr>
                <a:t>扮演提问者</a:t>
              </a:r>
            </a:p>
          </p:txBody>
        </p:sp>
      </p:grpSp>
      <p:grpSp>
        <p:nvGrpSpPr>
          <p:cNvPr id="12" name="prompt"/>
          <p:cNvGrpSpPr/>
          <p:nvPr/>
        </p:nvGrpSpPr>
        <p:grpSpPr>
          <a:xfrm>
            <a:off x="9144000" y="3143250"/>
            <a:ext cx="8229600" cy="4667250"/>
            <a:chOff x="9144000" y="3143250"/>
            <a:chExt cx="8229600" cy="4667250"/>
          </a:xfrm>
        </p:grpSpPr>
        <p:sp>
          <p:nvSpPr>
            <p:cNvPr id="8" name="Rectangle 8"/>
            <p:cNvSpPr/>
            <p:nvPr/>
          </p:nvSpPr>
          <p:spPr>
            <a:xfrm>
              <a:off x="9144000" y="3143250"/>
              <a:ext cx="8229600" cy="4667250"/>
            </a:xfrm>
            <a:prstGeom prst="roundRect">
              <a:avLst>
                <a:gd name="adj" fmla="val 4898"/>
              </a:avLst>
            </a:prstGeom>
            <a:solidFill>
              <a:schemeClr val="lt2"/>
            </a:solidFill>
            <a:ln>
              <a:noFill/>
            </a:ln>
          </p:spPr>
          <p:txBody>
            <a:bodyPr/>
            <a:p/>
          </p:txBody>
        </p:sp>
        <p:sp>
          <p:nvSpPr>
            <p:cNvPr id="9" name="TextBox 9"/>
            <p:cNvSpPr txBox="1"/>
            <p:nvPr/>
          </p:nvSpPr>
          <p:spPr>
            <a:xfrm>
              <a:off x="9590532" y="3575050"/>
              <a:ext cx="77343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示例提示</a:t>
              </a:r>
            </a:p>
          </p:txBody>
        </p:sp>
        <p:sp>
          <p:nvSpPr>
            <p:cNvPr id="10" name="TextBox 10"/>
            <p:cNvSpPr txBox="1"/>
            <p:nvPr/>
          </p:nvSpPr>
          <p:spPr>
            <a:xfrm>
              <a:off x="9585960" y="4368800"/>
              <a:ext cx="7734300" cy="1920240"/>
            </a:xfrm>
            <a:prstGeom prst="rect">
              <a:avLst/>
            </a:prstGeom>
            <a:noFill/>
            <a:ln>
              <a:noFill/>
            </a:ln>
          </p:spPr>
          <p:txBody>
            <a:bodyPr wrap="none" lIns="0" tIns="0" rIns="0" bIns="0" anchor="t" anchorCtr="0">
              <a:noAutofit/>
            </a:bodyPr>
            <a:lstStyle/>
            <a:p>
              <a:pPr algn="l">
                <a:lnSpc>
                  <a:spcPts val="5250"/>
                </a:lnSpc>
              </a:pPr>
              <a:r>
                <a:rPr lang="zh-CN" sz="3000" dirty="0">
                  <a:solidFill>
                    <a:schemeClr val="dk1"/>
                  </a:solidFill>
                  <a:latin typeface="+mn-lt"/>
                  <a:ea typeface="+mn-ea"/>
                  <a:cs typeface="+mn-cs"/>
                </a:rPr>
                <a:t>“别直接给答案。</a:t>
              </a:r>
              <a:br>
                <a:rPr lang="zh-CN" sz="3000" dirty="0">
                  <a:solidFill>
                    <a:schemeClr val="dk1"/>
                  </a:solidFill>
                  <a:latin typeface="+mn-lt"/>
                  <a:ea typeface="+mn-ea"/>
                  <a:cs typeface="+mn-cs"/>
                </a:rPr>
              </a:br>
              <a:r>
                <a:rPr lang="zh-CN" sz="3000" dirty="0">
                  <a:solidFill>
                    <a:schemeClr val="dk1"/>
                  </a:solidFill>
                  <a:latin typeface="+mn-lt"/>
                  <a:ea typeface="+mn-ea"/>
                  <a:cs typeface="+mn-cs"/>
                </a:rPr>
                <a:t>先问我已做到哪一步，</a:t>
              </a:r>
              <a:br>
                <a:rPr lang="zh-CN" sz="3000" dirty="0">
                  <a:solidFill>
                    <a:schemeClr val="dk1"/>
                  </a:solidFill>
                  <a:latin typeface="+mn-lt"/>
                  <a:ea typeface="+mn-ea"/>
                  <a:cs typeface="+mn-cs"/>
                </a:rPr>
              </a:br>
              <a:r>
                <a:rPr lang="zh-CN" sz="3000" dirty="0">
                  <a:solidFill>
                    <a:schemeClr val="dk1"/>
                  </a:solidFill>
                  <a:latin typeface="+mn-lt"/>
                  <a:ea typeface="+mn-ea"/>
                  <a:cs typeface="+mn-cs"/>
                </a:rPr>
                <a:t>再给一个提示。”</a:t>
              </a:r>
            </a:p>
          </p:txBody>
        </p:sp>
        <p:sp>
          <p:nvSpPr>
            <p:cNvPr id="11" name="TextBox 11"/>
            <p:cNvSpPr txBox="1"/>
            <p:nvPr/>
          </p:nvSpPr>
          <p:spPr>
            <a:xfrm>
              <a:off x="9590532" y="6985000"/>
              <a:ext cx="77343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拿到提示后，自己再做一次。</a:t>
              </a:r>
            </a:p>
          </p:txBody>
        </p:sp>
      </p:grpSp>
      <p:sp>
        <p:nvSpPr>
          <p:cNvPr id="13"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UNESCO, 2023 [S08]；2024 [S09]　｜　遵守学校作业与考试规则，需要时披露 AI 协助。</a:t>
            </a:r>
          </a:p>
        </p:txBody>
      </p:sp>
      <p:sp>
        <p:nvSpPr>
          <p:cNvPr id="14"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静态示范即可，不需登录学生账号。</a:t>
            </a:r>
          </a:p>
        </p:txBody>
      </p:sp>
      <p:sp>
        <p:nvSpPr>
          <p:cNvPr id="15"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21 / 32　·　4 分钟</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7332878" cy="1371600"/>
            <a:chOff x="895350" y="908050"/>
            <a:chExt cx="7332878" cy="13716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04　AI 与学习　/　练习核查</a:t>
              </a:r>
            </a:p>
          </p:txBody>
        </p:sp>
        <p:sp>
          <p:nvSpPr>
            <p:cNvPr id="3" name="TextBox 3"/>
            <p:cNvSpPr txBox="1"/>
            <p:nvPr/>
          </p:nvSpPr>
          <p:spPr>
            <a:xfrm>
              <a:off x="895350" y="15176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AI 的三个坑：顺滑答案也会错</a:t>
              </a:r>
            </a:p>
          </p:txBody>
        </p:sp>
      </p:grpSp>
      <p:grpSp>
        <p:nvGrpSpPr>
          <p:cNvPr id="7" name="risks"/>
          <p:cNvGrpSpPr/>
          <p:nvPr/>
        </p:nvGrpSpPr>
        <p:grpSpPr>
          <a:xfrm>
            <a:off x="1127760" y="3508375"/>
            <a:ext cx="3840480" cy="3082290"/>
            <a:chOff x="1127760" y="3508375"/>
            <a:chExt cx="3840480" cy="3082290"/>
          </a:xfrm>
        </p:grpSpPr>
        <p:sp>
          <p:nvSpPr>
            <p:cNvPr id="5" name="TextBox 5"/>
            <p:cNvSpPr txBox="1"/>
            <p:nvPr/>
          </p:nvSpPr>
          <p:spPr>
            <a:xfrm>
              <a:off x="1132332" y="3508375"/>
              <a:ext cx="71628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不能只看“回答很顺”</a:t>
              </a:r>
            </a:p>
          </p:txBody>
        </p:sp>
        <p:sp>
          <p:nvSpPr>
            <p:cNvPr id="6" name="TextBox 6"/>
            <p:cNvSpPr txBox="1"/>
            <p:nvPr/>
          </p:nvSpPr>
          <p:spPr>
            <a:xfrm>
              <a:off x="1127760" y="4098925"/>
              <a:ext cx="7162800" cy="2491740"/>
            </a:xfrm>
            <a:prstGeom prst="rect">
              <a:avLst/>
            </a:prstGeom>
            <a:noFill/>
            <a:ln>
              <a:noFill/>
            </a:ln>
          </p:spPr>
          <p:txBody>
            <a:bodyPr wrap="none" lIns="0" tIns="0" rIns="0" bIns="0" anchor="t" anchorCtr="0">
              <a:noAutofit/>
            </a:bodyPr>
            <a:lstStyle/>
            <a:p>
              <a:pPr algn="l">
                <a:lnSpc>
                  <a:spcPts val="7500"/>
                </a:lnSpc>
              </a:pPr>
              <a:r>
                <a:rPr lang="zh-CN" sz="3000" dirty="0">
                  <a:solidFill>
                    <a:schemeClr val="dk1"/>
                  </a:solidFill>
                  <a:latin typeface="+mn-lt"/>
                  <a:ea typeface="+mn-ea"/>
                  <a:cs typeface="+mn-cs"/>
                </a:rPr>
                <a:t>编造来源</a:t>
              </a:r>
              <a:br>
                <a:rPr lang="zh-CN" sz="3000" dirty="0">
                  <a:solidFill>
                    <a:schemeClr val="dk1"/>
                  </a:solidFill>
                  <a:latin typeface="+mn-lt"/>
                  <a:ea typeface="+mn-ea"/>
                  <a:cs typeface="+mn-cs"/>
                </a:rPr>
              </a:br>
              <a:r>
                <a:rPr lang="zh-CN" sz="3000" dirty="0">
                  <a:solidFill>
                    <a:schemeClr val="dk1"/>
                  </a:solidFill>
                  <a:latin typeface="+mn-lt"/>
                  <a:ea typeface="+mn-ea"/>
                  <a:cs typeface="+mn-cs"/>
                </a:rPr>
                <a:t>省略关键条件</a:t>
              </a:r>
              <a:br>
                <a:rPr lang="zh-CN" sz="3000" dirty="0">
                  <a:solidFill>
                    <a:schemeClr val="dk1"/>
                  </a:solidFill>
                  <a:latin typeface="+mn-lt"/>
                  <a:ea typeface="+mn-ea"/>
                  <a:cs typeface="+mn-cs"/>
                </a:rPr>
              </a:br>
              <a:r>
                <a:rPr lang="zh-CN" sz="3000" dirty="0">
                  <a:solidFill>
                    <a:schemeClr val="dk1"/>
                  </a:solidFill>
                  <a:latin typeface="+mn-lt"/>
                  <a:ea typeface="+mn-ea"/>
                  <a:cs typeface="+mn-cs"/>
                </a:rPr>
                <a:t>替你写完，却没有学会</a:t>
              </a:r>
            </a:p>
          </p:txBody>
        </p:sp>
      </p:grpSp>
      <p:grpSp>
        <p:nvGrpSpPr>
          <p:cNvPr id="11" name="verification"/>
          <p:cNvGrpSpPr/>
          <p:nvPr/>
        </p:nvGrpSpPr>
        <p:grpSpPr>
          <a:xfrm>
            <a:off x="9525000" y="3095625"/>
            <a:ext cx="7620000" cy="4191000"/>
            <a:chOff x="9525000" y="3095625"/>
            <a:chExt cx="7620000" cy="4191000"/>
          </a:xfrm>
        </p:grpSpPr>
        <p:sp>
          <p:nvSpPr>
            <p:cNvPr id="8" name="Rectangle 8"/>
            <p:cNvSpPr/>
            <p:nvPr/>
          </p:nvSpPr>
          <p:spPr>
            <a:xfrm>
              <a:off x="9525000" y="3095625"/>
              <a:ext cx="7620000" cy="4191000"/>
            </a:xfrm>
            <a:prstGeom prst="roundRect">
              <a:avLst>
                <a:gd name="adj" fmla="val 5455"/>
              </a:avLst>
            </a:prstGeom>
            <a:solidFill>
              <a:schemeClr val="lt2"/>
            </a:solidFill>
            <a:ln>
              <a:noFill/>
            </a:ln>
          </p:spPr>
          <p:txBody>
            <a:bodyPr/>
            <a:p/>
          </p:txBody>
        </p:sp>
        <p:sp>
          <p:nvSpPr>
            <p:cNvPr id="9" name="TextBox 9"/>
            <p:cNvSpPr txBox="1"/>
            <p:nvPr/>
          </p:nvSpPr>
          <p:spPr>
            <a:xfrm>
              <a:off x="9971532" y="3508375"/>
              <a:ext cx="71247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把答案带回现实检验</a:t>
              </a:r>
            </a:p>
          </p:txBody>
        </p:sp>
        <p:sp>
          <p:nvSpPr>
            <p:cNvPr id="10" name="TextBox 10"/>
            <p:cNvSpPr txBox="1"/>
            <p:nvPr/>
          </p:nvSpPr>
          <p:spPr>
            <a:xfrm>
              <a:off x="9968484" y="4098925"/>
              <a:ext cx="7124700" cy="2433066"/>
            </a:xfrm>
            <a:prstGeom prst="rect">
              <a:avLst/>
            </a:prstGeom>
            <a:noFill/>
            <a:ln>
              <a:noFill/>
            </a:ln>
          </p:spPr>
          <p:txBody>
            <a:bodyPr wrap="none" lIns="0" tIns="0" rIns="0" bIns="0" anchor="t" anchorCtr="0">
              <a:noAutofit/>
            </a:bodyPr>
            <a:lstStyle/>
            <a:p>
              <a:pPr algn="l">
                <a:lnSpc>
                  <a:spcPts val="7500"/>
                </a:lnSpc>
              </a:pPr>
              <a:r>
                <a:rPr lang="zh-CN" sz="2700" dirty="0">
                  <a:solidFill>
                    <a:schemeClr val="dk1"/>
                  </a:solidFill>
                  <a:latin typeface="+mn-lt"/>
                  <a:ea typeface="+mn-ea"/>
                  <a:cs typeface="+mn-cs"/>
                </a:rPr>
                <a:t>回到课本或原始资料；</a:t>
              </a:r>
              <a:br>
                <a:rPr lang="zh-CN" sz="2700" dirty="0">
                  <a:solidFill>
                    <a:schemeClr val="dk1"/>
                  </a:solidFill>
                  <a:latin typeface="+mn-lt"/>
                  <a:ea typeface="+mn-ea"/>
                  <a:cs typeface="+mn-cs"/>
                </a:rPr>
              </a:br>
              <a:r>
                <a:rPr lang="zh-CN" sz="2700" dirty="0">
                  <a:solidFill>
                    <a:schemeClr val="dk1"/>
                  </a:solidFill>
                  <a:latin typeface="+mn-lt"/>
                  <a:ea typeface="+mn-ea"/>
                  <a:cs typeface="+mn-cs"/>
                </a:rPr>
                <a:t>合上答案，独立重做；</a:t>
              </a:r>
              <a:br>
                <a:rPr lang="zh-CN" sz="2700" dirty="0">
                  <a:solidFill>
                    <a:schemeClr val="dk1"/>
                  </a:solidFill>
                  <a:latin typeface="+mn-lt"/>
                  <a:ea typeface="+mn-ea"/>
                  <a:cs typeface="+mn-cs"/>
                </a:rPr>
              </a:br>
              <a:r>
                <a:rPr lang="zh-CN" sz="2700" dirty="0">
                  <a:solidFill>
                    <a:schemeClr val="dk1"/>
                  </a:solidFill>
                  <a:latin typeface="+mn-lt"/>
                  <a:ea typeface="+mn-ea"/>
                  <a:cs typeface="+mn-cs"/>
                </a:rPr>
                <a:t>请老师或同伴质疑你的解释。</a:t>
              </a:r>
            </a:p>
          </p:txBody>
        </p:sp>
      </p:grpSp>
      <p:grpSp>
        <p:nvGrpSpPr>
          <p:cNvPr id="13" name="math-example"/>
          <p:cNvGrpSpPr/>
          <p:nvPr/>
        </p:nvGrpSpPr>
        <p:grpSpPr>
          <a:xfrm>
            <a:off x="1132332" y="8032750"/>
            <a:ext cx="7470534" cy="410718"/>
            <a:chOff x="1132332" y="8032750"/>
            <a:chExt cx="7470534" cy="410718"/>
          </a:xfrm>
        </p:grpSpPr>
        <p:sp>
          <p:nvSpPr>
            <p:cNvPr id="12" name="TextBox 12"/>
            <p:cNvSpPr txBox="1"/>
            <p:nvPr/>
          </p:nvSpPr>
          <p:spPr>
            <a:xfrm>
              <a:off x="1132332" y="8032750"/>
              <a:ext cx="16192500" cy="410718"/>
            </a:xfrm>
            <a:prstGeom prst="rect">
              <a:avLst/>
            </a:prstGeom>
            <a:noFill/>
            <a:ln>
              <a:noFill/>
            </a:ln>
          </p:spPr>
          <p:txBody>
            <a:bodyPr wrap="none" lIns="0" tIns="0" rIns="0" bIns="0" anchor="t" anchorCtr="0">
              <a:noAutofit/>
            </a:bodyPr>
            <a:lstStyle/>
            <a:p>
              <a:pPr algn="l"/>
              <a:r>
                <a:rPr lang="zh-CN" sz="2100" dirty="0">
                  <a:solidFill>
                    <a:schemeClr val="dk1"/>
                  </a:solidFill>
                  <a:latin typeface="+mn-lt"/>
                  <a:ea typeface="+mn-ea"/>
                  <a:cs typeface="+mn-cs"/>
                </a:rPr>
                <a:t>虚构漏条件示例：“两边除以 x 即可”——先检查 x 能否为 0。</a:t>
              </a:r>
            </a:p>
          </p:txBody>
        </p:sp>
      </p:grpSp>
      <p:sp>
        <p:nvSpPr>
          <p:cNvPr id="14"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UNESCO, 2023 [S08]；2024 [S09]　｜　示例为课堂自制，不是真实 AI 输出。</a:t>
            </a:r>
          </a:p>
        </p:txBody>
      </p:sp>
      <p:sp>
        <p:nvSpPr>
          <p:cNvPr id="15"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结论是建立核查习惯。</a:t>
            </a:r>
          </a:p>
        </p:txBody>
      </p:sp>
      <p:sp>
        <p:nvSpPr>
          <p:cNvPr id="16"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22 / 32　·　4 分钟</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10023348" cy="1384300"/>
            <a:chOff x="895350" y="908050"/>
            <a:chExt cx="10023348"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04　AI 与学习　/　隐私与依赖</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隐私与依赖：有些内容别交给聊天机器人</a:t>
              </a:r>
            </a:p>
          </p:txBody>
        </p:sp>
      </p:grpSp>
      <p:grpSp>
        <p:nvGrpSpPr>
          <p:cNvPr id="7" name="private-data"/>
          <p:cNvGrpSpPr/>
          <p:nvPr/>
        </p:nvGrpSpPr>
        <p:grpSpPr>
          <a:xfrm>
            <a:off x="1032510" y="3632200"/>
            <a:ext cx="3840480" cy="2736215"/>
            <a:chOff x="1032510" y="3632200"/>
            <a:chExt cx="3840480" cy="2736215"/>
          </a:xfrm>
        </p:grpSpPr>
        <p:sp>
          <p:nvSpPr>
            <p:cNvPr id="5" name="TextBox 5"/>
            <p:cNvSpPr txBox="1"/>
            <p:nvPr/>
          </p:nvSpPr>
          <p:spPr>
            <a:xfrm>
              <a:off x="1037082" y="3632200"/>
              <a:ext cx="73533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不要上传</a:t>
              </a:r>
            </a:p>
          </p:txBody>
        </p:sp>
        <p:sp>
          <p:nvSpPr>
            <p:cNvPr id="6" name="TextBox 6"/>
            <p:cNvSpPr txBox="1"/>
            <p:nvPr/>
          </p:nvSpPr>
          <p:spPr>
            <a:xfrm>
              <a:off x="1032510" y="4371975"/>
              <a:ext cx="7353300" cy="1996440"/>
            </a:xfrm>
            <a:prstGeom prst="rect">
              <a:avLst/>
            </a:prstGeom>
            <a:noFill/>
            <a:ln>
              <a:noFill/>
            </a:ln>
          </p:spPr>
          <p:txBody>
            <a:bodyPr wrap="none" lIns="0" tIns="0" rIns="0" bIns="0" anchor="t" anchorCtr="0">
              <a:noAutofit/>
            </a:bodyPr>
            <a:lstStyle/>
            <a:p>
              <a:pPr algn="l">
                <a:lnSpc>
                  <a:spcPts val="5550"/>
                </a:lnSpc>
              </a:pPr>
              <a:r>
                <a:rPr lang="zh-CN" sz="3000" dirty="0">
                  <a:solidFill>
                    <a:schemeClr val="dk1"/>
                  </a:solidFill>
                  <a:latin typeface="+mn-lt"/>
                  <a:ea typeface="+mn-ea"/>
                  <a:cs typeface="+mn-cs"/>
                </a:rPr>
                <a:t>同学姓名、私密照片、</a:t>
              </a:r>
              <a:br>
                <a:rPr lang="zh-CN" sz="3000" dirty="0">
                  <a:solidFill>
                    <a:schemeClr val="dk1"/>
                  </a:solidFill>
                  <a:latin typeface="+mn-lt"/>
                  <a:ea typeface="+mn-ea"/>
                  <a:cs typeface="+mn-cs"/>
                </a:rPr>
              </a:br>
              <a:r>
                <a:rPr lang="zh-CN" sz="3000" dirty="0">
                  <a:solidFill>
                    <a:schemeClr val="dk1"/>
                  </a:solidFill>
                  <a:latin typeface="+mn-lt"/>
                  <a:ea typeface="+mn-ea"/>
                  <a:cs typeface="+mn-cs"/>
                </a:rPr>
                <a:t>家庭身份证件，</a:t>
              </a:r>
              <a:br>
                <a:rPr lang="zh-CN" sz="3000" dirty="0">
                  <a:solidFill>
                    <a:schemeClr val="dk1"/>
                  </a:solidFill>
                  <a:latin typeface="+mn-lt"/>
                  <a:ea typeface="+mn-ea"/>
                  <a:cs typeface="+mn-cs"/>
                </a:rPr>
              </a:br>
              <a:r>
                <a:rPr lang="zh-CN" sz="3000" dirty="0">
                  <a:solidFill>
                    <a:schemeClr val="dk1"/>
                  </a:solidFill>
                  <a:latin typeface="+mn-lt"/>
                  <a:ea typeface="+mn-ea"/>
                  <a:cs typeface="+mn-cs"/>
                </a:rPr>
                <a:t>或个人心理危机细节。</a:t>
              </a:r>
            </a:p>
          </p:txBody>
        </p:sp>
      </p:grpSp>
      <p:grpSp>
        <p:nvGrpSpPr>
          <p:cNvPr id="11" name="human-support"/>
          <p:cNvGrpSpPr/>
          <p:nvPr/>
        </p:nvGrpSpPr>
        <p:grpSpPr>
          <a:xfrm>
            <a:off x="9525000" y="3238500"/>
            <a:ext cx="7620000" cy="4667250"/>
            <a:chOff x="9525000" y="3238500"/>
            <a:chExt cx="7620000" cy="4667250"/>
          </a:xfrm>
        </p:grpSpPr>
        <p:sp>
          <p:nvSpPr>
            <p:cNvPr id="8" name="Rectangle 8"/>
            <p:cNvSpPr/>
            <p:nvPr/>
          </p:nvSpPr>
          <p:spPr>
            <a:xfrm>
              <a:off x="9525000" y="3238500"/>
              <a:ext cx="7620000" cy="4667250"/>
            </a:xfrm>
            <a:prstGeom prst="roundRect">
              <a:avLst>
                <a:gd name="adj" fmla="val 4898"/>
              </a:avLst>
            </a:prstGeom>
            <a:solidFill>
              <a:schemeClr val="lt2"/>
            </a:solidFill>
            <a:ln>
              <a:noFill/>
            </a:ln>
          </p:spPr>
          <p:txBody>
            <a:bodyPr/>
            <a:p/>
          </p:txBody>
        </p:sp>
        <p:sp>
          <p:nvSpPr>
            <p:cNvPr id="9" name="TextBox 9"/>
            <p:cNvSpPr txBox="1"/>
            <p:nvPr/>
          </p:nvSpPr>
          <p:spPr>
            <a:xfrm>
              <a:off x="9966960" y="3778250"/>
              <a:ext cx="7124700" cy="1253490"/>
            </a:xfrm>
            <a:prstGeom prst="rect">
              <a:avLst/>
            </a:prstGeom>
            <a:noFill/>
            <a:ln>
              <a:noFill/>
            </a:ln>
          </p:spPr>
          <p:txBody>
            <a:bodyPr wrap="none" lIns="0" tIns="0" rIns="0" bIns="0" anchor="t" anchorCtr="0">
              <a:noAutofit/>
            </a:bodyPr>
            <a:lstStyle/>
            <a:p>
              <a:pPr algn="l">
                <a:lnSpc>
                  <a:spcPts val="5250"/>
                </a:lnSpc>
              </a:pPr>
              <a:r>
                <a:rPr lang="zh-CN" sz="3000" dirty="0">
                  <a:solidFill>
                    <a:schemeClr val="accent1"/>
                  </a:solidFill>
                  <a:latin typeface="+mn-lt"/>
                  <a:ea typeface="+mn-ea"/>
                  <a:cs typeface="+mn-cs"/>
                </a:rPr>
                <a:t>不要把 AI 当作危机时</a:t>
              </a:r>
              <a:br>
                <a:rPr lang="zh-CN" sz="3000" dirty="0">
                  <a:solidFill>
                    <a:schemeClr val="accent1"/>
                  </a:solidFill>
                  <a:latin typeface="+mn-lt"/>
                  <a:ea typeface="+mn-ea"/>
                  <a:cs typeface="+mn-cs"/>
                </a:rPr>
              </a:br>
              <a:r>
                <a:rPr lang="zh-CN" sz="3000" dirty="0">
                  <a:solidFill>
                    <a:schemeClr val="accent1"/>
                  </a:solidFill>
                  <a:latin typeface="+mn-lt"/>
                  <a:ea typeface="+mn-ea"/>
                  <a:cs typeface="+mn-cs"/>
                </a:rPr>
                <a:t>唯一的倾诉对象。</a:t>
              </a:r>
            </a:p>
          </p:txBody>
        </p:sp>
        <p:sp>
          <p:nvSpPr>
            <p:cNvPr id="10" name="TextBox 10"/>
            <p:cNvSpPr txBox="1"/>
            <p:nvPr/>
          </p:nvSpPr>
          <p:spPr>
            <a:xfrm>
              <a:off x="9968484" y="6057900"/>
              <a:ext cx="7124700" cy="1080516"/>
            </a:xfrm>
            <a:prstGeom prst="rect">
              <a:avLst/>
            </a:prstGeom>
            <a:noFill/>
            <a:ln>
              <a:noFill/>
            </a:ln>
          </p:spPr>
          <p:txBody>
            <a:bodyPr wrap="none" lIns="0" tIns="0" rIns="0" bIns="0" anchor="t" anchorCtr="0">
              <a:noAutofit/>
            </a:bodyPr>
            <a:lstStyle/>
            <a:p>
              <a:pPr algn="l">
                <a:lnSpc>
                  <a:spcPts val="4350"/>
                </a:lnSpc>
              </a:pPr>
              <a:r>
                <a:rPr lang="zh-CN" sz="2700" dirty="0">
                  <a:solidFill>
                    <a:schemeClr val="dk1"/>
                  </a:solidFill>
                  <a:latin typeface="+mn-lt"/>
                  <a:ea typeface="+mn-ea"/>
                  <a:cs typeface="+mn-cs"/>
                </a:rPr>
                <a:t>遇到危险，找现实中的</a:t>
              </a:r>
              <a:br>
                <a:rPr lang="zh-CN" sz="2700" dirty="0">
                  <a:solidFill>
                    <a:schemeClr val="dk1"/>
                  </a:solidFill>
                  <a:latin typeface="+mn-lt"/>
                  <a:ea typeface="+mn-ea"/>
                  <a:cs typeface="+mn-cs"/>
                </a:rPr>
              </a:br>
              <a:r>
                <a:rPr lang="zh-CN" sz="2700" dirty="0">
                  <a:solidFill>
                    <a:schemeClr val="dk1"/>
                  </a:solidFill>
                  <a:latin typeface="+mn-lt"/>
                  <a:ea typeface="+mn-ea"/>
                  <a:cs typeface="+mn-cs"/>
                </a:rPr>
                <a:t>可信赖成人与专业服务。</a:t>
              </a:r>
            </a:p>
          </p:txBody>
        </p:sp>
      </p:grpSp>
      <p:sp>
        <p:nvSpPr>
          <p:cNvPr id="12"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UNESCO, 2023 [S08]　｜　遵守学校及工具的年龄与使用规则。</a:t>
            </a:r>
          </a:p>
        </p:txBody>
      </p:sp>
      <p:sp>
        <p:nvSpPr>
          <p:cNvPr id="13"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工具可以辅助；持续困扰与安全风险需要真人支持。</a:t>
            </a:r>
          </a:p>
        </p:txBody>
      </p:sp>
      <p:sp>
        <p:nvSpPr>
          <p:cNvPr id="14"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23 / 32　·　3 分钟</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6140196" cy="1384300"/>
            <a:chOff x="895350" y="908050"/>
            <a:chExt cx="6140196"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05　未来与选择　/　读懂预测口径</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未来变快，究竟什么在变</a:t>
              </a:r>
            </a:p>
          </p:txBody>
        </p:sp>
      </p:grpSp>
      <p:grpSp>
        <p:nvGrpSpPr>
          <p:cNvPr id="8" name="forecast"/>
          <p:cNvGrpSpPr/>
          <p:nvPr/>
        </p:nvGrpSpPr>
        <p:grpSpPr>
          <a:xfrm>
            <a:off x="933450" y="3689350"/>
            <a:ext cx="3923233" cy="3992118"/>
            <a:chOff x="933450" y="3689350"/>
            <a:chExt cx="3923233" cy="3992118"/>
          </a:xfrm>
        </p:grpSpPr>
        <p:sp>
          <p:nvSpPr>
            <p:cNvPr id="5" name="TextBox 5"/>
            <p:cNvSpPr txBox="1"/>
            <p:nvPr/>
          </p:nvSpPr>
          <p:spPr>
            <a:xfrm>
              <a:off x="933450" y="3689350"/>
              <a:ext cx="7353300" cy="2990850"/>
            </a:xfrm>
            <a:prstGeom prst="rect">
              <a:avLst/>
            </a:prstGeom>
            <a:noFill/>
            <a:ln>
              <a:noFill/>
            </a:ln>
          </p:spPr>
          <p:txBody>
            <a:bodyPr wrap="none" lIns="0" tIns="0" rIns="0" bIns="0" anchor="t" anchorCtr="0">
              <a:noAutofit/>
            </a:bodyPr>
            <a:lstStyle/>
            <a:p>
              <a:pPr algn="l"/>
              <a:r>
                <a:rPr lang="zh-CN" sz="15600" dirty="0">
                  <a:solidFill>
                    <a:schemeClr val="accent1"/>
                  </a:solidFill>
                  <a:latin typeface="+mn-lt"/>
                  <a:ea typeface="+mn-ea"/>
                  <a:cs typeface="+mn-cs"/>
                </a:rPr>
                <a:t>39%</a:t>
              </a:r>
            </a:p>
          </p:txBody>
        </p:sp>
        <p:sp>
          <p:nvSpPr>
            <p:cNvPr id="6" name="TextBox 6"/>
            <p:cNvSpPr txBox="1"/>
            <p:nvPr/>
          </p:nvSpPr>
          <p:spPr>
            <a:xfrm>
              <a:off x="1081659" y="6432550"/>
              <a:ext cx="7210425"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岗位核心技能将变化</a:t>
              </a:r>
            </a:p>
          </p:txBody>
        </p:sp>
        <p:sp>
          <p:nvSpPr>
            <p:cNvPr id="7" name="TextBox 7"/>
            <p:cNvSpPr txBox="1"/>
            <p:nvPr/>
          </p:nvSpPr>
          <p:spPr>
            <a:xfrm>
              <a:off x="1084707" y="7270750"/>
              <a:ext cx="7210425"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不是“39% 的人失业”。</a:t>
              </a:r>
            </a:p>
          </p:txBody>
        </p:sp>
      </p:grpSp>
      <p:grpSp>
        <p:nvGrpSpPr>
          <p:cNvPr id="12" name="scope"/>
          <p:cNvGrpSpPr/>
          <p:nvPr/>
        </p:nvGrpSpPr>
        <p:grpSpPr>
          <a:xfrm>
            <a:off x="9414510" y="3517900"/>
            <a:ext cx="7539990" cy="3953891"/>
            <a:chOff x="9414510" y="3517900"/>
            <a:chExt cx="7539990" cy="3953891"/>
          </a:xfrm>
        </p:grpSpPr>
        <p:sp>
          <p:nvSpPr>
            <p:cNvPr id="9" name="TextBox 9"/>
            <p:cNvSpPr txBox="1"/>
            <p:nvPr/>
          </p:nvSpPr>
          <p:spPr>
            <a:xfrm>
              <a:off x="9414510" y="3517900"/>
              <a:ext cx="7772400" cy="1882140"/>
            </a:xfrm>
            <a:prstGeom prst="rect">
              <a:avLst/>
            </a:prstGeom>
            <a:noFill/>
            <a:ln>
              <a:noFill/>
            </a:ln>
          </p:spPr>
          <p:txBody>
            <a:bodyPr wrap="none" lIns="0" tIns="0" rIns="0" bIns="0" anchor="t" anchorCtr="0">
              <a:noAutofit/>
            </a:bodyPr>
            <a:lstStyle/>
            <a:p>
              <a:pPr algn="l">
                <a:lnSpc>
                  <a:spcPts val="5100"/>
                </a:lnSpc>
              </a:pPr>
              <a:r>
                <a:rPr lang="zh-CN" sz="3000" dirty="0">
                  <a:solidFill>
                    <a:schemeClr val="dk1"/>
                  </a:solidFill>
                  <a:latin typeface="+mn-lt"/>
                  <a:ea typeface="+mn-ea"/>
                  <a:cs typeface="+mn-cs"/>
                </a:rPr>
                <a:t>受访全球雇主预期，</a:t>
              </a:r>
              <a:br>
                <a:rPr lang="zh-CN" sz="3000" dirty="0">
                  <a:solidFill>
                    <a:schemeClr val="dk1"/>
                  </a:solidFill>
                  <a:latin typeface="+mn-lt"/>
                  <a:ea typeface="+mn-ea"/>
                  <a:cs typeface="+mn-cs"/>
                </a:rPr>
              </a:br>
              <a:r>
                <a:rPr lang="zh-CN" sz="3000" dirty="0">
                  <a:solidFill>
                    <a:schemeClr val="dk1"/>
                  </a:solidFill>
                  <a:latin typeface="+mn-lt"/>
                  <a:ea typeface="+mn-ea"/>
                  <a:cs typeface="+mn-cs"/>
                </a:rPr>
                <a:t>到 2030 年约 39% 的</a:t>
              </a:r>
              <a:br>
                <a:rPr lang="zh-CN" sz="3000" dirty="0">
                  <a:solidFill>
                    <a:schemeClr val="dk1"/>
                  </a:solidFill>
                  <a:latin typeface="+mn-lt"/>
                  <a:ea typeface="+mn-ea"/>
                  <a:cs typeface="+mn-cs"/>
                </a:rPr>
              </a:br>
              <a:r>
                <a:rPr lang="zh-CN" sz="3000" dirty="0">
                  <a:solidFill>
                    <a:schemeClr val="dk1"/>
                  </a:solidFill>
                  <a:latin typeface="+mn-lt"/>
                  <a:ea typeface="+mn-ea"/>
                  <a:cs typeface="+mn-cs"/>
                </a:rPr>
                <a:t>岗位核心技能将变化。</a:t>
              </a:r>
            </a:p>
          </p:txBody>
        </p:sp>
        <p:sp>
          <p:nvSpPr>
            <p:cNvPr id="10" name="Line 10"/>
            <p:cNvSpPr/>
            <p:nvPr/>
          </p:nvSpPr>
          <p:spPr>
            <a:xfrm>
              <a:off x="9429750" y="6096000"/>
              <a:ext cx="7524750" cy="9525"/>
            </a:xfrm>
            <a:custGeom>
              <a:avLst/>
              <a:gdLst/>
              <a:ahLst/>
              <a:cxnLst/>
              <a:rect l="l" t="t" r="r" b="b"/>
              <a:pathLst>
                <a:path w="7524750" h="9525">
                  <a:moveTo>
                    <a:pt x="0" y="0"/>
                  </a:moveTo>
                  <a:lnTo>
                    <a:pt x="7524750" y="0"/>
                  </a:lnTo>
                </a:path>
              </a:pathLst>
            </a:custGeom>
            <a:noFill/>
            <a:ln w="19050">
              <a:solidFill>
                <a:schemeClr val="accent6"/>
              </a:solidFill>
            </a:ln>
          </p:spPr>
          <p:txBody>
            <a:bodyPr/>
            <a:p/>
          </p:txBody>
        </p:sp>
        <p:sp>
          <p:nvSpPr>
            <p:cNvPr id="11" name="TextBox 11"/>
            <p:cNvSpPr txBox="1"/>
            <p:nvPr/>
          </p:nvSpPr>
          <p:spPr>
            <a:xfrm>
              <a:off x="9416034" y="6391275"/>
              <a:ext cx="7772400" cy="1080516"/>
            </a:xfrm>
            <a:prstGeom prst="rect">
              <a:avLst/>
            </a:prstGeom>
            <a:noFill/>
            <a:ln>
              <a:noFill/>
            </a:ln>
          </p:spPr>
          <p:txBody>
            <a:bodyPr wrap="none" lIns="0" tIns="0" rIns="0" bIns="0" anchor="t" anchorCtr="0">
              <a:noAutofit/>
            </a:bodyPr>
            <a:lstStyle/>
            <a:p>
              <a:pPr algn="l">
                <a:lnSpc>
                  <a:spcPts val="4350"/>
                </a:lnSpc>
              </a:pPr>
              <a:r>
                <a:rPr lang="zh-CN" sz="2700" dirty="0">
                  <a:solidFill>
                    <a:schemeClr val="dk1"/>
                  </a:solidFill>
                  <a:latin typeface="+mn-lt"/>
                  <a:ea typeface="+mn-ea"/>
                  <a:cs typeface="+mn-cs"/>
                </a:rPr>
                <a:t>技术改变具体任务与技能需求；</a:t>
              </a:r>
              <a:br>
                <a:rPr lang="zh-CN" sz="2700" dirty="0">
                  <a:solidFill>
                    <a:schemeClr val="dk1"/>
                  </a:solidFill>
                  <a:latin typeface="+mn-lt"/>
                  <a:ea typeface="+mn-ea"/>
                  <a:cs typeface="+mn-cs"/>
                </a:rPr>
              </a:br>
              <a:r>
                <a:rPr lang="zh-CN" sz="2700" dirty="0">
                  <a:solidFill>
                    <a:schemeClr val="dk1"/>
                  </a:solidFill>
                  <a:latin typeface="+mn-lt"/>
                  <a:ea typeface="+mn-ea"/>
                  <a:cs typeface="+mn-cs"/>
                </a:rPr>
                <a:t>行业、地区之间并不一样。</a:t>
              </a:r>
            </a:p>
          </p:txBody>
        </p:sp>
      </p:grpSp>
      <p:sp>
        <p:nvSpPr>
          <p:cNvPr id="13"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WEF, Future of Jobs Report 2025 [S10]　｜　全球雇主调查预期，不能直接代表湖北或每个职业。</a:t>
            </a:r>
          </a:p>
        </p:txBody>
      </p:sp>
      <p:sp>
        <p:nvSpPr>
          <p:cNvPr id="14"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家庭资源、地区机会与经济周期也影响路径。</a:t>
            </a:r>
          </a:p>
        </p:txBody>
      </p:sp>
      <p:sp>
        <p:nvSpPr>
          <p:cNvPr id="15"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24 / 32　·　4 分钟</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5585460" cy="1384300"/>
            <a:chOff x="895350" y="908050"/>
            <a:chExt cx="5585460"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05　未来与选择　/　跨路径的练习</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今天值得练的四类能力</a:t>
              </a:r>
            </a:p>
          </p:txBody>
        </p:sp>
      </p:grpSp>
      <p:grpSp>
        <p:nvGrpSpPr>
          <p:cNvPr id="13" name="abilities"/>
          <p:cNvGrpSpPr/>
          <p:nvPr/>
        </p:nvGrpSpPr>
        <p:grpSpPr>
          <a:xfrm>
            <a:off x="1095375" y="3489325"/>
            <a:ext cx="4625340" cy="4015740"/>
            <a:chOff x="1095375" y="3489325"/>
            <a:chExt cx="4625340" cy="4015740"/>
          </a:xfrm>
        </p:grpSpPr>
        <p:sp>
          <p:nvSpPr>
            <p:cNvPr id="5" name="Ellipse 5"/>
            <p:cNvSpPr/>
            <p:nvPr/>
          </p:nvSpPr>
          <p:spPr>
            <a:xfrm>
              <a:off x="1095375" y="3619500"/>
              <a:ext cx="190500" cy="190500"/>
            </a:xfrm>
            <a:prstGeom prst="ellipse">
              <a:avLst/>
            </a:prstGeom>
            <a:solidFill>
              <a:schemeClr val="accent1"/>
            </a:solidFill>
            <a:ln>
              <a:noFill/>
            </a:ln>
          </p:spPr>
          <p:txBody>
            <a:bodyPr/>
            <a:p/>
          </p:txBody>
        </p:sp>
        <p:sp>
          <p:nvSpPr>
            <p:cNvPr id="6" name="Ellipse 6"/>
            <p:cNvSpPr/>
            <p:nvPr/>
          </p:nvSpPr>
          <p:spPr>
            <a:xfrm>
              <a:off x="1095375" y="4762500"/>
              <a:ext cx="190500" cy="190500"/>
            </a:xfrm>
            <a:prstGeom prst="ellipse">
              <a:avLst/>
            </a:prstGeom>
            <a:solidFill>
              <a:schemeClr val="accent1"/>
            </a:solidFill>
            <a:ln>
              <a:noFill/>
            </a:ln>
          </p:spPr>
          <p:txBody>
            <a:bodyPr/>
            <a:p/>
          </p:txBody>
        </p:sp>
        <p:sp>
          <p:nvSpPr>
            <p:cNvPr id="7" name="Ellipse 7"/>
            <p:cNvSpPr/>
            <p:nvPr/>
          </p:nvSpPr>
          <p:spPr>
            <a:xfrm>
              <a:off x="1095375" y="5905500"/>
              <a:ext cx="190500" cy="190500"/>
            </a:xfrm>
            <a:prstGeom prst="ellipse">
              <a:avLst/>
            </a:prstGeom>
            <a:solidFill>
              <a:schemeClr val="accent1"/>
            </a:solidFill>
            <a:ln>
              <a:noFill/>
            </a:ln>
          </p:spPr>
          <p:txBody>
            <a:bodyPr/>
            <a:p/>
          </p:txBody>
        </p:sp>
        <p:sp>
          <p:nvSpPr>
            <p:cNvPr id="8" name="Ellipse 8"/>
            <p:cNvSpPr/>
            <p:nvPr/>
          </p:nvSpPr>
          <p:spPr>
            <a:xfrm>
              <a:off x="1095375" y="7048500"/>
              <a:ext cx="190500" cy="190500"/>
            </a:xfrm>
            <a:prstGeom prst="ellipse">
              <a:avLst/>
            </a:prstGeom>
            <a:solidFill>
              <a:schemeClr val="accent2"/>
            </a:solidFill>
            <a:ln>
              <a:noFill/>
            </a:ln>
          </p:spPr>
          <p:txBody>
            <a:bodyPr/>
            <a:p/>
          </p:txBody>
        </p:sp>
        <p:sp>
          <p:nvSpPr>
            <p:cNvPr id="9" name="TextBox 9"/>
            <p:cNvSpPr txBox="1"/>
            <p:nvPr/>
          </p:nvSpPr>
          <p:spPr>
            <a:xfrm>
              <a:off x="1651635" y="3489325"/>
              <a:ext cx="8734425"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扎实基础知识</a:t>
              </a:r>
            </a:p>
          </p:txBody>
        </p:sp>
        <p:sp>
          <p:nvSpPr>
            <p:cNvPr id="10" name="TextBox 10"/>
            <p:cNvSpPr txBox="1"/>
            <p:nvPr/>
          </p:nvSpPr>
          <p:spPr>
            <a:xfrm>
              <a:off x="1651635" y="4632325"/>
              <a:ext cx="8734425"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提出和检验问题</a:t>
              </a:r>
            </a:p>
          </p:txBody>
        </p:sp>
        <p:sp>
          <p:nvSpPr>
            <p:cNvPr id="11" name="TextBox 11"/>
            <p:cNvSpPr txBox="1"/>
            <p:nvPr/>
          </p:nvSpPr>
          <p:spPr>
            <a:xfrm>
              <a:off x="1651635" y="5775325"/>
              <a:ext cx="8734425"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合作、表达与求助</a:t>
              </a:r>
            </a:p>
          </p:txBody>
        </p:sp>
        <p:sp>
          <p:nvSpPr>
            <p:cNvPr id="12" name="TextBox 12"/>
            <p:cNvSpPr txBox="1"/>
            <p:nvPr/>
          </p:nvSpPr>
          <p:spPr>
            <a:xfrm>
              <a:off x="1651635" y="6918325"/>
              <a:ext cx="8734425"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学新工具，并判断局限</a:t>
              </a:r>
            </a:p>
          </p:txBody>
        </p:sp>
      </p:grpSp>
      <p:grpSp>
        <p:nvGrpSpPr>
          <p:cNvPr id="16" name="school-example"/>
          <p:cNvGrpSpPr/>
          <p:nvPr/>
        </p:nvGrpSpPr>
        <p:grpSpPr>
          <a:xfrm>
            <a:off x="11606784" y="3651250"/>
            <a:ext cx="2924937" cy="2906141"/>
            <a:chOff x="11606784" y="3651250"/>
            <a:chExt cx="2924937" cy="2906141"/>
          </a:xfrm>
        </p:grpSpPr>
        <p:sp>
          <p:nvSpPr>
            <p:cNvPr id="14" name="TextBox 14"/>
            <p:cNvSpPr txBox="1"/>
            <p:nvPr/>
          </p:nvSpPr>
          <p:spPr>
            <a:xfrm>
              <a:off x="11609832" y="3651250"/>
              <a:ext cx="54864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高中场景</a:t>
              </a:r>
            </a:p>
          </p:txBody>
        </p:sp>
        <p:sp>
          <p:nvSpPr>
            <p:cNvPr id="15" name="TextBox 15"/>
            <p:cNvSpPr txBox="1"/>
            <p:nvPr/>
          </p:nvSpPr>
          <p:spPr>
            <a:xfrm>
              <a:off x="11606784" y="4543425"/>
              <a:ext cx="5486400" cy="2013966"/>
            </a:xfrm>
            <a:prstGeom prst="rect">
              <a:avLst/>
            </a:prstGeom>
            <a:noFill/>
            <a:ln>
              <a:noFill/>
            </a:ln>
          </p:spPr>
          <p:txBody>
            <a:bodyPr wrap="none" lIns="0" tIns="0" rIns="0" bIns="0" anchor="t" anchorCtr="0">
              <a:noAutofit/>
            </a:bodyPr>
            <a:lstStyle/>
            <a:p>
              <a:pPr algn="l">
                <a:lnSpc>
                  <a:spcPts val="4800"/>
                </a:lnSpc>
              </a:pPr>
              <a:r>
                <a:rPr lang="zh-CN" sz="2700" dirty="0">
                  <a:solidFill>
                    <a:schemeClr val="dk1"/>
                  </a:solidFill>
                  <a:latin typeface="+mn-lt"/>
                  <a:ea typeface="+mn-ea"/>
                  <a:cs typeface="+mn-cs"/>
                </a:rPr>
                <a:t>用 AI 查一道题时，</a:t>
              </a:r>
              <a:br>
                <a:rPr lang="zh-CN" sz="2700" dirty="0">
                  <a:solidFill>
                    <a:schemeClr val="dk1"/>
                  </a:solidFill>
                  <a:latin typeface="+mn-lt"/>
                  <a:ea typeface="+mn-ea"/>
                  <a:cs typeface="+mn-cs"/>
                </a:rPr>
              </a:br>
              <a:r>
                <a:rPr lang="zh-CN" sz="2700" dirty="0">
                  <a:solidFill>
                    <a:schemeClr val="dk1"/>
                  </a:solidFill>
                  <a:latin typeface="+mn-lt"/>
                  <a:ea typeface="+mn-ea"/>
                  <a:cs typeface="+mn-cs"/>
                </a:rPr>
                <a:t>自己能说明：</a:t>
              </a:r>
            </a:p>
            <a:p>
              <a:pPr algn="l">
                <a:lnSpc>
                  <a:spcPts val="4800"/>
                </a:lnSpc>
                <a:spcBef>
                  <a:spcPts val="2100"/>
                </a:spcBef>
              </a:pPr>
              <a:r>
                <a:rPr lang="zh-CN" sz="2700" dirty="0">
                  <a:solidFill>
                    <a:schemeClr val="accent1"/>
                  </a:solidFill>
                  <a:latin typeface="+mn-lt"/>
                  <a:ea typeface="+mn-ea"/>
                  <a:cs typeface="+mn-cs"/>
                </a:rPr>
                <a:t>“为什么这样解？”</a:t>
              </a:r>
            </a:p>
          </p:txBody>
        </p:sp>
      </p:grpSp>
      <p:sp>
        <p:nvSpPr>
          <p:cNvPr id="17"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WEF, 2025 [S10]；UNESCO, 2024 [S09]　｜　四类能力为教学整理，不承诺就业结果。</a:t>
            </a:r>
          </a:p>
        </p:txBody>
      </p:sp>
      <p:sp>
        <p:nvSpPr>
          <p:cNvPr id="18"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把能力放回具体学科与真实任务。</a:t>
            </a:r>
          </a:p>
        </p:txBody>
      </p:sp>
      <p:sp>
        <p:nvSpPr>
          <p:cNvPr id="19"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25 / 32　·　4 分钟</a:t>
            </a:r>
          </a:p>
        </p:txBody>
      </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8936660" cy="1371600"/>
            <a:chOff x="895350" y="908050"/>
            <a:chExt cx="8936660" cy="13716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05　未来与选择　/　从探索开始</a:t>
              </a:r>
            </a:p>
          </p:txBody>
        </p:sp>
        <p:sp>
          <p:nvSpPr>
            <p:cNvPr id="3" name="TextBox 3"/>
            <p:cNvSpPr txBox="1"/>
            <p:nvPr/>
          </p:nvSpPr>
          <p:spPr>
            <a:xfrm>
              <a:off x="895350" y="15176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“我不知道以后做什么”可以怎么开始</a:t>
              </a:r>
            </a:p>
          </p:txBody>
        </p:sp>
      </p:grpSp>
      <p:grpSp>
        <p:nvGrpSpPr>
          <p:cNvPr id="7" name="questions"/>
          <p:cNvGrpSpPr/>
          <p:nvPr/>
        </p:nvGrpSpPr>
        <p:grpSpPr>
          <a:xfrm>
            <a:off x="1127760" y="3460750"/>
            <a:ext cx="4602480" cy="3196590"/>
            <a:chOff x="1127760" y="3460750"/>
            <a:chExt cx="4602480" cy="3196590"/>
          </a:xfrm>
        </p:grpSpPr>
        <p:sp>
          <p:nvSpPr>
            <p:cNvPr id="5" name="TextBox 5"/>
            <p:cNvSpPr txBox="1"/>
            <p:nvPr/>
          </p:nvSpPr>
          <p:spPr>
            <a:xfrm>
              <a:off x="1132332" y="3460750"/>
              <a:ext cx="77343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先写三个小问题</a:t>
              </a:r>
            </a:p>
          </p:txBody>
        </p:sp>
        <p:sp>
          <p:nvSpPr>
            <p:cNvPr id="6" name="TextBox 6"/>
            <p:cNvSpPr txBox="1"/>
            <p:nvPr/>
          </p:nvSpPr>
          <p:spPr>
            <a:xfrm>
              <a:off x="1127760" y="3975100"/>
              <a:ext cx="7734300" cy="2682240"/>
            </a:xfrm>
            <a:prstGeom prst="rect">
              <a:avLst/>
            </a:prstGeom>
            <a:noFill/>
            <a:ln>
              <a:noFill/>
            </a:ln>
          </p:spPr>
          <p:txBody>
            <a:bodyPr wrap="none" lIns="0" tIns="0" rIns="0" bIns="0" anchor="t" anchorCtr="0">
              <a:noAutofit/>
            </a:bodyPr>
            <a:lstStyle/>
            <a:p>
              <a:pPr algn="l">
                <a:lnSpc>
                  <a:spcPts val="8250"/>
                </a:lnSpc>
              </a:pPr>
              <a:r>
                <a:rPr lang="zh-CN" sz="3000" dirty="0">
                  <a:solidFill>
                    <a:schemeClr val="dk1"/>
                  </a:solidFill>
                  <a:latin typeface="+mn-lt"/>
                  <a:ea typeface="+mn-ea"/>
                  <a:cs typeface="+mn-cs"/>
                </a:rPr>
                <a:t>哪些事，我愿意多花时间？</a:t>
              </a:r>
              <a:br>
                <a:rPr lang="zh-CN" sz="3000" dirty="0">
                  <a:solidFill>
                    <a:schemeClr val="dk1"/>
                  </a:solidFill>
                  <a:latin typeface="+mn-lt"/>
                  <a:ea typeface="+mn-ea"/>
                  <a:cs typeface="+mn-cs"/>
                </a:rPr>
              </a:br>
              <a:r>
                <a:rPr lang="zh-CN" sz="3000" dirty="0">
                  <a:solidFill>
                    <a:schemeClr val="dk1"/>
                  </a:solidFill>
                  <a:latin typeface="+mn-lt"/>
                  <a:ea typeface="+mn-ea"/>
                  <a:cs typeface="+mn-cs"/>
                </a:rPr>
                <a:t>哪些情境，我能持续投入？</a:t>
              </a:r>
              <a:br>
                <a:rPr lang="zh-CN" sz="3000" dirty="0">
                  <a:solidFill>
                    <a:schemeClr val="dk1"/>
                  </a:solidFill>
                  <a:latin typeface="+mn-lt"/>
                  <a:ea typeface="+mn-ea"/>
                  <a:cs typeface="+mn-cs"/>
                </a:rPr>
              </a:br>
              <a:r>
                <a:rPr lang="zh-CN" sz="3000" dirty="0">
                  <a:solidFill>
                    <a:schemeClr val="dk1"/>
                  </a:solidFill>
                  <a:latin typeface="+mn-lt"/>
                  <a:ea typeface="+mn-ea"/>
                  <a:cs typeface="+mn-cs"/>
                </a:rPr>
                <a:t>我还缺哪种真实信息？</a:t>
              </a:r>
            </a:p>
          </p:txBody>
        </p:sp>
      </p:grpSp>
      <p:grpSp>
        <p:nvGrpSpPr>
          <p:cNvPr id="11" name="exploration"/>
          <p:cNvGrpSpPr/>
          <p:nvPr/>
        </p:nvGrpSpPr>
        <p:grpSpPr>
          <a:xfrm>
            <a:off x="9810750" y="3095625"/>
            <a:ext cx="7334250" cy="4667250"/>
            <a:chOff x="9810750" y="3095625"/>
            <a:chExt cx="7334250" cy="4667250"/>
          </a:xfrm>
        </p:grpSpPr>
        <p:sp>
          <p:nvSpPr>
            <p:cNvPr id="8" name="Rectangle 8"/>
            <p:cNvSpPr/>
            <p:nvPr/>
          </p:nvSpPr>
          <p:spPr>
            <a:xfrm>
              <a:off x="9810750" y="3095625"/>
              <a:ext cx="7334250" cy="4667250"/>
            </a:xfrm>
            <a:prstGeom prst="roundRect">
              <a:avLst>
                <a:gd name="adj" fmla="val 4898"/>
              </a:avLst>
            </a:prstGeom>
            <a:solidFill>
              <a:schemeClr val="lt2"/>
            </a:solidFill>
            <a:ln>
              <a:noFill/>
            </a:ln>
          </p:spPr>
          <p:txBody>
            <a:bodyPr/>
            <a:p/>
          </p:txBody>
        </p:sp>
        <p:sp>
          <p:nvSpPr>
            <p:cNvPr id="9" name="TextBox 9"/>
            <p:cNvSpPr txBox="1"/>
            <p:nvPr/>
          </p:nvSpPr>
          <p:spPr>
            <a:xfrm>
              <a:off x="10257282" y="3460750"/>
              <a:ext cx="68389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下一步，可以选一种</a:t>
              </a:r>
            </a:p>
          </p:txBody>
        </p:sp>
        <p:sp>
          <p:nvSpPr>
            <p:cNvPr id="10" name="TextBox 10"/>
            <p:cNvSpPr txBox="1"/>
            <p:nvPr/>
          </p:nvSpPr>
          <p:spPr>
            <a:xfrm>
              <a:off x="10254234" y="4102100"/>
              <a:ext cx="6838950" cy="2280666"/>
            </a:xfrm>
            <a:prstGeom prst="rect">
              <a:avLst/>
            </a:prstGeom>
            <a:noFill/>
            <a:ln>
              <a:noFill/>
            </a:ln>
          </p:spPr>
          <p:txBody>
            <a:bodyPr wrap="none" lIns="0" tIns="0" rIns="0" bIns="0" anchor="t" anchorCtr="0">
              <a:noAutofit/>
            </a:bodyPr>
            <a:lstStyle/>
            <a:p>
              <a:pPr algn="l">
                <a:lnSpc>
                  <a:spcPts val="6900"/>
                </a:lnSpc>
              </a:pPr>
              <a:r>
                <a:rPr lang="zh-CN" sz="2700" dirty="0">
                  <a:solidFill>
                    <a:schemeClr val="dk1"/>
                  </a:solidFill>
                  <a:latin typeface="+mn-lt"/>
                  <a:ea typeface="+mn-ea"/>
                  <a:cs typeface="+mn-cs"/>
                </a:rPr>
                <a:t>访谈一位从业者；</a:t>
              </a:r>
              <a:br>
                <a:rPr lang="zh-CN" sz="2700" dirty="0">
                  <a:solidFill>
                    <a:schemeClr val="dk1"/>
                  </a:solidFill>
                  <a:latin typeface="+mn-lt"/>
                  <a:ea typeface="+mn-ea"/>
                  <a:cs typeface="+mn-cs"/>
                </a:rPr>
              </a:br>
              <a:r>
                <a:rPr lang="zh-CN" sz="2700" dirty="0">
                  <a:solidFill>
                    <a:schemeClr val="dk1"/>
                  </a:solidFill>
                  <a:latin typeface="+mn-lt"/>
                  <a:ea typeface="+mn-ea"/>
                  <a:cs typeface="+mn-cs"/>
                </a:rPr>
                <a:t>参加一次体验；</a:t>
              </a:r>
              <a:br>
                <a:rPr lang="zh-CN" sz="2700" dirty="0">
                  <a:solidFill>
                    <a:schemeClr val="dk1"/>
                  </a:solidFill>
                  <a:latin typeface="+mn-lt"/>
                  <a:ea typeface="+mn-ea"/>
                  <a:cs typeface="+mn-cs"/>
                </a:rPr>
              </a:br>
              <a:r>
                <a:rPr lang="zh-CN" sz="2700" dirty="0">
                  <a:solidFill>
                    <a:schemeClr val="dk1"/>
                  </a:solidFill>
                  <a:latin typeface="+mn-lt"/>
                  <a:ea typeface="+mn-ea"/>
                  <a:cs typeface="+mn-cs"/>
                </a:rPr>
                <a:t>比较两条升学路径的要求与成本。</a:t>
              </a:r>
            </a:p>
          </p:txBody>
        </p:sp>
      </p:grpSp>
      <p:sp>
        <p:nvSpPr>
          <p:cNvPr id="12"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兴趣会变；专业与职业不是一一对应。信息应多源核验。</a:t>
            </a:r>
          </a:p>
        </p:txBody>
      </p:sp>
      <p:sp>
        <p:nvSpPr>
          <p:cNvPr id="13"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26 / 32　·　4 分钟</a:t>
            </a:r>
          </a:p>
        </p:txBody>
      </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7804404" cy="1384300"/>
            <a:chOff x="895350" y="908050"/>
            <a:chExt cx="7804404"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05　未来与选择　/　对准焦虑</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三种未来焦虑，三种不同的应对</a:t>
              </a:r>
            </a:p>
          </p:txBody>
        </p:sp>
      </p:grpSp>
      <p:grpSp>
        <p:nvGrpSpPr>
          <p:cNvPr id="17" name="different-needs"/>
          <p:cNvGrpSpPr/>
          <p:nvPr/>
        </p:nvGrpSpPr>
        <p:grpSpPr>
          <a:xfrm>
            <a:off x="1047750" y="3460750"/>
            <a:ext cx="16097250" cy="4677791"/>
            <a:chOff x="1047750" y="3460750"/>
            <a:chExt cx="16097250" cy="4677791"/>
          </a:xfrm>
        </p:grpSpPr>
        <p:sp>
          <p:nvSpPr>
            <p:cNvPr id="5" name="TextBox 5"/>
            <p:cNvSpPr txBox="1"/>
            <p:nvPr/>
          </p:nvSpPr>
          <p:spPr>
            <a:xfrm>
              <a:off x="1132332" y="3460750"/>
              <a:ext cx="161925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我更担心什么</a:t>
              </a:r>
            </a:p>
          </p:txBody>
        </p:sp>
        <p:sp>
          <p:nvSpPr>
            <p:cNvPr id="6" name="TextBox 6"/>
            <p:cNvSpPr txBox="1"/>
            <p:nvPr/>
          </p:nvSpPr>
          <p:spPr>
            <a:xfrm>
              <a:off x="9514332" y="3460750"/>
              <a:ext cx="78105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可以核实或练习什么</a:t>
              </a:r>
            </a:p>
          </p:txBody>
        </p:sp>
        <p:sp>
          <p:nvSpPr>
            <p:cNvPr id="7" name="Line 7"/>
            <p:cNvSpPr/>
            <p:nvPr/>
          </p:nvSpPr>
          <p:spPr>
            <a:xfrm>
              <a:off x="1047750" y="4095750"/>
              <a:ext cx="16097250" cy="9525"/>
            </a:xfrm>
            <a:custGeom>
              <a:avLst/>
              <a:gdLst/>
              <a:ahLst/>
              <a:cxnLst/>
              <a:rect l="l" t="t" r="r" b="b"/>
              <a:pathLst>
                <a:path w="16097250" h="9525">
                  <a:moveTo>
                    <a:pt x="0" y="0"/>
                  </a:moveTo>
                  <a:lnTo>
                    <a:pt x="16097250" y="0"/>
                  </a:lnTo>
                </a:path>
              </a:pathLst>
            </a:custGeom>
            <a:noFill/>
            <a:ln w="19050">
              <a:solidFill>
                <a:schemeClr val="accent6"/>
              </a:solidFill>
            </a:ln>
          </p:spPr>
          <p:txBody>
            <a:bodyPr/>
            <a:p/>
          </p:txBody>
        </p:sp>
        <p:sp>
          <p:nvSpPr>
            <p:cNvPr id="8" name="TextBox 8"/>
            <p:cNvSpPr txBox="1"/>
            <p:nvPr/>
          </p:nvSpPr>
          <p:spPr>
            <a:xfrm>
              <a:off x="1127760" y="4537075"/>
              <a:ext cx="16192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怕考不上</a:t>
              </a:r>
            </a:p>
          </p:txBody>
        </p:sp>
        <p:sp>
          <p:nvSpPr>
            <p:cNvPr id="9" name="TextBox 9"/>
            <p:cNvSpPr txBox="1"/>
            <p:nvPr/>
          </p:nvSpPr>
          <p:spPr>
            <a:xfrm>
              <a:off x="9511284" y="4575175"/>
              <a:ext cx="78105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查实际目标与备选路径</a:t>
              </a:r>
            </a:p>
          </p:txBody>
        </p:sp>
        <p:sp>
          <p:nvSpPr>
            <p:cNvPr id="10" name="TextBox 10"/>
            <p:cNvSpPr txBox="1"/>
            <p:nvPr/>
          </p:nvSpPr>
          <p:spPr>
            <a:xfrm>
              <a:off x="1127760" y="5822950"/>
              <a:ext cx="16192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怕选错</a:t>
              </a:r>
            </a:p>
          </p:txBody>
        </p:sp>
        <p:sp>
          <p:nvSpPr>
            <p:cNvPr id="11" name="TextBox 11"/>
            <p:cNvSpPr txBox="1"/>
            <p:nvPr/>
          </p:nvSpPr>
          <p:spPr>
            <a:xfrm>
              <a:off x="9511284" y="5861050"/>
              <a:ext cx="78105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做低成本体验与信息访谈</a:t>
              </a:r>
            </a:p>
          </p:txBody>
        </p:sp>
        <p:sp>
          <p:nvSpPr>
            <p:cNvPr id="12" name="TextBox 12"/>
            <p:cNvSpPr txBox="1"/>
            <p:nvPr/>
          </p:nvSpPr>
          <p:spPr>
            <a:xfrm>
              <a:off x="1127760" y="7108825"/>
              <a:ext cx="1619250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怕社会太难</a:t>
              </a:r>
            </a:p>
          </p:txBody>
        </p:sp>
        <p:sp>
          <p:nvSpPr>
            <p:cNvPr id="13" name="TextBox 13"/>
            <p:cNvSpPr txBox="1"/>
            <p:nvPr/>
          </p:nvSpPr>
          <p:spPr>
            <a:xfrm>
              <a:off x="9511284" y="7058025"/>
              <a:ext cx="7810500" cy="1080516"/>
            </a:xfrm>
            <a:prstGeom prst="rect">
              <a:avLst/>
            </a:prstGeom>
            <a:noFill/>
            <a:ln>
              <a:noFill/>
            </a:ln>
          </p:spPr>
          <p:txBody>
            <a:bodyPr wrap="none" lIns="0" tIns="0" rIns="0" bIns="0" anchor="t" anchorCtr="0">
              <a:noAutofit/>
            </a:bodyPr>
            <a:lstStyle/>
            <a:p>
              <a:pPr algn="l">
                <a:lnSpc>
                  <a:spcPts val="4350"/>
                </a:lnSpc>
              </a:pPr>
              <a:r>
                <a:rPr lang="zh-CN" sz="2700" dirty="0">
                  <a:solidFill>
                    <a:schemeClr val="dk1"/>
                  </a:solidFill>
                  <a:latin typeface="+mn-lt"/>
                  <a:ea typeface="+mn-ea"/>
                  <a:cs typeface="+mn-cs"/>
                </a:rPr>
                <a:t>列可控能力、可用支持</a:t>
              </a:r>
              <a:br>
                <a:rPr lang="zh-CN" sz="2700" dirty="0">
                  <a:solidFill>
                    <a:schemeClr val="dk1"/>
                  </a:solidFill>
                  <a:latin typeface="+mn-lt"/>
                  <a:ea typeface="+mn-ea"/>
                  <a:cs typeface="+mn-cs"/>
                </a:rPr>
              </a:br>
              <a:r>
                <a:rPr lang="zh-CN" sz="2700" dirty="0">
                  <a:solidFill>
                    <a:schemeClr val="dk1"/>
                  </a:solidFill>
                  <a:latin typeface="+mn-lt"/>
                  <a:ea typeface="+mn-ea"/>
                  <a:cs typeface="+mn-cs"/>
                </a:rPr>
                <a:t>与不可控条件</a:t>
              </a:r>
            </a:p>
          </p:txBody>
        </p:sp>
        <p:sp>
          <p:nvSpPr>
            <p:cNvPr id="14" name="Line 14"/>
            <p:cNvSpPr/>
            <p:nvPr/>
          </p:nvSpPr>
          <p:spPr>
            <a:xfrm>
              <a:off x="4953000" y="4762500"/>
              <a:ext cx="3429000" cy="9525"/>
            </a:xfrm>
            <a:custGeom>
              <a:avLst/>
              <a:gdLst/>
              <a:ahLst/>
              <a:cxnLst/>
              <a:rect l="l" t="t" r="r" b="b"/>
              <a:pathLst>
                <a:path w="3429000" h="9525">
                  <a:moveTo>
                    <a:pt x="0" y="0"/>
                  </a:moveTo>
                  <a:lnTo>
                    <a:pt x="3429000" y="0"/>
                  </a:lnTo>
                </a:path>
              </a:pathLst>
            </a:custGeom>
            <a:noFill/>
            <a:ln w="28575">
              <a:solidFill>
                <a:schemeClr val="accent2"/>
              </a:solidFill>
            </a:ln>
          </p:spPr>
          <p:txBody>
            <a:bodyPr/>
            <a:p/>
          </p:txBody>
        </p:sp>
        <p:sp>
          <p:nvSpPr>
            <p:cNvPr id="15" name="Line 15"/>
            <p:cNvSpPr/>
            <p:nvPr/>
          </p:nvSpPr>
          <p:spPr>
            <a:xfrm>
              <a:off x="4953000" y="6048375"/>
              <a:ext cx="3429000" cy="9525"/>
            </a:xfrm>
            <a:custGeom>
              <a:avLst/>
              <a:gdLst/>
              <a:ahLst/>
              <a:cxnLst/>
              <a:rect l="l" t="t" r="r" b="b"/>
              <a:pathLst>
                <a:path w="3429000" h="9525">
                  <a:moveTo>
                    <a:pt x="0" y="0"/>
                  </a:moveTo>
                  <a:lnTo>
                    <a:pt x="3429000" y="0"/>
                  </a:lnTo>
                </a:path>
              </a:pathLst>
            </a:custGeom>
            <a:noFill/>
            <a:ln w="28575">
              <a:solidFill>
                <a:schemeClr val="accent2"/>
              </a:solidFill>
            </a:ln>
          </p:spPr>
          <p:txBody>
            <a:bodyPr/>
            <a:p/>
          </p:txBody>
        </p:sp>
        <p:sp>
          <p:nvSpPr>
            <p:cNvPr id="16" name="Line 16"/>
            <p:cNvSpPr/>
            <p:nvPr/>
          </p:nvSpPr>
          <p:spPr>
            <a:xfrm>
              <a:off x="4953000" y="7334250"/>
              <a:ext cx="3429000" cy="9525"/>
            </a:xfrm>
            <a:custGeom>
              <a:avLst/>
              <a:gdLst/>
              <a:ahLst/>
              <a:cxnLst/>
              <a:rect l="l" t="t" r="r" b="b"/>
              <a:pathLst>
                <a:path w="3429000" h="9525">
                  <a:moveTo>
                    <a:pt x="0" y="0"/>
                  </a:moveTo>
                  <a:lnTo>
                    <a:pt x="3429000" y="0"/>
                  </a:lnTo>
                </a:path>
              </a:pathLst>
            </a:custGeom>
            <a:noFill/>
            <a:ln w="28575">
              <a:solidFill>
                <a:schemeClr val="accent2"/>
              </a:solidFill>
            </a:ln>
          </p:spPr>
          <p:txBody>
            <a:bodyPr/>
            <a:p/>
          </p:txBody>
        </p:sp>
      </p:grpSp>
      <p:sp>
        <p:nvSpPr>
          <p:cNvPr id="18"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互动 · 选一种焦虑，写一个对应行动。机会差异真实存在，不用个人努力解释一切。</a:t>
            </a:r>
          </a:p>
        </p:txBody>
      </p:sp>
      <p:sp>
        <p:nvSpPr>
          <p:cNvPr id="19"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27 / 32　·　5 分钟</a:t>
            </a:r>
          </a:p>
        </p:txBody>
      </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6140196" cy="1384300"/>
            <a:chOff x="895350" y="908050"/>
            <a:chExt cx="6140196"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05　未来与选择　/　时间与可逆性</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一个选择，不等于一辈子</a:t>
              </a:r>
            </a:p>
          </p:txBody>
        </p:sp>
      </p:grpSp>
      <p:grpSp>
        <p:nvGrpSpPr>
          <p:cNvPr id="18" name="horizons"/>
          <p:cNvGrpSpPr/>
          <p:nvPr/>
        </p:nvGrpSpPr>
        <p:grpSpPr>
          <a:xfrm>
            <a:off x="1295400" y="3489325"/>
            <a:ext cx="12241530" cy="4035425"/>
            <a:chOff x="1295400" y="3489325"/>
            <a:chExt cx="12241530" cy="4035425"/>
          </a:xfrm>
        </p:grpSpPr>
        <p:sp>
          <p:nvSpPr>
            <p:cNvPr id="5" name="Line 5"/>
            <p:cNvSpPr/>
            <p:nvPr/>
          </p:nvSpPr>
          <p:spPr>
            <a:xfrm>
              <a:off x="1428750" y="3619500"/>
              <a:ext cx="9525" cy="3905250"/>
            </a:xfrm>
            <a:custGeom>
              <a:avLst/>
              <a:gdLst/>
              <a:ahLst/>
              <a:cxnLst/>
              <a:rect l="l" t="t" r="r" b="b"/>
              <a:pathLst>
                <a:path w="9525" h="3905250">
                  <a:moveTo>
                    <a:pt x="0" y="0"/>
                  </a:moveTo>
                  <a:lnTo>
                    <a:pt x="0" y="3905250"/>
                  </a:lnTo>
                </a:path>
              </a:pathLst>
            </a:custGeom>
            <a:noFill/>
            <a:ln w="38100">
              <a:solidFill>
                <a:schemeClr val="accent6"/>
              </a:solidFill>
            </a:ln>
          </p:spPr>
          <p:txBody>
            <a:bodyPr/>
            <a:p/>
          </p:txBody>
        </p:sp>
        <p:sp>
          <p:nvSpPr>
            <p:cNvPr id="6" name="Ellipse 6"/>
            <p:cNvSpPr/>
            <p:nvPr/>
          </p:nvSpPr>
          <p:spPr>
            <a:xfrm>
              <a:off x="1295400" y="3581400"/>
              <a:ext cx="266700" cy="266700"/>
            </a:xfrm>
            <a:prstGeom prst="ellipse">
              <a:avLst/>
            </a:prstGeom>
            <a:solidFill>
              <a:schemeClr val="accent1"/>
            </a:solidFill>
            <a:ln>
              <a:noFill/>
            </a:ln>
          </p:spPr>
          <p:txBody>
            <a:bodyPr/>
            <a:p/>
          </p:txBody>
        </p:sp>
        <p:sp>
          <p:nvSpPr>
            <p:cNvPr id="7" name="Ellipse 7"/>
            <p:cNvSpPr/>
            <p:nvPr/>
          </p:nvSpPr>
          <p:spPr>
            <a:xfrm>
              <a:off x="1295400" y="5295900"/>
              <a:ext cx="266700" cy="266700"/>
            </a:xfrm>
            <a:prstGeom prst="ellipse">
              <a:avLst/>
            </a:prstGeom>
            <a:solidFill>
              <a:schemeClr val="accent2"/>
            </a:solidFill>
            <a:ln>
              <a:noFill/>
            </a:ln>
          </p:spPr>
          <p:txBody>
            <a:bodyPr/>
            <a:p/>
          </p:txBody>
        </p:sp>
        <p:sp>
          <p:nvSpPr>
            <p:cNvPr id="8" name="Ellipse 8"/>
            <p:cNvSpPr/>
            <p:nvPr/>
          </p:nvSpPr>
          <p:spPr>
            <a:xfrm>
              <a:off x="1295400" y="7010400"/>
              <a:ext cx="266700" cy="266700"/>
            </a:xfrm>
            <a:prstGeom prst="ellipse">
              <a:avLst/>
            </a:prstGeom>
            <a:solidFill>
              <a:schemeClr val="lt1"/>
            </a:solidFill>
            <a:ln w="38100">
              <a:solidFill>
                <a:schemeClr val="accent1"/>
              </a:solidFill>
            </a:ln>
          </p:spPr>
          <p:txBody>
            <a:bodyPr/>
            <a:p/>
          </p:txBody>
        </p:sp>
        <p:sp>
          <p:nvSpPr>
            <p:cNvPr id="9" name="TextBox 9"/>
            <p:cNvSpPr txBox="1"/>
            <p:nvPr/>
          </p:nvSpPr>
          <p:spPr>
            <a:xfrm>
              <a:off x="2175510" y="3489325"/>
              <a:ext cx="15144750" cy="586740"/>
            </a:xfrm>
            <a:prstGeom prst="rect">
              <a:avLst/>
            </a:prstGeom>
            <a:noFill/>
            <a:ln>
              <a:noFill/>
            </a:ln>
          </p:spPr>
          <p:txBody>
            <a:bodyPr wrap="none" lIns="0" tIns="0" rIns="0" bIns="0" anchor="t" anchorCtr="0">
              <a:noAutofit/>
            </a:bodyPr>
            <a:lstStyle/>
            <a:p>
              <a:pPr algn="l"/>
              <a:r>
                <a:rPr lang="zh-CN" sz="3000" dirty="0">
                  <a:solidFill>
                    <a:schemeClr val="accent1"/>
                  </a:solidFill>
                  <a:latin typeface="+mn-lt"/>
                  <a:ea typeface="+mn-ea"/>
                  <a:cs typeface="+mn-cs"/>
                </a:rPr>
                <a:t>本周能决定</a:t>
              </a:r>
            </a:p>
          </p:txBody>
        </p:sp>
        <p:sp>
          <p:nvSpPr>
            <p:cNvPr id="10" name="TextBox 10"/>
            <p:cNvSpPr txBox="1"/>
            <p:nvPr/>
          </p:nvSpPr>
          <p:spPr>
            <a:xfrm>
              <a:off x="9511284" y="3527425"/>
              <a:ext cx="78105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一个学习实验</a:t>
              </a:r>
            </a:p>
          </p:txBody>
        </p:sp>
        <p:sp>
          <p:nvSpPr>
            <p:cNvPr id="11" name="TextBox 11"/>
            <p:cNvSpPr txBox="1"/>
            <p:nvPr/>
          </p:nvSpPr>
          <p:spPr>
            <a:xfrm>
              <a:off x="2175510" y="5203825"/>
              <a:ext cx="15144750" cy="586740"/>
            </a:xfrm>
            <a:prstGeom prst="rect">
              <a:avLst/>
            </a:prstGeom>
            <a:noFill/>
            <a:ln>
              <a:noFill/>
            </a:ln>
          </p:spPr>
          <p:txBody>
            <a:bodyPr wrap="none" lIns="0" tIns="0" rIns="0" bIns="0" anchor="t" anchorCtr="0">
              <a:noAutofit/>
            </a:bodyPr>
            <a:lstStyle/>
            <a:p>
              <a:pPr algn="l"/>
              <a:r>
                <a:rPr lang="zh-CN" sz="3000" dirty="0">
                  <a:solidFill>
                    <a:schemeClr val="accent1"/>
                  </a:solidFill>
                  <a:latin typeface="+mn-lt"/>
                  <a:ea typeface="+mn-ea"/>
                  <a:cs typeface="+mn-cs"/>
                </a:rPr>
                <a:t>本学期能探索</a:t>
              </a:r>
            </a:p>
          </p:txBody>
        </p:sp>
        <p:sp>
          <p:nvSpPr>
            <p:cNvPr id="12" name="TextBox 12"/>
            <p:cNvSpPr txBox="1"/>
            <p:nvPr/>
          </p:nvSpPr>
          <p:spPr>
            <a:xfrm>
              <a:off x="9511284" y="5241925"/>
              <a:ext cx="78105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一门方向与一个真实访谈</a:t>
              </a:r>
            </a:p>
          </p:txBody>
        </p:sp>
        <p:sp>
          <p:nvSpPr>
            <p:cNvPr id="13" name="TextBox 13"/>
            <p:cNvSpPr txBox="1"/>
            <p:nvPr/>
          </p:nvSpPr>
          <p:spPr>
            <a:xfrm>
              <a:off x="2175510" y="6918325"/>
              <a:ext cx="15144750" cy="586740"/>
            </a:xfrm>
            <a:prstGeom prst="rect">
              <a:avLst/>
            </a:prstGeom>
            <a:noFill/>
            <a:ln>
              <a:noFill/>
            </a:ln>
          </p:spPr>
          <p:txBody>
            <a:bodyPr wrap="none" lIns="0" tIns="0" rIns="0" bIns="0" anchor="t" anchorCtr="0">
              <a:noAutofit/>
            </a:bodyPr>
            <a:lstStyle/>
            <a:p>
              <a:pPr algn="l"/>
              <a:r>
                <a:rPr lang="zh-CN" sz="3000" dirty="0">
                  <a:solidFill>
                    <a:schemeClr val="accent1"/>
                  </a:solidFill>
                  <a:latin typeface="+mn-lt"/>
                  <a:ea typeface="+mn-ea"/>
                  <a:cs typeface="+mn-cs"/>
                </a:rPr>
                <a:t>未来再决定</a:t>
              </a:r>
            </a:p>
          </p:txBody>
        </p:sp>
        <p:sp>
          <p:nvSpPr>
            <p:cNvPr id="14" name="TextBox 14"/>
            <p:cNvSpPr txBox="1"/>
            <p:nvPr/>
          </p:nvSpPr>
          <p:spPr>
            <a:xfrm>
              <a:off x="9511284" y="6956425"/>
              <a:ext cx="78105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专业、城市、职业</a:t>
              </a:r>
            </a:p>
          </p:txBody>
        </p:sp>
        <p:sp>
          <p:nvSpPr>
            <p:cNvPr id="15" name="Line 15"/>
            <p:cNvSpPr/>
            <p:nvPr/>
          </p:nvSpPr>
          <p:spPr>
            <a:xfrm>
              <a:off x="5905500" y="3714750"/>
              <a:ext cx="2857500" cy="9525"/>
            </a:xfrm>
            <a:custGeom>
              <a:avLst/>
              <a:gdLst/>
              <a:ahLst/>
              <a:cxnLst/>
              <a:rect l="l" t="t" r="r" b="b"/>
              <a:pathLst>
                <a:path w="2857500" h="9525">
                  <a:moveTo>
                    <a:pt x="0" y="0"/>
                  </a:moveTo>
                  <a:lnTo>
                    <a:pt x="2857500" y="0"/>
                  </a:lnTo>
                </a:path>
              </a:pathLst>
            </a:custGeom>
            <a:noFill/>
            <a:ln w="28575">
              <a:solidFill>
                <a:schemeClr val="accent6"/>
              </a:solidFill>
            </a:ln>
          </p:spPr>
          <p:txBody>
            <a:bodyPr/>
            <a:p/>
          </p:txBody>
        </p:sp>
        <p:sp>
          <p:nvSpPr>
            <p:cNvPr id="16" name="Line 16"/>
            <p:cNvSpPr/>
            <p:nvPr/>
          </p:nvSpPr>
          <p:spPr>
            <a:xfrm>
              <a:off x="5905500" y="5429250"/>
              <a:ext cx="2857500" cy="9525"/>
            </a:xfrm>
            <a:custGeom>
              <a:avLst/>
              <a:gdLst/>
              <a:ahLst/>
              <a:cxnLst/>
              <a:rect l="l" t="t" r="r" b="b"/>
              <a:pathLst>
                <a:path w="2857500" h="9525">
                  <a:moveTo>
                    <a:pt x="0" y="0"/>
                  </a:moveTo>
                  <a:lnTo>
                    <a:pt x="2857500" y="0"/>
                  </a:lnTo>
                </a:path>
              </a:pathLst>
            </a:custGeom>
            <a:noFill/>
            <a:ln w="28575">
              <a:solidFill>
                <a:schemeClr val="accent6"/>
              </a:solidFill>
            </a:ln>
          </p:spPr>
          <p:txBody>
            <a:bodyPr/>
            <a:p/>
          </p:txBody>
        </p:sp>
        <p:sp>
          <p:nvSpPr>
            <p:cNvPr id="17" name="Line 17"/>
            <p:cNvSpPr/>
            <p:nvPr/>
          </p:nvSpPr>
          <p:spPr>
            <a:xfrm>
              <a:off x="5905500" y="7143750"/>
              <a:ext cx="2857500" cy="9525"/>
            </a:xfrm>
            <a:custGeom>
              <a:avLst/>
              <a:gdLst/>
              <a:ahLst/>
              <a:cxnLst/>
              <a:rect l="l" t="t" r="r" b="b"/>
              <a:pathLst>
                <a:path w="2857500" h="9525">
                  <a:moveTo>
                    <a:pt x="0" y="0"/>
                  </a:moveTo>
                  <a:lnTo>
                    <a:pt x="2857500" y="0"/>
                  </a:lnTo>
                </a:path>
              </a:pathLst>
            </a:custGeom>
            <a:noFill/>
            <a:ln w="28575">
              <a:solidFill>
                <a:schemeClr val="accent6"/>
              </a:solidFill>
              <a:prstDash val="lgDash"/>
            </a:ln>
          </p:spPr>
          <p:txBody>
            <a:bodyPr/>
            <a:p/>
          </p:txBody>
        </p:sp>
      </p:grpSp>
      <p:sp>
        <p:nvSpPr>
          <p:cNvPr id="19"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不同决策有不同可逆性。高考很重要，今天也不必替未来每个自己签终身合同。</a:t>
            </a:r>
          </a:p>
        </p:txBody>
      </p:sp>
      <p:sp>
        <p:nvSpPr>
          <p:cNvPr id="20"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28 / 32　·　3 分钟</a:t>
            </a:r>
          </a:p>
        </p:txBody>
      </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5585460" cy="1384300"/>
            <a:chOff x="895350" y="908050"/>
            <a:chExt cx="5585460"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06　连接支持　/　何时求助</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什么时候要找真人帮忙</a:t>
              </a:r>
            </a:p>
          </p:txBody>
        </p:sp>
      </p:grpSp>
      <p:grpSp>
        <p:nvGrpSpPr>
          <p:cNvPr id="8" name="persistent-impact"/>
          <p:cNvGrpSpPr/>
          <p:nvPr/>
        </p:nvGrpSpPr>
        <p:grpSpPr>
          <a:xfrm>
            <a:off x="1129284" y="3508375"/>
            <a:ext cx="4830318" cy="4411218"/>
            <a:chOff x="1129284" y="3508375"/>
            <a:chExt cx="4830318" cy="4411218"/>
          </a:xfrm>
        </p:grpSpPr>
        <p:sp>
          <p:nvSpPr>
            <p:cNvPr id="5" name="TextBox 5"/>
            <p:cNvSpPr txBox="1"/>
            <p:nvPr/>
          </p:nvSpPr>
          <p:spPr>
            <a:xfrm>
              <a:off x="1132332" y="3508375"/>
              <a:ext cx="73533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持续困扰与功能变化</a:t>
              </a:r>
            </a:p>
          </p:txBody>
        </p:sp>
        <p:sp>
          <p:nvSpPr>
            <p:cNvPr id="6" name="TextBox 6"/>
            <p:cNvSpPr txBox="1"/>
            <p:nvPr/>
          </p:nvSpPr>
          <p:spPr>
            <a:xfrm>
              <a:off x="1129284" y="4318000"/>
              <a:ext cx="7353300" cy="2661666"/>
            </a:xfrm>
            <a:prstGeom prst="rect">
              <a:avLst/>
            </a:prstGeom>
            <a:noFill/>
            <a:ln>
              <a:noFill/>
            </a:ln>
          </p:spPr>
          <p:txBody>
            <a:bodyPr wrap="none" lIns="0" tIns="0" rIns="0" bIns="0" anchor="t" anchorCtr="0">
              <a:noAutofit/>
            </a:bodyPr>
            <a:lstStyle/>
            <a:p>
              <a:pPr algn="l">
                <a:lnSpc>
                  <a:spcPts val="4650"/>
                </a:lnSpc>
              </a:pPr>
              <a:r>
                <a:rPr lang="zh-CN" sz="2700" dirty="0">
                  <a:solidFill>
                    <a:schemeClr val="dk1"/>
                  </a:solidFill>
                  <a:latin typeface="+mn-lt"/>
                  <a:ea typeface="+mn-ea"/>
                  <a:cs typeface="+mn-cs"/>
                </a:rPr>
                <a:t>情绪或睡眠问题持续，</a:t>
              </a:r>
              <a:br>
                <a:rPr lang="zh-CN" sz="2700" dirty="0">
                  <a:solidFill>
                    <a:schemeClr val="dk1"/>
                  </a:solidFill>
                  <a:latin typeface="+mn-lt"/>
                  <a:ea typeface="+mn-ea"/>
                  <a:cs typeface="+mn-cs"/>
                </a:rPr>
              </a:br>
              <a:r>
                <a:rPr lang="zh-CN" sz="2700" dirty="0">
                  <a:solidFill>
                    <a:schemeClr val="dk1"/>
                  </a:solidFill>
                  <a:latin typeface="+mn-lt"/>
                  <a:ea typeface="+mn-ea"/>
                  <a:cs typeface="+mn-cs"/>
                </a:rPr>
                <a:t>明显影响上学、学习和生活；</a:t>
              </a:r>
            </a:p>
            <a:p>
              <a:pPr algn="l">
                <a:lnSpc>
                  <a:spcPts val="4650"/>
                </a:lnSpc>
                <a:spcBef>
                  <a:spcPts val="2850"/>
                </a:spcBef>
              </a:pPr>
              <a:r>
                <a:rPr lang="zh-CN" sz="2700" dirty="0">
                  <a:solidFill>
                    <a:schemeClr val="dk1"/>
                  </a:solidFill>
                  <a:latin typeface="+mn-lt"/>
                  <a:ea typeface="+mn-ea"/>
                  <a:cs typeface="+mn-cs"/>
                </a:rPr>
                <a:t>明显退缩、绝望，</a:t>
              </a:r>
              <a:br>
                <a:rPr lang="zh-CN" sz="2700" dirty="0">
                  <a:solidFill>
                    <a:schemeClr val="dk1"/>
                  </a:solidFill>
                  <a:latin typeface="+mn-lt"/>
                  <a:ea typeface="+mn-ea"/>
                  <a:cs typeface="+mn-cs"/>
                </a:rPr>
              </a:br>
              <a:r>
                <a:rPr lang="zh-CN" sz="2700" dirty="0">
                  <a:solidFill>
                    <a:schemeClr val="dk1"/>
                  </a:solidFill>
                  <a:latin typeface="+mn-lt"/>
                  <a:ea typeface="+mn-ea"/>
                  <a:cs typeface="+mn-cs"/>
                </a:rPr>
                <a:t>或功能下降。</a:t>
              </a:r>
            </a:p>
          </p:txBody>
        </p:sp>
        <p:sp>
          <p:nvSpPr>
            <p:cNvPr id="7" name="TextBox 7"/>
            <p:cNvSpPr txBox="1"/>
            <p:nvPr/>
          </p:nvSpPr>
          <p:spPr>
            <a:xfrm>
              <a:off x="1132332" y="7508875"/>
              <a:ext cx="73533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不需要等到某个时长，才有资格求助。</a:t>
              </a:r>
            </a:p>
          </p:txBody>
        </p:sp>
      </p:grpSp>
      <p:grpSp>
        <p:nvGrpSpPr>
          <p:cNvPr id="13" name="immediate-risk"/>
          <p:cNvGrpSpPr/>
          <p:nvPr/>
        </p:nvGrpSpPr>
        <p:grpSpPr>
          <a:xfrm>
            <a:off x="9525000" y="3095625"/>
            <a:ext cx="7620000" cy="5095875"/>
            <a:chOff x="9525000" y="3095625"/>
            <a:chExt cx="7620000" cy="5095875"/>
          </a:xfrm>
        </p:grpSpPr>
        <p:sp>
          <p:nvSpPr>
            <p:cNvPr id="9" name="Rectangle 9"/>
            <p:cNvSpPr/>
            <p:nvPr/>
          </p:nvSpPr>
          <p:spPr>
            <a:xfrm>
              <a:off x="9525000" y="3095625"/>
              <a:ext cx="7620000" cy="5095875"/>
            </a:xfrm>
            <a:prstGeom prst="roundRect">
              <a:avLst>
                <a:gd name="adj" fmla="val 4486"/>
              </a:avLst>
            </a:prstGeom>
            <a:solidFill>
              <a:schemeClr val="lt2"/>
            </a:solidFill>
            <a:ln>
              <a:noFill/>
            </a:ln>
          </p:spPr>
          <p:txBody>
            <a:bodyPr/>
            <a:p/>
          </p:txBody>
        </p:sp>
        <p:sp>
          <p:nvSpPr>
            <p:cNvPr id="10" name="TextBox 10"/>
            <p:cNvSpPr txBox="1"/>
            <p:nvPr/>
          </p:nvSpPr>
          <p:spPr>
            <a:xfrm>
              <a:off x="9971532" y="3508375"/>
              <a:ext cx="71247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出现自伤或轻生念头</a:t>
              </a:r>
            </a:p>
          </p:txBody>
        </p:sp>
        <p:sp>
          <p:nvSpPr>
            <p:cNvPr id="11" name="TextBox 11"/>
            <p:cNvSpPr txBox="1"/>
            <p:nvPr/>
          </p:nvSpPr>
          <p:spPr>
            <a:xfrm>
              <a:off x="9966960" y="4349750"/>
              <a:ext cx="7124700" cy="1253490"/>
            </a:xfrm>
            <a:prstGeom prst="rect">
              <a:avLst/>
            </a:prstGeom>
            <a:noFill/>
            <a:ln>
              <a:noFill/>
            </a:ln>
          </p:spPr>
          <p:txBody>
            <a:bodyPr wrap="none" lIns="0" tIns="0" rIns="0" bIns="0" anchor="t" anchorCtr="0">
              <a:noAutofit/>
            </a:bodyPr>
            <a:lstStyle/>
            <a:p>
              <a:pPr algn="l">
                <a:lnSpc>
                  <a:spcPts val="5250"/>
                </a:lnSpc>
              </a:pPr>
              <a:r>
                <a:rPr lang="zh-CN" sz="3000" dirty="0">
                  <a:solidFill>
                    <a:schemeClr val="accent1"/>
                  </a:solidFill>
                  <a:latin typeface="+mn-lt"/>
                  <a:ea typeface="+mn-ea"/>
                  <a:cs typeface="+mn-cs"/>
                </a:rPr>
                <a:t>立刻告诉可信赖成人，</a:t>
              </a:r>
              <a:br>
                <a:rPr lang="zh-CN" sz="3000" dirty="0">
                  <a:solidFill>
                    <a:schemeClr val="accent1"/>
                  </a:solidFill>
                  <a:latin typeface="+mn-lt"/>
                  <a:ea typeface="+mn-ea"/>
                  <a:cs typeface="+mn-cs"/>
                </a:rPr>
              </a:br>
              <a:r>
                <a:rPr lang="zh-CN" sz="3000" dirty="0">
                  <a:solidFill>
                    <a:schemeClr val="accent1"/>
                  </a:solidFill>
                  <a:latin typeface="+mn-lt"/>
                  <a:ea typeface="+mn-ea"/>
                  <a:cs typeface="+mn-cs"/>
                </a:rPr>
                <a:t>并寻求紧急专业帮助。</a:t>
              </a:r>
            </a:p>
          </p:txBody>
        </p:sp>
        <p:sp>
          <p:nvSpPr>
            <p:cNvPr id="12" name="TextBox 12"/>
            <p:cNvSpPr txBox="1"/>
            <p:nvPr/>
          </p:nvSpPr>
          <p:spPr>
            <a:xfrm>
              <a:off x="9968484" y="6908800"/>
              <a:ext cx="71247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有即时风险，不能等两周。</a:t>
              </a:r>
            </a:p>
          </p:txBody>
        </p:sp>
      </p:grpSp>
      <p:sp>
        <p:nvSpPr>
          <p:cNvPr id="14"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WHO, 2025 [S02]；WHO 自伤与自杀证据中心 [S11]　｜　讲座不能替代诊断。</a:t>
            </a:r>
          </a:p>
        </p:txBody>
      </p:sp>
      <p:sp>
        <p:nvSpPr>
          <p:cNvPr id="15"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求助不是最后一步才允许做的事。</a:t>
            </a:r>
          </a:p>
        </p:txBody>
      </p:sp>
      <p:sp>
        <p:nvSpPr>
          <p:cNvPr id="16"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29 / 32　·　4 分钟</a:t>
            </a:r>
          </a:p>
        </p:txBody>
      </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4475988" cy="1384300"/>
            <a:chOff x="895350" y="908050"/>
            <a:chExt cx="4475988"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06　连接支持　/　可以照着说</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求助可以这样开口</a:t>
              </a:r>
            </a:p>
          </p:txBody>
        </p:sp>
      </p:grpSp>
      <p:grpSp>
        <p:nvGrpSpPr>
          <p:cNvPr id="7" name="help-script"/>
          <p:cNvGrpSpPr/>
          <p:nvPr/>
        </p:nvGrpSpPr>
        <p:grpSpPr>
          <a:xfrm>
            <a:off x="1030986" y="3168650"/>
            <a:ext cx="10322433" cy="2458466"/>
            <a:chOff x="1030986" y="3168650"/>
            <a:chExt cx="10322433" cy="2458466"/>
          </a:xfrm>
        </p:grpSpPr>
        <p:sp>
          <p:nvSpPr>
            <p:cNvPr id="5" name="TextBox 5"/>
            <p:cNvSpPr txBox="1"/>
            <p:nvPr/>
          </p:nvSpPr>
          <p:spPr>
            <a:xfrm>
              <a:off x="1030986" y="3168650"/>
              <a:ext cx="16287750" cy="1369314"/>
            </a:xfrm>
            <a:prstGeom prst="rect">
              <a:avLst/>
            </a:prstGeom>
            <a:noFill/>
            <a:ln>
              <a:noFill/>
            </a:ln>
          </p:spPr>
          <p:txBody>
            <a:bodyPr wrap="none" lIns="0" tIns="0" rIns="0" bIns="0" anchor="t" anchorCtr="0">
              <a:noAutofit/>
            </a:bodyPr>
            <a:lstStyle/>
            <a:p>
              <a:pPr algn="l">
                <a:lnSpc>
                  <a:spcPts val="5700"/>
                </a:lnSpc>
              </a:pPr>
              <a:r>
                <a:rPr lang="zh-CN" sz="3300" dirty="0">
                  <a:solidFill>
                    <a:schemeClr val="dk1"/>
                  </a:solidFill>
                  <a:latin typeface="+mn-lt"/>
                  <a:ea typeface="+mn-ea"/>
                  <a:cs typeface="+mn-cs"/>
                </a:rPr>
                <a:t>“我最近连续睡不好，上课很难集中。</a:t>
              </a:r>
              <a:br>
                <a:rPr lang="zh-CN" sz="3300" dirty="0">
                  <a:solidFill>
                    <a:schemeClr val="dk1"/>
                  </a:solidFill>
                  <a:latin typeface="+mn-lt"/>
                  <a:ea typeface="+mn-ea"/>
                  <a:cs typeface="+mn-cs"/>
                </a:rPr>
              </a:br>
              <a:r>
                <a:rPr lang="zh-CN" sz="3300" dirty="0">
                  <a:solidFill>
                    <a:schemeClr val="dk1"/>
                  </a:solidFill>
                  <a:latin typeface="+mn-lt"/>
                  <a:ea typeface="+mn-ea"/>
                  <a:cs typeface="+mn-cs"/>
                </a:rPr>
                <a:t>我希望你先听我说，并陪我联系学校心理老师／医院。”</a:t>
              </a:r>
            </a:p>
          </p:txBody>
        </p:sp>
        <p:sp>
          <p:nvSpPr>
            <p:cNvPr id="6" name="TextBox 6"/>
            <p:cNvSpPr txBox="1"/>
            <p:nvPr/>
          </p:nvSpPr>
          <p:spPr>
            <a:xfrm>
              <a:off x="1034034" y="5099050"/>
              <a:ext cx="16287750" cy="528066"/>
            </a:xfrm>
            <a:prstGeom prst="rect">
              <a:avLst/>
            </a:prstGeom>
            <a:noFill/>
            <a:ln>
              <a:noFill/>
            </a:ln>
          </p:spPr>
          <p:txBody>
            <a:bodyPr wrap="none" lIns="0" tIns="0" rIns="0" bIns="0" anchor="t" anchorCtr="0">
              <a:noAutofit/>
            </a:bodyPr>
            <a:lstStyle/>
            <a:p>
              <a:pPr algn="l"/>
              <a:r>
                <a:rPr lang="zh-CN" sz="2700" dirty="0">
                  <a:solidFill>
                    <a:schemeClr val="accent1"/>
                  </a:solidFill>
                  <a:latin typeface="+mn-lt"/>
                  <a:ea typeface="+mn-ea"/>
                  <a:cs typeface="+mn-cs"/>
                </a:rPr>
                <a:t>没被认真听见，继续找另一位可信赖成人。</a:t>
              </a:r>
            </a:p>
          </p:txBody>
        </p:sp>
      </p:grpSp>
      <p:grpSp>
        <p:nvGrpSpPr>
          <p:cNvPr id="10" name="school-contact"/>
          <p:cNvGrpSpPr/>
          <p:nvPr/>
        </p:nvGrpSpPr>
        <p:grpSpPr>
          <a:xfrm>
            <a:off x="914400" y="6191250"/>
            <a:ext cx="16459200" cy="1285875"/>
            <a:chOff x="914400" y="6191250"/>
            <a:chExt cx="16459200" cy="1285875"/>
          </a:xfrm>
        </p:grpSpPr>
        <p:sp>
          <p:nvSpPr>
            <p:cNvPr id="8" name="Rectangle 8"/>
            <p:cNvSpPr/>
            <p:nvPr/>
          </p:nvSpPr>
          <p:spPr>
            <a:xfrm>
              <a:off x="914400" y="6191250"/>
              <a:ext cx="16459200" cy="1285875"/>
            </a:xfrm>
            <a:prstGeom prst="roundRect">
              <a:avLst>
                <a:gd name="adj" fmla="val 17778"/>
              </a:avLst>
            </a:prstGeom>
            <a:solidFill>
              <a:schemeClr val="lt2"/>
            </a:solidFill>
            <a:ln w="19050">
              <a:solidFill>
                <a:schemeClr val="accent1"/>
              </a:solidFill>
              <a:prstDash val="dash"/>
            </a:ln>
          </p:spPr>
          <p:txBody>
            <a:bodyPr/>
            <a:p/>
          </p:txBody>
        </p:sp>
        <p:sp>
          <p:nvSpPr>
            <p:cNvPr id="9" name="TextBox 9"/>
            <p:cNvSpPr txBox="1"/>
            <p:nvPr/>
          </p:nvSpPr>
          <p:spPr>
            <a:xfrm>
              <a:off x="1319784" y="6651625"/>
              <a:ext cx="160020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【校内心理老师/地点/预约方式，由学校填写】</a:t>
              </a:r>
            </a:p>
          </p:txBody>
        </p:sp>
      </p:grpSp>
      <p:grpSp>
        <p:nvGrpSpPr>
          <p:cNvPr id="12" name="urgent"/>
          <p:cNvGrpSpPr/>
          <p:nvPr/>
        </p:nvGrpSpPr>
        <p:grpSpPr>
          <a:xfrm>
            <a:off x="1037082" y="8032750"/>
            <a:ext cx="7371588" cy="410718"/>
            <a:chOff x="1037082" y="8032750"/>
            <a:chExt cx="7371588" cy="410718"/>
          </a:xfrm>
        </p:grpSpPr>
        <p:sp>
          <p:nvSpPr>
            <p:cNvPr id="11" name="TextBox 11"/>
            <p:cNvSpPr txBox="1"/>
            <p:nvPr/>
          </p:nvSpPr>
          <p:spPr>
            <a:xfrm>
              <a:off x="1037082" y="8032750"/>
              <a:ext cx="16287750" cy="410718"/>
            </a:xfrm>
            <a:prstGeom prst="rect">
              <a:avLst/>
            </a:prstGeom>
            <a:noFill/>
            <a:ln>
              <a:noFill/>
            </a:ln>
          </p:spPr>
          <p:txBody>
            <a:bodyPr wrap="none" lIns="0" tIns="0" rIns="0" bIns="0" anchor="t" anchorCtr="0">
              <a:noAutofit/>
            </a:bodyPr>
            <a:lstStyle/>
            <a:p>
              <a:pPr algn="l"/>
              <a:r>
                <a:rPr lang="zh-CN" sz="2100" dirty="0">
                  <a:solidFill>
                    <a:schemeClr val="dk1"/>
                  </a:solidFill>
                  <a:latin typeface="+mn-lt"/>
                  <a:ea typeface="+mn-ea"/>
                  <a:cs typeface="+mn-cs"/>
                </a:rPr>
                <a:t>紧急风险：不要独处，立即联系身边成人及当地急救服务。</a:t>
              </a:r>
            </a:p>
          </p:txBody>
        </p:sp>
      </p:grpSp>
      <p:sp>
        <p:nvSpPr>
          <p:cNvPr id="13" name="source"/>
          <p:cNvSpPr txBox="1"/>
          <p:nvPr/>
        </p:nvSpPr>
        <p:spPr>
          <a:xfrm>
            <a:off x="906780" y="896620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WHO [S11]；教育部等十七部门, 2023 [S12]　｜　学校需在正式发布前补齐上方渠道。</a:t>
            </a:r>
          </a:p>
        </p:txBody>
      </p:sp>
      <p:sp>
        <p:nvSpPr>
          <p:cNvPr id="14"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不编造联系人、热线或二维码。</a:t>
            </a:r>
          </a:p>
        </p:txBody>
      </p:sp>
      <p:sp>
        <p:nvSpPr>
          <p:cNvPr id="15"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30 / 32　·　4 分钟</a:t>
            </a:r>
          </a:p>
        </p:txBody>
      </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6694932" cy="1384300"/>
            <a:chOff x="895350" y="908050"/>
            <a:chExt cx="6694932"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06　连接支持　/　自己的行动卡</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七天小实验：我想试哪一步</a:t>
              </a:r>
            </a:p>
          </p:txBody>
        </p:sp>
      </p:grpSp>
      <p:grpSp>
        <p:nvGrpSpPr>
          <p:cNvPr id="13" name="action-card"/>
          <p:cNvGrpSpPr/>
          <p:nvPr/>
        </p:nvGrpSpPr>
        <p:grpSpPr>
          <a:xfrm>
            <a:off x="1129284" y="3479800"/>
            <a:ext cx="9252966" cy="3957066"/>
            <a:chOff x="1129284" y="3479800"/>
            <a:chExt cx="9252966" cy="3957066"/>
          </a:xfrm>
        </p:grpSpPr>
        <p:sp>
          <p:nvSpPr>
            <p:cNvPr id="5" name="TextBox 5"/>
            <p:cNvSpPr txBox="1"/>
            <p:nvPr/>
          </p:nvSpPr>
          <p:spPr>
            <a:xfrm>
              <a:off x="1129284" y="3479800"/>
              <a:ext cx="954405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情境：</a:t>
              </a:r>
            </a:p>
          </p:txBody>
        </p:sp>
        <p:sp>
          <p:nvSpPr>
            <p:cNvPr id="6" name="Line 6"/>
            <p:cNvSpPr/>
            <p:nvPr/>
          </p:nvSpPr>
          <p:spPr>
            <a:xfrm>
              <a:off x="3619500" y="3857625"/>
              <a:ext cx="6762750" cy="9525"/>
            </a:xfrm>
            <a:custGeom>
              <a:avLst/>
              <a:gdLst/>
              <a:ahLst/>
              <a:cxnLst/>
              <a:rect l="l" t="t" r="r" b="b"/>
              <a:pathLst>
                <a:path w="6762750" h="9525">
                  <a:moveTo>
                    <a:pt x="0" y="0"/>
                  </a:moveTo>
                  <a:lnTo>
                    <a:pt x="6762750" y="0"/>
                  </a:lnTo>
                </a:path>
              </a:pathLst>
            </a:custGeom>
            <a:noFill/>
            <a:ln w="19050">
              <a:solidFill>
                <a:schemeClr val="accent6"/>
              </a:solidFill>
            </a:ln>
          </p:spPr>
          <p:txBody>
            <a:bodyPr/>
            <a:p/>
          </p:txBody>
        </p:sp>
        <p:sp>
          <p:nvSpPr>
            <p:cNvPr id="7" name="TextBox 7"/>
            <p:cNvSpPr txBox="1"/>
            <p:nvPr/>
          </p:nvSpPr>
          <p:spPr>
            <a:xfrm>
              <a:off x="1129284" y="4622800"/>
              <a:ext cx="954405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一个小动作：</a:t>
              </a:r>
            </a:p>
          </p:txBody>
        </p:sp>
        <p:sp>
          <p:nvSpPr>
            <p:cNvPr id="8" name="Line 8"/>
            <p:cNvSpPr/>
            <p:nvPr/>
          </p:nvSpPr>
          <p:spPr>
            <a:xfrm>
              <a:off x="3619500" y="5000625"/>
              <a:ext cx="6762750" cy="9525"/>
            </a:xfrm>
            <a:custGeom>
              <a:avLst/>
              <a:gdLst/>
              <a:ahLst/>
              <a:cxnLst/>
              <a:rect l="l" t="t" r="r" b="b"/>
              <a:pathLst>
                <a:path w="6762750" h="9525">
                  <a:moveTo>
                    <a:pt x="0" y="0"/>
                  </a:moveTo>
                  <a:lnTo>
                    <a:pt x="6762750" y="0"/>
                  </a:lnTo>
                </a:path>
              </a:pathLst>
            </a:custGeom>
            <a:noFill/>
            <a:ln w="19050">
              <a:solidFill>
                <a:schemeClr val="accent6"/>
              </a:solidFill>
            </a:ln>
          </p:spPr>
          <p:txBody>
            <a:bodyPr/>
            <a:p/>
          </p:txBody>
        </p:sp>
        <p:sp>
          <p:nvSpPr>
            <p:cNvPr id="9" name="TextBox 9"/>
            <p:cNvSpPr txBox="1"/>
            <p:nvPr/>
          </p:nvSpPr>
          <p:spPr>
            <a:xfrm>
              <a:off x="1129284" y="5765800"/>
              <a:ext cx="954405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遇阻时找：</a:t>
              </a:r>
            </a:p>
          </p:txBody>
        </p:sp>
        <p:sp>
          <p:nvSpPr>
            <p:cNvPr id="10" name="Line 10"/>
            <p:cNvSpPr/>
            <p:nvPr/>
          </p:nvSpPr>
          <p:spPr>
            <a:xfrm>
              <a:off x="3619500" y="6143625"/>
              <a:ext cx="6762750" cy="9525"/>
            </a:xfrm>
            <a:custGeom>
              <a:avLst/>
              <a:gdLst/>
              <a:ahLst/>
              <a:cxnLst/>
              <a:rect l="l" t="t" r="r" b="b"/>
              <a:pathLst>
                <a:path w="6762750" h="9525">
                  <a:moveTo>
                    <a:pt x="0" y="0"/>
                  </a:moveTo>
                  <a:lnTo>
                    <a:pt x="6762750" y="0"/>
                  </a:lnTo>
                </a:path>
              </a:pathLst>
            </a:custGeom>
            <a:noFill/>
            <a:ln w="19050">
              <a:solidFill>
                <a:schemeClr val="accent6"/>
              </a:solidFill>
            </a:ln>
          </p:spPr>
          <p:txBody>
            <a:bodyPr/>
            <a:p/>
          </p:txBody>
        </p:sp>
        <p:sp>
          <p:nvSpPr>
            <p:cNvPr id="11" name="TextBox 11"/>
            <p:cNvSpPr txBox="1"/>
            <p:nvPr/>
          </p:nvSpPr>
          <p:spPr>
            <a:xfrm>
              <a:off x="1129284" y="6908800"/>
              <a:ext cx="954405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七天后观察：</a:t>
              </a:r>
            </a:p>
          </p:txBody>
        </p:sp>
        <p:sp>
          <p:nvSpPr>
            <p:cNvPr id="12" name="Line 12"/>
            <p:cNvSpPr/>
            <p:nvPr/>
          </p:nvSpPr>
          <p:spPr>
            <a:xfrm>
              <a:off x="3619500" y="7286625"/>
              <a:ext cx="6762750" cy="9525"/>
            </a:xfrm>
            <a:custGeom>
              <a:avLst/>
              <a:gdLst/>
              <a:ahLst/>
              <a:cxnLst/>
              <a:rect l="l" t="t" r="r" b="b"/>
              <a:pathLst>
                <a:path w="6762750" h="9525">
                  <a:moveTo>
                    <a:pt x="0" y="0"/>
                  </a:moveTo>
                  <a:lnTo>
                    <a:pt x="6762750" y="0"/>
                  </a:lnTo>
                </a:path>
              </a:pathLst>
            </a:custGeom>
            <a:noFill/>
            <a:ln w="19050">
              <a:solidFill>
                <a:schemeClr val="accent6"/>
              </a:solidFill>
            </a:ln>
          </p:spPr>
          <p:txBody>
            <a:bodyPr/>
            <a:p/>
          </p:txBody>
        </p:sp>
      </p:grpSp>
      <p:grpSp>
        <p:nvGrpSpPr>
          <p:cNvPr id="16" name="example"/>
          <p:cNvGrpSpPr/>
          <p:nvPr/>
        </p:nvGrpSpPr>
        <p:grpSpPr>
          <a:xfrm>
            <a:off x="12083034" y="3556000"/>
            <a:ext cx="2770632" cy="3423666"/>
            <a:chOff x="12083034" y="3556000"/>
            <a:chExt cx="2770632" cy="3423666"/>
          </a:xfrm>
        </p:grpSpPr>
        <p:sp>
          <p:nvSpPr>
            <p:cNvPr id="14" name="TextBox 14"/>
            <p:cNvSpPr txBox="1"/>
            <p:nvPr/>
          </p:nvSpPr>
          <p:spPr>
            <a:xfrm>
              <a:off x="12086082" y="3556000"/>
              <a:ext cx="50101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例如 · 做题卡住时</a:t>
              </a:r>
            </a:p>
          </p:txBody>
        </p:sp>
        <p:sp>
          <p:nvSpPr>
            <p:cNvPr id="15" name="TextBox 15"/>
            <p:cNvSpPr txBox="1"/>
            <p:nvPr/>
          </p:nvSpPr>
          <p:spPr>
            <a:xfrm>
              <a:off x="12083034" y="4413250"/>
              <a:ext cx="5010150" cy="2566416"/>
            </a:xfrm>
            <a:prstGeom prst="rect">
              <a:avLst/>
            </a:prstGeom>
            <a:noFill/>
            <a:ln>
              <a:noFill/>
            </a:ln>
          </p:spPr>
          <p:txBody>
            <a:bodyPr wrap="none" lIns="0" tIns="0" rIns="0" bIns="0" anchor="t" anchorCtr="0">
              <a:noAutofit/>
            </a:bodyPr>
            <a:lstStyle/>
            <a:p>
              <a:pPr algn="l">
                <a:lnSpc>
                  <a:spcPts val="4650"/>
                </a:lnSpc>
              </a:pPr>
              <a:r>
                <a:rPr lang="zh-CN" sz="2700" dirty="0">
                  <a:solidFill>
                    <a:schemeClr val="dk1"/>
                  </a:solidFill>
                  <a:latin typeface="+mn-lt"/>
                  <a:ea typeface="+mn-ea"/>
                  <a:cs typeface="+mn-cs"/>
                </a:rPr>
                <a:t>先写下</a:t>
              </a:r>
              <a:br>
                <a:rPr lang="zh-CN" sz="2700" dirty="0">
                  <a:solidFill>
                    <a:schemeClr val="dk1"/>
                  </a:solidFill>
                  <a:latin typeface="+mn-lt"/>
                  <a:ea typeface="+mn-ea"/>
                  <a:cs typeface="+mn-cs"/>
                </a:rPr>
              </a:br>
              <a:r>
                <a:rPr lang="zh-CN" sz="2700" dirty="0">
                  <a:solidFill>
                    <a:schemeClr val="dk1"/>
                  </a:solidFill>
                  <a:latin typeface="+mn-lt"/>
                  <a:ea typeface="+mn-ea"/>
                  <a:cs typeface="+mn-cs"/>
                </a:rPr>
                <a:t>“卡在哪一步”，</a:t>
              </a:r>
            </a:p>
            <a:p>
              <a:pPr algn="l">
                <a:lnSpc>
                  <a:spcPts val="4650"/>
                </a:lnSpc>
                <a:spcBef>
                  <a:spcPts val="2100"/>
                </a:spcBef>
              </a:pPr>
              <a:r>
                <a:rPr lang="zh-CN" sz="2700" dirty="0">
                  <a:solidFill>
                    <a:schemeClr val="dk1"/>
                  </a:solidFill>
                  <a:latin typeface="+mn-lt"/>
                  <a:ea typeface="+mn-ea"/>
                  <a:cs typeface="+mn-cs"/>
                </a:rPr>
                <a:t>再向老师</a:t>
              </a:r>
              <a:br>
                <a:rPr lang="zh-CN" sz="2700" dirty="0">
                  <a:solidFill>
                    <a:schemeClr val="dk1"/>
                  </a:solidFill>
                  <a:latin typeface="+mn-lt"/>
                  <a:ea typeface="+mn-ea"/>
                  <a:cs typeface="+mn-cs"/>
                </a:rPr>
              </a:br>
              <a:r>
                <a:rPr lang="zh-CN" sz="2700" dirty="0">
                  <a:solidFill>
                    <a:schemeClr val="dk1"/>
                  </a:solidFill>
                  <a:latin typeface="+mn-lt"/>
                  <a:ea typeface="+mn-ea"/>
                  <a:cs typeface="+mn-cs"/>
                </a:rPr>
                <a:t>问一个具体问题。</a:t>
              </a:r>
            </a:p>
          </p:txBody>
        </p:sp>
      </p:grpSp>
      <p:sp>
        <p:nvSpPr>
          <p:cNvPr id="17"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个人卡片不收、不拍照。可以选学习、睡眠、关系或手机；不承诺“七天改变人生”。</a:t>
            </a:r>
          </a:p>
        </p:txBody>
      </p:sp>
      <p:sp>
        <p:nvSpPr>
          <p:cNvPr id="18"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31 / 32　·　4 分钟</a:t>
            </a:r>
          </a:p>
        </p:txBody>
      </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heading"/>
          <p:cNvGrpSpPr/>
          <p:nvPr/>
        </p:nvGrpSpPr>
        <p:grpSpPr>
          <a:xfrm>
            <a:off x="895350" y="908050"/>
            <a:ext cx="3921252" cy="1384300"/>
            <a:chOff x="895350" y="908050"/>
            <a:chExt cx="3921252" cy="1384300"/>
          </a:xfrm>
        </p:grpSpPr>
        <p:sp>
          <p:nvSpPr>
            <p:cNvPr id="2" name="TextBox 2"/>
            <p:cNvSpPr txBox="1"/>
            <p:nvPr/>
          </p:nvSpPr>
          <p:spPr>
            <a:xfrm>
              <a:off x="903732" y="908050"/>
              <a:ext cx="1642110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06　连接支持　/　匿名问答</a:t>
              </a:r>
            </a:p>
          </p:txBody>
        </p:sp>
        <p:sp>
          <p:nvSpPr>
            <p:cNvPr id="3" name="TextBox 3"/>
            <p:cNvSpPr txBox="1"/>
            <p:nvPr/>
          </p:nvSpPr>
          <p:spPr>
            <a:xfrm>
              <a:off x="895350" y="1530350"/>
              <a:ext cx="16421100" cy="762000"/>
            </a:xfrm>
            <a:prstGeom prst="rect">
              <a:avLst/>
            </a:prstGeom>
            <a:noFill/>
            <a:ln>
              <a:noFill/>
            </a:ln>
          </p:spPr>
          <p:txBody>
            <a:bodyPr wrap="none" lIns="0" tIns="0" rIns="0" bIns="0" anchor="t" anchorCtr="0">
              <a:noAutofit/>
            </a:bodyPr>
            <a:lstStyle/>
            <a:p>
              <a:pPr algn="l"/>
              <a:r>
                <a:rPr lang="zh-CN" sz="3900" dirty="0">
                  <a:solidFill>
                    <a:schemeClr val="accent1"/>
                  </a:solidFill>
                  <a:latin typeface="+mj-lt"/>
                  <a:ea typeface="+mj-ea"/>
                  <a:cs typeface="+mj-cs"/>
                </a:rPr>
                <a:t>匿名问答与收束</a:t>
              </a:r>
            </a:p>
          </p:txBody>
        </p:sp>
      </p:grpSp>
      <p:grpSp>
        <p:nvGrpSpPr>
          <p:cNvPr id="13" name="closing"/>
          <p:cNvGrpSpPr/>
          <p:nvPr/>
        </p:nvGrpSpPr>
        <p:grpSpPr>
          <a:xfrm>
            <a:off x="1030986" y="3308350"/>
            <a:ext cx="15971139" cy="3087243"/>
            <a:chOff x="1030986" y="3308350"/>
            <a:chExt cx="15971139" cy="3087243"/>
          </a:xfrm>
        </p:grpSpPr>
        <p:sp>
          <p:nvSpPr>
            <p:cNvPr id="5" name="TextBox 5"/>
            <p:cNvSpPr txBox="1"/>
            <p:nvPr/>
          </p:nvSpPr>
          <p:spPr>
            <a:xfrm>
              <a:off x="1030986" y="3308350"/>
              <a:ext cx="16287750" cy="645414"/>
            </a:xfrm>
            <a:prstGeom prst="rect">
              <a:avLst/>
            </a:prstGeom>
            <a:noFill/>
            <a:ln>
              <a:noFill/>
            </a:ln>
          </p:spPr>
          <p:txBody>
            <a:bodyPr wrap="none" lIns="0" tIns="0" rIns="0" bIns="0" anchor="t" anchorCtr="0">
              <a:noAutofit/>
            </a:bodyPr>
            <a:lstStyle/>
            <a:p>
              <a:pPr algn="l"/>
              <a:r>
                <a:rPr lang="zh-CN" sz="3300" dirty="0">
                  <a:solidFill>
                    <a:schemeClr val="dk1"/>
                  </a:solidFill>
                  <a:latin typeface="+mn-lt"/>
                  <a:ea typeface="+mn-ea"/>
                  <a:cs typeface="+mn-cs"/>
                </a:rPr>
                <a:t>你能练习的，不是控制所有结果，而是：</a:t>
              </a:r>
            </a:p>
          </p:txBody>
        </p:sp>
        <p:sp>
          <p:nvSpPr>
            <p:cNvPr id="6" name="Line 6"/>
            <p:cNvSpPr/>
            <p:nvPr/>
          </p:nvSpPr>
          <p:spPr>
            <a:xfrm>
              <a:off x="1238250" y="4619625"/>
              <a:ext cx="15716250" cy="9525"/>
            </a:xfrm>
            <a:custGeom>
              <a:avLst/>
              <a:gdLst/>
              <a:ahLst/>
              <a:cxnLst/>
              <a:rect l="l" t="t" r="r" b="b"/>
              <a:pathLst>
                <a:path w="15716250" h="9525">
                  <a:moveTo>
                    <a:pt x="0" y="0"/>
                  </a:moveTo>
                  <a:lnTo>
                    <a:pt x="15716250" y="0"/>
                  </a:lnTo>
                </a:path>
              </a:pathLst>
            </a:custGeom>
            <a:noFill/>
            <a:ln w="38100">
              <a:solidFill>
                <a:schemeClr val="accent2"/>
              </a:solidFill>
            </a:ln>
          </p:spPr>
          <p:txBody>
            <a:bodyPr/>
            <a:p/>
          </p:txBody>
        </p:sp>
        <p:sp>
          <p:nvSpPr>
            <p:cNvPr id="7" name="Ellipse 7"/>
            <p:cNvSpPr/>
            <p:nvPr/>
          </p:nvSpPr>
          <p:spPr>
            <a:xfrm>
              <a:off x="1123950" y="4505325"/>
              <a:ext cx="228600" cy="228600"/>
            </a:xfrm>
            <a:prstGeom prst="ellipse">
              <a:avLst/>
            </a:prstGeom>
            <a:solidFill>
              <a:schemeClr val="accent1"/>
            </a:solidFill>
            <a:ln>
              <a:noFill/>
            </a:ln>
          </p:spPr>
          <p:txBody>
            <a:bodyPr/>
            <a:p/>
          </p:txBody>
        </p:sp>
        <p:sp>
          <p:nvSpPr>
            <p:cNvPr id="8" name="Ellipse 8"/>
            <p:cNvSpPr/>
            <p:nvPr/>
          </p:nvSpPr>
          <p:spPr>
            <a:xfrm>
              <a:off x="6076950" y="4505325"/>
              <a:ext cx="228600" cy="228600"/>
            </a:xfrm>
            <a:prstGeom prst="ellipse">
              <a:avLst/>
            </a:prstGeom>
            <a:solidFill>
              <a:schemeClr val="accent1"/>
            </a:solidFill>
            <a:ln>
              <a:noFill/>
            </a:ln>
          </p:spPr>
          <p:txBody>
            <a:bodyPr/>
            <a:p/>
          </p:txBody>
        </p:sp>
        <p:sp>
          <p:nvSpPr>
            <p:cNvPr id="9" name="Ellipse 9"/>
            <p:cNvSpPr/>
            <p:nvPr/>
          </p:nvSpPr>
          <p:spPr>
            <a:xfrm>
              <a:off x="10934700" y="4505325"/>
              <a:ext cx="228600" cy="228600"/>
            </a:xfrm>
            <a:prstGeom prst="ellipse">
              <a:avLst/>
            </a:prstGeom>
            <a:solidFill>
              <a:schemeClr val="accent1"/>
            </a:solidFill>
            <a:ln>
              <a:noFill/>
            </a:ln>
          </p:spPr>
          <p:txBody>
            <a:bodyPr/>
            <a:p/>
          </p:txBody>
        </p:sp>
        <p:sp>
          <p:nvSpPr>
            <p:cNvPr id="10" name="Ellipse 10"/>
            <p:cNvSpPr/>
            <p:nvPr/>
          </p:nvSpPr>
          <p:spPr>
            <a:xfrm>
              <a:off x="16716375" y="4476750"/>
              <a:ext cx="285750" cy="285750"/>
            </a:xfrm>
            <a:prstGeom prst="ellipse">
              <a:avLst/>
            </a:prstGeom>
            <a:solidFill>
              <a:schemeClr val="lt1"/>
            </a:solidFill>
            <a:ln w="38100">
              <a:solidFill>
                <a:schemeClr val="accent1"/>
              </a:solidFill>
            </a:ln>
          </p:spPr>
          <p:txBody>
            <a:bodyPr/>
            <a:p/>
          </p:txBody>
        </p:sp>
        <p:sp>
          <p:nvSpPr>
            <p:cNvPr id="11" name="TextBox 11"/>
            <p:cNvSpPr txBox="1"/>
            <p:nvPr/>
          </p:nvSpPr>
          <p:spPr>
            <a:xfrm>
              <a:off x="1032510" y="5203825"/>
              <a:ext cx="16287750" cy="586740"/>
            </a:xfrm>
            <a:prstGeom prst="rect">
              <a:avLst/>
            </a:prstGeom>
            <a:noFill/>
            <a:ln>
              <a:noFill/>
            </a:ln>
          </p:spPr>
          <p:txBody>
            <a:bodyPr wrap="none" lIns="0" tIns="0" rIns="0" bIns="0" anchor="t" anchorCtr="0">
              <a:noAutofit/>
            </a:bodyPr>
            <a:lstStyle/>
            <a:p>
              <a:pPr algn="l"/>
              <a:r>
                <a:rPr lang="zh-CN" sz="3000" dirty="0">
                  <a:solidFill>
                    <a:schemeClr val="dk1"/>
                  </a:solidFill>
                  <a:latin typeface="+mn-lt"/>
                  <a:ea typeface="+mn-ea"/>
                  <a:cs typeface="+mn-cs"/>
                </a:rPr>
                <a:t>识别信号　→　核实信息　→　做一次选择　→　连接支持</a:t>
              </a:r>
            </a:p>
          </p:txBody>
        </p:sp>
        <p:sp>
          <p:nvSpPr>
            <p:cNvPr id="12" name="TextBox 12"/>
            <p:cNvSpPr txBox="1"/>
            <p:nvPr/>
          </p:nvSpPr>
          <p:spPr>
            <a:xfrm>
              <a:off x="1037082" y="5984875"/>
              <a:ext cx="16287750" cy="410718"/>
            </a:xfrm>
            <a:prstGeom prst="rect">
              <a:avLst/>
            </a:prstGeom>
            <a:noFill/>
            <a:ln>
              <a:noFill/>
            </a:ln>
          </p:spPr>
          <p:txBody>
            <a:bodyPr wrap="none" lIns="0" tIns="0" rIns="0" bIns="0" anchor="t" anchorCtr="0">
              <a:noAutofit/>
            </a:bodyPr>
            <a:lstStyle/>
            <a:p>
              <a:pPr algn="l"/>
              <a:r>
                <a:rPr lang="zh-CN" sz="2100" dirty="0">
                  <a:solidFill>
                    <a:schemeClr val="accent5"/>
                  </a:solidFill>
                  <a:latin typeface="+mn-lt"/>
                  <a:ea typeface="+mn-ea"/>
                  <a:cs typeface="+mn-cs"/>
                </a:rPr>
                <a:t>提问可以只问方法和虚构情境；不公开细谈本人危机或他人隐私。</a:t>
              </a:r>
            </a:p>
          </p:txBody>
        </p:sp>
      </p:grpSp>
      <p:grpSp>
        <p:nvGrpSpPr>
          <p:cNvPr id="16" name="school-contact"/>
          <p:cNvGrpSpPr/>
          <p:nvPr/>
        </p:nvGrpSpPr>
        <p:grpSpPr>
          <a:xfrm>
            <a:off x="914400" y="7086600"/>
            <a:ext cx="16459200" cy="1285875"/>
            <a:chOff x="914400" y="7086600"/>
            <a:chExt cx="16459200" cy="1285875"/>
          </a:xfrm>
        </p:grpSpPr>
        <p:sp>
          <p:nvSpPr>
            <p:cNvPr id="14" name="Rectangle 14"/>
            <p:cNvSpPr/>
            <p:nvPr/>
          </p:nvSpPr>
          <p:spPr>
            <a:xfrm>
              <a:off x="914400" y="7086600"/>
              <a:ext cx="16459200" cy="1285875"/>
            </a:xfrm>
            <a:prstGeom prst="roundRect">
              <a:avLst>
                <a:gd name="adj" fmla="val 17778"/>
              </a:avLst>
            </a:prstGeom>
            <a:solidFill>
              <a:schemeClr val="lt1"/>
            </a:solidFill>
            <a:ln w="19050">
              <a:solidFill>
                <a:schemeClr val="accent1"/>
              </a:solidFill>
              <a:prstDash val="dash"/>
            </a:ln>
          </p:spPr>
          <p:txBody>
            <a:bodyPr/>
            <a:p/>
          </p:txBody>
        </p:sp>
        <p:sp>
          <p:nvSpPr>
            <p:cNvPr id="15" name="TextBox 15"/>
            <p:cNvSpPr txBox="1"/>
            <p:nvPr/>
          </p:nvSpPr>
          <p:spPr>
            <a:xfrm>
              <a:off x="1319784" y="7546975"/>
              <a:ext cx="16002000" cy="528066"/>
            </a:xfrm>
            <a:prstGeom prst="rect">
              <a:avLst/>
            </a:prstGeom>
            <a:noFill/>
            <a:ln>
              <a:noFill/>
            </a:ln>
          </p:spPr>
          <p:txBody>
            <a:bodyPr wrap="none" lIns="0" tIns="0" rIns="0" bIns="0" anchor="t" anchorCtr="0">
              <a:noAutofit/>
            </a:bodyPr>
            <a:lstStyle/>
            <a:p>
              <a:pPr algn="l"/>
              <a:r>
                <a:rPr lang="zh-CN" sz="2700" dirty="0">
                  <a:solidFill>
                    <a:schemeClr val="dk1"/>
                  </a:solidFill>
                  <a:latin typeface="+mn-lt"/>
                  <a:ea typeface="+mn-ea"/>
                  <a:cs typeface="+mn-cs"/>
                </a:rPr>
                <a:t>【校内心理老师/地点/预约方式，由学校填写】</a:t>
              </a:r>
            </a:p>
          </p:txBody>
        </p:sp>
      </p:grpSp>
      <p:sp>
        <p:nvSpPr>
          <p:cNvPr id="17" name="footer"/>
          <p:cNvSpPr txBox="1"/>
          <p:nvPr/>
        </p:nvSpPr>
        <p:spPr>
          <a:xfrm>
            <a:off x="906780" y="9442450"/>
            <a:ext cx="1668780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荆州市新时代高中　·　2026.10.28　｜　完整来源 S01–S12 见本页演讲者备注。</a:t>
            </a:r>
          </a:p>
        </p:txBody>
      </p:sp>
      <p:sp>
        <p:nvSpPr>
          <p:cNvPr id="18" name="page"/>
          <p:cNvSpPr txBox="1"/>
          <p:nvPr/>
        </p:nvSpPr>
        <p:spPr>
          <a:xfrm>
            <a:off x="15708630" y="9442450"/>
            <a:ext cx="1885950" cy="293370"/>
          </a:xfrm>
          <a:prstGeom prst="rect">
            <a:avLst/>
          </a:prstGeom>
          <a:noFill/>
          <a:ln>
            <a:noFill/>
          </a:ln>
        </p:spPr>
        <p:txBody>
          <a:bodyPr wrap="none" lIns="0" tIns="0" rIns="0" bIns="0" anchor="t" anchorCtr="0">
            <a:noAutofit/>
          </a:bodyPr>
          <a:lstStyle/>
          <a:p>
            <a:pPr algn="l"/>
            <a:r>
              <a:rPr lang="zh-CN" sz="1500" dirty="0">
                <a:solidFill>
                  <a:schemeClr val="accent5"/>
                </a:solidFill>
                <a:latin typeface="+mn-lt"/>
                <a:ea typeface="+mn-ea"/>
                <a:cs typeface="+mn-cs"/>
              </a:rPr>
              <a:t>32 / 32　·　6 分钟</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health-growth">
  <a:themeElements>
    <a:clrScheme name="health-growth">
      <a:dk1>
        <a:srgbClr val="263B32"/>
      </a:dk1>
      <a:lt1>
        <a:srgbClr val="FAF9F5"/>
      </a:lt1>
      <a:dk2>
        <a:srgbClr val="1F497D"/>
      </a:dk2>
      <a:lt2>
        <a:srgbClr val="D8E0DA"/>
      </a:lt2>
      <a:accent1>
        <a:srgbClr val="3E5C4E"/>
      </a:accent1>
      <a:accent2>
        <a:srgbClr val="7B97A8"/>
      </a:accent2>
      <a:accent3>
        <a:srgbClr val="E8DCC6"/>
      </a:accent3>
      <a:accent4>
        <a:srgbClr val="3E5C4E"/>
      </a:accent4>
      <a:accent5>
        <a:srgbClr val="58675F"/>
      </a:accent5>
      <a:accent6>
        <a:srgbClr val="BECAC1"/>
      </a:accent6>
      <a:hlink>
        <a:srgbClr val="7B97A8"/>
      </a:hlink>
      <a:folHlink>
        <a:srgbClr val="E8DCC6"/>
      </a:folHlink>
    </a:clrScheme>
    <a:fontScheme name="health-growth">
      <a:majorFont>
        <a:latin typeface="Arial"/>
        <a:ea typeface="Noto Serif CJK SC"/>
        <a:cs typeface="Arial"/>
        <a:font script="Jpan" typeface="Noto Serif CJK SC"/>
        <a:font script="Hang" typeface="Noto Serif CJK SC"/>
        <a:font script="Hans" typeface="Noto Serif CJK SC"/>
        <a:font script="Hant" typeface="Noto Serif CJK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Noto Sans CJK SC"/>
        <a:cs typeface="Arial"/>
        <a:font script="Jpan" typeface="Noto Sans CJK SC"/>
        <a:font script="Hang" typeface="Noto Sans CJK SC"/>
        <a:font script="Hans" typeface="Noto Sans CJK SC"/>
        <a:font script="Hant" typeface="Noto Sans CJK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lth-grow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health-growth">
  <a:themeElements>
    <a:clrScheme name="health-growth">
      <a:dk1>
        <a:srgbClr val="263B32"/>
      </a:dk1>
      <a:lt1>
        <a:srgbClr val="FAF9F5"/>
      </a:lt1>
      <a:dk2>
        <a:srgbClr val="1F497D"/>
      </a:dk2>
      <a:lt2>
        <a:srgbClr val="D8E0DA"/>
      </a:lt2>
      <a:accent1>
        <a:srgbClr val="3E5C4E"/>
      </a:accent1>
      <a:accent2>
        <a:srgbClr val="7B97A8"/>
      </a:accent2>
      <a:accent3>
        <a:srgbClr val="E8DCC6"/>
      </a:accent3>
      <a:accent4>
        <a:srgbClr val="3E5C4E"/>
      </a:accent4>
      <a:accent5>
        <a:srgbClr val="58675F"/>
      </a:accent5>
      <a:accent6>
        <a:srgbClr val="BECAC1"/>
      </a:accent6>
      <a:hlink>
        <a:srgbClr val="7B97A8"/>
      </a:hlink>
      <a:folHlink>
        <a:srgbClr val="E8DCC6"/>
      </a:folHlink>
    </a:clrScheme>
    <a:fontScheme name="health-growth">
      <a:majorFont>
        <a:latin typeface="Arial"/>
        <a:ea typeface="Noto Serif CJK SC"/>
        <a:cs typeface="Arial"/>
        <a:font script="Jpan" typeface="Noto Serif CJK SC"/>
        <a:font script="Hang" typeface="Noto Serif CJK SC"/>
        <a:font script="Hans" typeface="Noto Serif CJK SC"/>
        <a:font script="Hant" typeface="Noto Serif CJK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Noto Sans CJK SC"/>
        <a:cs typeface="Arial"/>
        <a:font script="Jpan" typeface="Noto Sans CJK SC"/>
        <a:font script="Hang" typeface="Noto Sans CJK SC"/>
        <a:font script="Hans" typeface="Noto Sans CJK SC"/>
        <a:font script="Hant" typeface="Noto Sans CJK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lth-grow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2026-10-26T08:46:29Z</dcterms:created>
  <dcterms:modified xsi:type="dcterms:W3CDTF">2026-10-26T08:46:29Z</dcterms:modified>
  <cp:category/>
  <cp:contentStatus/>
</cp:coreProperties>
</file>